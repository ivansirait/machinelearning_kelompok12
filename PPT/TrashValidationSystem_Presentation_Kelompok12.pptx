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9" r:id="rId7"/>
    <p:sldId id="261" r:id="rId8"/>
    <p:sldId id="270" r:id="rId9"/>
    <p:sldId id="262" r:id="rId10"/>
    <p:sldId id="263" r:id="rId11"/>
    <p:sldId id="271" r:id="rId12"/>
    <p:sldId id="264" r:id="rId13"/>
    <p:sldId id="272" r:id="rId14"/>
    <p:sldId id="273" r:id="rId15"/>
    <p:sldId id="274" r:id="rId16"/>
    <p:sldId id="267" r:id="rId17"/>
    <p:sldId id="268"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8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1265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pembuka. Jelaskan bahwa sistem ini menggunakan 2 AI yang bekerja berurutan: YOLO untuk deteksi visual, dan Random Forest untuk keputusan klasifikasi.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motivasi proyek. Sistem ini menggantikan pengecekan manual. Petugas cukup foto tong sampah, sistem langsung kasih keputusan.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Jelaskan alur: (1) Foto masuk → (2) Cek kualitas → (3) YOLO deteksi objek → (4) Ekstrak 6 fitur angka → (5) Random Forest putuskan label.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 = You Only Look Once. Berbeda dengan model lama yang scan gambar berkali-kali, YOLO melihat seluruh gambar SEKALIGUS dan langsung output bounding box. Learning rate 0.001 artinya model belajar dengan langkah kecil dan stabil. Cosine annealing = learning rate turun perlahan mengikuti kurva cosinus agar tidak overshoot.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Augmentasi penting untuk mencegah overfitting. Mosaic 0.8 artinya 80% gambar training digabung jadi mosaik 4-in-1. close_mosaic=15 artinya mosaic dimatikan di 15 epoch terakhir supaya model 'stabilisasi'.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3 berisi 7 step preprocessing otomatis. Yang paling penting adalah deteksi duplikat via MD5 hash (step 3) dan validasi koordinat bounding box (step 4). Tanpa ini, training bisa crash atau menghasilkan model yang jelek.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85882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Cell 3 berisi 7 step preprocessing otomatis. Yang paling penting adalah deteksi duplikat via MD5 hash (step 3) dan validasi koordinat bounding box (step 4). Tanpa ini, training bisa crash atau menghasilkan model yang jelek.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539276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fitur ini yang menghubungkan YOLO dengan Random Forest. YOLO deteksi objek di piksel → kita hitung statistik global → angka ini yang dibaca Random Forest. Tanpa ini, RF tidak tahu apa yang ada di gambar.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400598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Kenapa 3 model? Karena satu model bisa salah, tapi 3 model yang berbeda caranya akan saling mengkoreksi. RF bagus untuk pola non-linear, GB bagus untuk iteratif memperbaiki error, SVM bagus untuk pemisahan margin optimal.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861815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639879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 teknik 'rule-based auto-labeling'. Karena dataset asli tidak ada label kelayakan, kita ciptakan label berdasarkan aturan logis. Penting: aturan ini dibuat BERBEDA dari fitur yang dipakai RF, agar RF benar-benar belajar pola — bukan cuma hafal aturan.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4643144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Kelas TrashValidationInference di Cell 9 mengemas semua langkah ini. Tinggal panggil .predict('path/gambar') dan sistem otomatis jalankan semua 8 langkah ini.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 kunci: YOLO dan Random Forest bukan pesaing — mereka tim. YOLO tidak bisa klasifikasi kelayakan, RF tidak bisa baca gambar. Keduanya saling melengkapi lewat 6 fitur global.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6858000" y="-1097280"/>
            <a:ext cx="3200400" cy="3200400"/>
          </a:xfrm>
          <a:prstGeom prst="ellipse">
            <a:avLst/>
          </a:prstGeom>
          <a:solidFill>
            <a:srgbClr val="0D9488">
              <a:alpha val="25000"/>
            </a:srgbClr>
          </a:solidFill>
          <a:ln w="12700">
            <a:solidFill>
              <a:srgbClr val="0D9488"/>
            </a:solidFill>
            <a:prstDash val="solid"/>
          </a:ln>
        </p:spPr>
      </p:sp>
      <p:sp>
        <p:nvSpPr>
          <p:cNvPr id="3" name="Shape 1"/>
          <p:cNvSpPr/>
          <p:nvPr/>
        </p:nvSpPr>
        <p:spPr>
          <a:xfrm>
            <a:off x="7498080" y="-457200"/>
            <a:ext cx="1828800" cy="1828800"/>
          </a:xfrm>
          <a:prstGeom prst="ellipse">
            <a:avLst/>
          </a:prstGeom>
          <a:solidFill>
            <a:srgbClr val="14B8A6">
              <a:alpha val="40000"/>
            </a:srgbClr>
          </a:solidFill>
          <a:ln w="12700">
            <a:solidFill>
              <a:srgbClr val="14B8A6"/>
            </a:solidFill>
            <a:prstDash val="solid"/>
          </a:ln>
        </p:spPr>
      </p:sp>
      <p:sp>
        <p:nvSpPr>
          <p:cNvPr id="4" name="Shape 2"/>
          <p:cNvSpPr/>
          <p:nvPr/>
        </p:nvSpPr>
        <p:spPr>
          <a:xfrm>
            <a:off x="7909560" y="3566160"/>
            <a:ext cx="1828800" cy="1828800"/>
          </a:xfrm>
          <a:prstGeom prst="ellipse">
            <a:avLst/>
          </a:prstGeom>
          <a:solidFill>
            <a:srgbClr val="1A3A6B">
              <a:alpha val="50000"/>
            </a:srgbClr>
          </a:solidFill>
          <a:ln w="12700">
            <a:solidFill>
              <a:srgbClr val="1A3A6B"/>
            </a:solidFill>
            <a:prstDash val="solid"/>
          </a:ln>
        </p:spPr>
      </p:sp>
      <p:sp>
        <p:nvSpPr>
          <p:cNvPr id="7" name="Text 5"/>
          <p:cNvSpPr/>
          <p:nvPr/>
        </p:nvSpPr>
        <p:spPr>
          <a:xfrm>
            <a:off x="548640" y="1005840"/>
            <a:ext cx="7772400" cy="182880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Trash Validation</a:t>
            </a:r>
            <a:endParaRPr lang="en-US" sz="5200" dirty="0"/>
          </a:p>
          <a:p>
            <a:pPr marL="0" indent="0">
              <a:buNone/>
            </a:pPr>
            <a:r>
              <a:rPr lang="en-US" sz="5200" b="1" dirty="0">
                <a:solidFill>
                  <a:srgbClr val="FFFFFF"/>
                </a:solidFill>
                <a:latin typeface="Calibri" pitchFamily="34" charset="0"/>
                <a:ea typeface="Calibri" pitchFamily="34" charset="-122"/>
                <a:cs typeface="Calibri" pitchFamily="34" charset="-120"/>
              </a:rPr>
              <a:t>System</a:t>
            </a:r>
            <a:endParaRPr lang="en-US" sz="5200" dirty="0"/>
          </a:p>
        </p:txBody>
      </p:sp>
      <p:sp>
        <p:nvSpPr>
          <p:cNvPr id="8" name="Text 6"/>
          <p:cNvSpPr/>
          <p:nvPr/>
        </p:nvSpPr>
        <p:spPr>
          <a:xfrm>
            <a:off x="548640" y="2834640"/>
            <a:ext cx="6858000" cy="822960"/>
          </a:xfrm>
          <a:prstGeom prst="rect">
            <a:avLst/>
          </a:prstGeom>
          <a:noFill/>
          <a:ln/>
        </p:spPr>
        <p:txBody>
          <a:bodyPr wrap="square" rtlCol="0" anchor="ctr"/>
          <a:lstStyle/>
          <a:p>
            <a:pPr marL="0" indent="0">
              <a:buNone/>
            </a:pPr>
            <a:r>
              <a:rPr lang="en-US" sz="1500" dirty="0">
                <a:solidFill>
                  <a:srgbClr val="CBD5E1"/>
                </a:solidFill>
                <a:latin typeface="Calibri" pitchFamily="34" charset="0"/>
                <a:ea typeface="Calibri" pitchFamily="34" charset="-122"/>
                <a:cs typeface="Calibri" pitchFamily="34" charset="-120"/>
              </a:rPr>
              <a:t>Menggunakan YOLOv8m + Random Forest Ensemble</a:t>
            </a:r>
            <a:endParaRPr lang="en-US" sz="1500" dirty="0"/>
          </a:p>
          <a:p>
            <a:pPr marL="0" indent="0">
              <a:buNone/>
            </a:pPr>
            <a:r>
              <a:rPr lang="en-US" sz="1500" dirty="0">
                <a:solidFill>
                  <a:srgbClr val="CBD5E1"/>
                </a:solidFill>
                <a:latin typeface="Calibri" pitchFamily="34" charset="0"/>
                <a:ea typeface="Calibri" pitchFamily="34" charset="-122"/>
                <a:cs typeface="Calibri" pitchFamily="34" charset="-120"/>
              </a:rPr>
              <a:t>untuk Klasifikasi Kelayakan Pengangkutan Sampah</a:t>
            </a:r>
            <a:endParaRPr lang="en-US" sz="1500" dirty="0"/>
          </a:p>
        </p:txBody>
      </p:sp>
      <p:sp>
        <p:nvSpPr>
          <p:cNvPr id="9" name="Shape 7"/>
          <p:cNvSpPr/>
          <p:nvPr/>
        </p:nvSpPr>
        <p:spPr>
          <a:xfrm>
            <a:off x="0" y="4663440"/>
            <a:ext cx="9144000" cy="480060"/>
          </a:xfrm>
          <a:prstGeom prst="rect">
            <a:avLst/>
          </a:prstGeom>
          <a:solidFill>
            <a:srgbClr val="1A3A6B"/>
          </a:solidFill>
          <a:ln w="12700">
            <a:solidFill>
              <a:srgbClr val="1A3A6B"/>
            </a:solidFill>
            <a:prstDash val="solid"/>
          </a:ln>
        </p:spPr>
      </p:sp>
      <p:sp>
        <p:nvSpPr>
          <p:cNvPr id="10" name="Text 8"/>
          <p:cNvSpPr/>
          <p:nvPr/>
        </p:nvSpPr>
        <p:spPr>
          <a:xfrm>
            <a:off x="457200" y="4663440"/>
            <a:ext cx="8229600" cy="480060"/>
          </a:xfrm>
          <a:prstGeom prst="rect">
            <a:avLst/>
          </a:prstGeom>
          <a:noFill/>
          <a:ln/>
        </p:spPr>
        <p:txBody>
          <a:bodyPr wrap="square" lIns="0" tIns="0" rIns="0" bIns="0" rtlCol="0" anchor="ctr"/>
          <a:lstStyle/>
          <a:p>
            <a:pPr marL="0" indent="0" algn="ctr">
              <a:buNone/>
            </a:pPr>
            <a:r>
              <a:rPr lang="en-US" sz="1200" dirty="0" err="1">
                <a:solidFill>
                  <a:srgbClr val="CBD5E1"/>
                </a:solidFill>
              </a:rPr>
              <a:t>Kelompok</a:t>
            </a:r>
            <a:r>
              <a:rPr lang="en-US" sz="1200" dirty="0">
                <a:solidFill>
                  <a:srgbClr val="CBD5E1"/>
                </a:solidFill>
              </a:rPr>
              <a:t> 12</a:t>
            </a:r>
            <a:endParaRPr lang="en-US" sz="1200" dirty="0"/>
          </a:p>
        </p:txBody>
      </p:sp>
      <p:sp>
        <p:nvSpPr>
          <p:cNvPr id="11" name="Shape 9"/>
          <p:cNvSpPr/>
          <p:nvPr/>
        </p:nvSpPr>
        <p:spPr>
          <a:xfrm>
            <a:off x="548640" y="3931920"/>
            <a:ext cx="2286000" cy="411480"/>
          </a:xfrm>
          <a:prstGeom prst="roundRect">
            <a:avLst>
              <a:gd name="adj" fmla="val 17778"/>
            </a:avLst>
          </a:prstGeom>
          <a:solidFill>
            <a:srgbClr val="0D9488">
              <a:alpha val="85000"/>
            </a:srgbClr>
          </a:solidFill>
          <a:ln w="12700">
            <a:solidFill>
              <a:srgbClr val="0D9488"/>
            </a:solidFill>
            <a:prstDash val="solid"/>
          </a:ln>
        </p:spPr>
      </p:sp>
      <p:sp>
        <p:nvSpPr>
          <p:cNvPr id="12" name="Text 10"/>
          <p:cNvSpPr/>
          <p:nvPr/>
        </p:nvSpPr>
        <p:spPr>
          <a:xfrm>
            <a:off x="548640" y="3931920"/>
            <a:ext cx="2286000" cy="411480"/>
          </a:xfrm>
          <a:prstGeom prst="rect">
            <a:avLst/>
          </a:prstGeom>
          <a:noFill/>
          <a:ln/>
        </p:spPr>
        <p:txBody>
          <a:bodyPr wrap="square" lIns="0" tIns="0" rIns="0" bIns="0" rtlCol="0" anchor="ctr"/>
          <a:lstStyle/>
          <a:p>
            <a:pPr marL="0" indent="0" algn="ctr">
              <a:buNone/>
            </a:pPr>
            <a:r>
              <a:rPr lang="en-US" sz="1200" b="1" dirty="0">
                <a:solidFill>
                  <a:srgbClr val="FFFFFF"/>
                </a:solidFill>
              </a:rPr>
              <a:t>YOLOv8m</a:t>
            </a:r>
            <a:endParaRPr lang="en-US" sz="1200" dirty="0"/>
          </a:p>
        </p:txBody>
      </p:sp>
      <p:sp>
        <p:nvSpPr>
          <p:cNvPr id="13" name="Shape 11"/>
          <p:cNvSpPr/>
          <p:nvPr/>
        </p:nvSpPr>
        <p:spPr>
          <a:xfrm>
            <a:off x="3429000" y="3931920"/>
            <a:ext cx="2286000" cy="411480"/>
          </a:xfrm>
          <a:prstGeom prst="roundRect">
            <a:avLst>
              <a:gd name="adj" fmla="val 17778"/>
            </a:avLst>
          </a:prstGeom>
          <a:solidFill>
            <a:srgbClr val="8B5CF6">
              <a:alpha val="85000"/>
            </a:srgbClr>
          </a:solidFill>
          <a:ln w="12700">
            <a:solidFill>
              <a:srgbClr val="8B5CF6"/>
            </a:solidFill>
            <a:prstDash val="solid"/>
          </a:ln>
        </p:spPr>
      </p:sp>
      <p:sp>
        <p:nvSpPr>
          <p:cNvPr id="14" name="Text 12"/>
          <p:cNvSpPr/>
          <p:nvPr/>
        </p:nvSpPr>
        <p:spPr>
          <a:xfrm>
            <a:off x="3429000" y="3931920"/>
            <a:ext cx="2286000" cy="411480"/>
          </a:xfrm>
          <a:prstGeom prst="rect">
            <a:avLst/>
          </a:prstGeom>
          <a:noFill/>
          <a:ln/>
        </p:spPr>
        <p:txBody>
          <a:bodyPr wrap="square" lIns="0" tIns="0" rIns="0" bIns="0" rtlCol="0" anchor="ctr"/>
          <a:lstStyle/>
          <a:p>
            <a:pPr marL="0" indent="0" algn="ctr">
              <a:buNone/>
            </a:pPr>
            <a:r>
              <a:rPr lang="en-US" sz="1200" b="1" dirty="0">
                <a:solidFill>
                  <a:srgbClr val="FFFFFF"/>
                </a:solidFill>
              </a:rPr>
              <a:t>Random Forest</a:t>
            </a:r>
            <a:endParaRPr lang="en-US" sz="1200" dirty="0"/>
          </a:p>
        </p:txBody>
      </p:sp>
      <p:sp>
        <p:nvSpPr>
          <p:cNvPr id="16" name="Text 14"/>
          <p:cNvSpPr/>
          <p:nvPr/>
        </p:nvSpPr>
        <p:spPr>
          <a:xfrm>
            <a:off x="6309360" y="3931920"/>
            <a:ext cx="2286000" cy="411480"/>
          </a:xfrm>
          <a:prstGeom prst="rect">
            <a:avLst/>
          </a:prstGeom>
          <a:noFill/>
          <a:ln/>
        </p:spPr>
        <p:txBody>
          <a:bodyPr wrap="square" lIns="0" tIns="0" rIns="0" bIns="0" rtlCol="0" anchor="ctr"/>
          <a:lstStyle/>
          <a:p>
            <a:pPr marL="0" indent="0" algn="ctr">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2000" b="1" dirty="0">
                <a:solidFill>
                  <a:srgbClr val="FFFFFF"/>
                </a:solidFill>
              </a:rPr>
              <a:t>APA ITU TRASH VALIDATION SYSTEM?</a:t>
            </a:r>
            <a:endParaRPr lang="en-US" sz="2000" dirty="0"/>
          </a:p>
        </p:txBody>
      </p:sp>
      <p:sp>
        <p:nvSpPr>
          <p:cNvPr id="4" name="Shape 2"/>
          <p:cNvSpPr/>
          <p:nvPr/>
        </p:nvSpPr>
        <p:spPr>
          <a:xfrm>
            <a:off x="365760" y="1051560"/>
            <a:ext cx="8412480" cy="1005840"/>
          </a:xfrm>
          <a:prstGeom prst="roundRect">
            <a:avLst>
              <a:gd name="adj" fmla="val 9091"/>
            </a:avLst>
          </a:prstGeom>
          <a:solidFill>
            <a:srgbClr val="1A3A6B"/>
          </a:solidFill>
          <a:ln w="12700">
            <a:solidFill>
              <a:srgbClr val="1A3A6B"/>
            </a:solidFill>
            <a:prstDash val="solid"/>
          </a:ln>
          <a:effectLst>
            <a:outerShdw blurRad="101600" dist="38100" dir="2700000" algn="bl" rotWithShape="0">
              <a:srgbClr val="000000">
                <a:alpha val="18000"/>
              </a:srgbClr>
            </a:outerShdw>
          </a:effectLst>
        </p:spPr>
      </p:sp>
      <p:sp>
        <p:nvSpPr>
          <p:cNvPr id="5" name="Text 3"/>
          <p:cNvSpPr/>
          <p:nvPr/>
        </p:nvSpPr>
        <p:spPr>
          <a:xfrm>
            <a:off x="365760" y="1051560"/>
            <a:ext cx="8412480" cy="1005840"/>
          </a:xfrm>
          <a:prstGeom prst="rect">
            <a:avLst/>
          </a:prstGeom>
          <a:noFill/>
          <a:ln/>
        </p:spPr>
        <p:txBody>
          <a:bodyPr wrap="square" lIns="0" tIns="0" rIns="0" bIns="0" rtlCol="0" anchor="ctr"/>
          <a:lstStyle/>
          <a:p>
            <a:pPr marL="0" indent="0" algn="ctr">
              <a:buNone/>
            </a:pPr>
            <a:r>
              <a:rPr lang="en-US" sz="1600" i="1" dirty="0">
                <a:solidFill>
                  <a:srgbClr val="FFFFFF"/>
                </a:solidFill>
              </a:rPr>
              <a:t>"Apakah area sampah ini LAYAK DIANGKUT atau TIDAK?" — dijawab otomatis dari foto, tanpa manusia.</a:t>
            </a:r>
            <a:endParaRPr lang="en-US" sz="1600" dirty="0"/>
          </a:p>
        </p:txBody>
      </p:sp>
      <p:sp>
        <p:nvSpPr>
          <p:cNvPr id="6" name="Shape 4"/>
          <p:cNvSpPr/>
          <p:nvPr/>
        </p:nvSpPr>
        <p:spPr>
          <a:xfrm>
            <a:off x="320040" y="2362200"/>
            <a:ext cx="2697480" cy="2468880"/>
          </a:xfrm>
          <a:prstGeom prst="roundRect">
            <a:avLst>
              <a:gd name="adj" fmla="val 3704"/>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7" name="Text 5"/>
          <p:cNvSpPr/>
          <p:nvPr/>
        </p:nvSpPr>
        <p:spPr>
          <a:xfrm>
            <a:off x="1362964" y="2468880"/>
            <a:ext cx="611632" cy="49149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1087120" y="2994660"/>
            <a:ext cx="1163320" cy="137160"/>
          </a:xfrm>
          <a:prstGeom prst="rect">
            <a:avLst/>
          </a:prstGeom>
          <a:noFill/>
          <a:ln/>
        </p:spPr>
        <p:txBody>
          <a:bodyPr wrap="square" rtlCol="0" anchor="ctr"/>
          <a:lstStyle/>
          <a:p>
            <a:pPr marL="0" indent="0" algn="ctr">
              <a:buNone/>
            </a:pPr>
            <a:r>
              <a:rPr lang="en-US" sz="1400" b="1" dirty="0">
                <a:solidFill>
                  <a:srgbClr val="0A1628"/>
                </a:solidFill>
              </a:rPr>
              <a:t>Masalah</a:t>
            </a:r>
            <a:endParaRPr lang="en-US" sz="1400" dirty="0"/>
          </a:p>
        </p:txBody>
      </p:sp>
      <p:sp>
        <p:nvSpPr>
          <p:cNvPr id="9" name="Text 7"/>
          <p:cNvSpPr/>
          <p:nvPr/>
        </p:nvSpPr>
        <p:spPr>
          <a:xfrm>
            <a:off x="457200" y="3166110"/>
            <a:ext cx="2423160" cy="1487170"/>
          </a:xfrm>
          <a:prstGeom prst="rect">
            <a:avLst/>
          </a:prstGeom>
          <a:noFill/>
          <a:ln/>
        </p:spPr>
        <p:txBody>
          <a:bodyPr wrap="square" rtlCol="0" anchor="ctr"/>
          <a:lstStyle/>
          <a:p>
            <a:pPr marL="0" indent="0" algn="ctr">
              <a:buNone/>
            </a:pPr>
            <a:r>
              <a:rPr lang="en-US" sz="1200" dirty="0" err="1">
                <a:solidFill>
                  <a:srgbClr val="444444"/>
                </a:solidFill>
              </a:rPr>
              <a:t>Ketidakakuratan</a:t>
            </a:r>
            <a:r>
              <a:rPr lang="en-US" sz="1200" dirty="0">
                <a:solidFill>
                  <a:srgbClr val="444444"/>
                </a:solidFill>
              </a:rPr>
              <a:t>  </a:t>
            </a:r>
            <a:r>
              <a:rPr lang="en-US" sz="1200" dirty="0" err="1">
                <a:solidFill>
                  <a:srgbClr val="444444"/>
                </a:solidFill>
              </a:rPr>
              <a:t>laporan</a:t>
            </a:r>
            <a:r>
              <a:rPr lang="en-US" sz="1200" dirty="0">
                <a:solidFill>
                  <a:srgbClr val="444444"/>
                </a:solidFill>
              </a:rPr>
              <a:t> </a:t>
            </a:r>
            <a:r>
              <a:rPr lang="en-US" sz="1200" dirty="0" err="1">
                <a:solidFill>
                  <a:srgbClr val="444444"/>
                </a:solidFill>
              </a:rPr>
              <a:t>sampah</a:t>
            </a:r>
            <a:r>
              <a:rPr lang="en-US" sz="1200" dirty="0">
                <a:solidFill>
                  <a:srgbClr val="444444"/>
                </a:solidFill>
              </a:rPr>
              <a:t> </a:t>
            </a:r>
            <a:r>
              <a:rPr lang="en-US" sz="1200" dirty="0" err="1">
                <a:solidFill>
                  <a:srgbClr val="444444"/>
                </a:solidFill>
              </a:rPr>
              <a:t>dari</a:t>
            </a:r>
            <a:r>
              <a:rPr lang="en-US" sz="1200" dirty="0">
                <a:solidFill>
                  <a:srgbClr val="444444"/>
                </a:solidFill>
              </a:rPr>
              <a:t> Masyarakat yang </a:t>
            </a:r>
            <a:r>
              <a:rPr lang="en-US" sz="1200" dirty="0" err="1">
                <a:solidFill>
                  <a:srgbClr val="444444"/>
                </a:solidFill>
              </a:rPr>
              <a:t>membuat</a:t>
            </a:r>
            <a:r>
              <a:rPr lang="en-US" sz="1200" dirty="0">
                <a:solidFill>
                  <a:srgbClr val="444444"/>
                </a:solidFill>
              </a:rPr>
              <a:t> </a:t>
            </a:r>
            <a:r>
              <a:rPr lang="en-US" sz="1200" dirty="0" err="1">
                <a:solidFill>
                  <a:srgbClr val="444444"/>
                </a:solidFill>
              </a:rPr>
              <a:t>truk</a:t>
            </a:r>
            <a:r>
              <a:rPr lang="en-US" sz="1200" dirty="0">
                <a:solidFill>
                  <a:srgbClr val="444444"/>
                </a:solidFill>
              </a:rPr>
              <a:t> </a:t>
            </a:r>
            <a:r>
              <a:rPr lang="en-US" sz="1200" dirty="0" err="1">
                <a:solidFill>
                  <a:srgbClr val="444444"/>
                </a:solidFill>
              </a:rPr>
              <a:t>sampah</a:t>
            </a:r>
            <a:r>
              <a:rPr lang="en-US" sz="1200" dirty="0">
                <a:solidFill>
                  <a:srgbClr val="444444"/>
                </a:solidFill>
              </a:rPr>
              <a:t> </a:t>
            </a:r>
            <a:r>
              <a:rPr lang="en-US" sz="1200" dirty="0" err="1">
                <a:solidFill>
                  <a:srgbClr val="444444"/>
                </a:solidFill>
              </a:rPr>
              <a:t>sering</a:t>
            </a:r>
            <a:r>
              <a:rPr lang="en-US" sz="1200" dirty="0">
                <a:solidFill>
                  <a:srgbClr val="444444"/>
                </a:solidFill>
              </a:rPr>
              <a:t> </a:t>
            </a:r>
            <a:r>
              <a:rPr lang="en-US" sz="1200" dirty="0" err="1">
                <a:solidFill>
                  <a:srgbClr val="444444"/>
                </a:solidFill>
              </a:rPr>
              <a:t>mendatangi</a:t>
            </a:r>
            <a:r>
              <a:rPr lang="en-US" sz="1200" dirty="0">
                <a:solidFill>
                  <a:srgbClr val="444444"/>
                </a:solidFill>
              </a:rPr>
              <a:t> </a:t>
            </a:r>
            <a:r>
              <a:rPr lang="en-US" sz="1200" dirty="0" err="1">
                <a:solidFill>
                  <a:srgbClr val="444444"/>
                </a:solidFill>
              </a:rPr>
              <a:t>sampah</a:t>
            </a:r>
            <a:r>
              <a:rPr lang="en-US" sz="1200" dirty="0">
                <a:solidFill>
                  <a:srgbClr val="444444"/>
                </a:solidFill>
              </a:rPr>
              <a:t> yang </a:t>
            </a:r>
            <a:r>
              <a:rPr lang="en-US" sz="1200" dirty="0" err="1">
                <a:solidFill>
                  <a:srgbClr val="444444"/>
                </a:solidFill>
              </a:rPr>
              <a:t>tidak</a:t>
            </a:r>
            <a:r>
              <a:rPr lang="en-US" sz="1200" dirty="0">
                <a:solidFill>
                  <a:srgbClr val="444444"/>
                </a:solidFill>
              </a:rPr>
              <a:t> </a:t>
            </a:r>
            <a:r>
              <a:rPr lang="en-US" sz="1200" dirty="0" err="1">
                <a:solidFill>
                  <a:srgbClr val="444444"/>
                </a:solidFill>
              </a:rPr>
              <a:t>layak</a:t>
            </a:r>
            <a:r>
              <a:rPr lang="en-US" sz="1200" dirty="0">
                <a:solidFill>
                  <a:srgbClr val="444444"/>
                </a:solidFill>
              </a:rPr>
              <a:t> </a:t>
            </a:r>
            <a:r>
              <a:rPr lang="en-US" sz="1200" dirty="0" err="1">
                <a:solidFill>
                  <a:srgbClr val="444444"/>
                </a:solidFill>
              </a:rPr>
              <a:t>untuk</a:t>
            </a:r>
            <a:r>
              <a:rPr lang="en-US" sz="1200" dirty="0">
                <a:solidFill>
                  <a:srgbClr val="444444"/>
                </a:solidFill>
              </a:rPr>
              <a:t> </a:t>
            </a:r>
            <a:r>
              <a:rPr lang="en-US" sz="1200" dirty="0" err="1">
                <a:solidFill>
                  <a:srgbClr val="444444"/>
                </a:solidFill>
              </a:rPr>
              <a:t>diangkut</a:t>
            </a:r>
            <a:r>
              <a:rPr lang="en-US" sz="1200" dirty="0">
                <a:solidFill>
                  <a:srgbClr val="444444"/>
                </a:solidFill>
              </a:rPr>
              <a:t> yang </a:t>
            </a:r>
            <a:r>
              <a:rPr lang="en-US" sz="1200" dirty="0" err="1">
                <a:solidFill>
                  <a:srgbClr val="444444"/>
                </a:solidFill>
              </a:rPr>
              <a:t>dapat</a:t>
            </a:r>
            <a:r>
              <a:rPr lang="en-US" sz="1200" dirty="0">
                <a:solidFill>
                  <a:srgbClr val="444444"/>
                </a:solidFill>
              </a:rPr>
              <a:t> </a:t>
            </a:r>
            <a:r>
              <a:rPr lang="en-US" sz="1200" dirty="0" err="1">
                <a:solidFill>
                  <a:srgbClr val="444444"/>
                </a:solidFill>
              </a:rPr>
              <a:t>memicu</a:t>
            </a:r>
            <a:r>
              <a:rPr lang="en-US" sz="1200" dirty="0">
                <a:solidFill>
                  <a:srgbClr val="444444"/>
                </a:solidFill>
              </a:rPr>
              <a:t> </a:t>
            </a:r>
            <a:r>
              <a:rPr lang="en-US" sz="1200" dirty="0" err="1">
                <a:solidFill>
                  <a:srgbClr val="444444"/>
                </a:solidFill>
              </a:rPr>
              <a:t>pemborosan</a:t>
            </a:r>
            <a:r>
              <a:rPr lang="en-US" sz="1200" dirty="0">
                <a:solidFill>
                  <a:srgbClr val="444444"/>
                </a:solidFill>
              </a:rPr>
              <a:t> </a:t>
            </a:r>
            <a:r>
              <a:rPr lang="en-US" sz="1200" dirty="0" err="1">
                <a:solidFill>
                  <a:srgbClr val="444444"/>
                </a:solidFill>
              </a:rPr>
              <a:t>bahan</a:t>
            </a:r>
            <a:r>
              <a:rPr lang="en-US" sz="1200" dirty="0">
                <a:solidFill>
                  <a:srgbClr val="444444"/>
                </a:solidFill>
              </a:rPr>
              <a:t> </a:t>
            </a:r>
            <a:r>
              <a:rPr lang="en-US" sz="1200" dirty="0" err="1">
                <a:solidFill>
                  <a:srgbClr val="444444"/>
                </a:solidFill>
              </a:rPr>
              <a:t>bakar</a:t>
            </a:r>
            <a:r>
              <a:rPr lang="en-US" sz="1200" dirty="0">
                <a:solidFill>
                  <a:srgbClr val="444444"/>
                </a:solidFill>
              </a:rPr>
              <a:t> dan </a:t>
            </a:r>
            <a:r>
              <a:rPr lang="en-US" sz="1200" dirty="0" err="1">
                <a:solidFill>
                  <a:srgbClr val="444444"/>
                </a:solidFill>
              </a:rPr>
              <a:t>biaya</a:t>
            </a:r>
            <a:r>
              <a:rPr lang="en-US" sz="1200" dirty="0">
                <a:solidFill>
                  <a:srgbClr val="444444"/>
                </a:solidFill>
              </a:rPr>
              <a:t> </a:t>
            </a:r>
            <a:r>
              <a:rPr lang="en-US" sz="1200" dirty="0" err="1">
                <a:solidFill>
                  <a:srgbClr val="444444"/>
                </a:solidFill>
              </a:rPr>
              <a:t>operasional</a:t>
            </a:r>
            <a:endParaRPr lang="en-US" sz="1200" dirty="0"/>
          </a:p>
        </p:txBody>
      </p:sp>
      <p:sp>
        <p:nvSpPr>
          <p:cNvPr id="10" name="Shape 8"/>
          <p:cNvSpPr/>
          <p:nvPr/>
        </p:nvSpPr>
        <p:spPr>
          <a:xfrm>
            <a:off x="3172968" y="2331720"/>
            <a:ext cx="2697480" cy="2468880"/>
          </a:xfrm>
          <a:prstGeom prst="roundRect">
            <a:avLst>
              <a:gd name="adj" fmla="val 3704"/>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1" name="Text 9"/>
          <p:cNvSpPr/>
          <p:nvPr/>
        </p:nvSpPr>
        <p:spPr>
          <a:xfrm>
            <a:off x="4217924" y="2434590"/>
            <a:ext cx="607568" cy="49149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3172968" y="2827020"/>
            <a:ext cx="2697480" cy="411480"/>
          </a:xfrm>
          <a:prstGeom prst="rect">
            <a:avLst/>
          </a:prstGeom>
          <a:noFill/>
          <a:ln/>
        </p:spPr>
        <p:txBody>
          <a:bodyPr wrap="square" rtlCol="0" anchor="ctr"/>
          <a:lstStyle/>
          <a:p>
            <a:pPr marL="0" indent="0" algn="ctr">
              <a:buNone/>
            </a:pPr>
            <a:r>
              <a:rPr lang="en-US" sz="1400" b="1" dirty="0">
                <a:solidFill>
                  <a:srgbClr val="0A1628"/>
                </a:solidFill>
              </a:rPr>
              <a:t>Solusi</a:t>
            </a:r>
            <a:endParaRPr lang="en-US" sz="1400" dirty="0"/>
          </a:p>
        </p:txBody>
      </p:sp>
      <p:sp>
        <p:nvSpPr>
          <p:cNvPr id="13" name="Text 11"/>
          <p:cNvSpPr/>
          <p:nvPr/>
        </p:nvSpPr>
        <p:spPr>
          <a:xfrm>
            <a:off x="3310128" y="3279140"/>
            <a:ext cx="2423160" cy="1038860"/>
          </a:xfrm>
          <a:prstGeom prst="rect">
            <a:avLst/>
          </a:prstGeom>
          <a:noFill/>
          <a:ln/>
        </p:spPr>
        <p:txBody>
          <a:bodyPr wrap="square" rtlCol="0" anchor="ctr"/>
          <a:lstStyle/>
          <a:p>
            <a:pPr marL="0" indent="0" algn="ctr">
              <a:buNone/>
            </a:pPr>
            <a:r>
              <a:rPr lang="en-US" sz="1200" dirty="0" err="1">
                <a:solidFill>
                  <a:srgbClr val="444444"/>
                </a:solidFill>
              </a:rPr>
              <a:t>Membangun</a:t>
            </a:r>
            <a:r>
              <a:rPr lang="en-US" sz="1200" dirty="0">
                <a:solidFill>
                  <a:srgbClr val="444444"/>
                </a:solidFill>
              </a:rPr>
              <a:t> system </a:t>
            </a:r>
            <a:r>
              <a:rPr lang="en-US" sz="1200" dirty="0" err="1">
                <a:solidFill>
                  <a:srgbClr val="444444"/>
                </a:solidFill>
              </a:rPr>
              <a:t>berbasis</a:t>
            </a:r>
            <a:r>
              <a:rPr lang="en-US" sz="1200" dirty="0">
                <a:solidFill>
                  <a:srgbClr val="444444"/>
                </a:solidFill>
              </a:rPr>
              <a:t> machine learning yang </a:t>
            </a:r>
            <a:r>
              <a:rPr lang="en-US" sz="1200" dirty="0" err="1">
                <a:solidFill>
                  <a:srgbClr val="444444"/>
                </a:solidFill>
              </a:rPr>
              <a:t>secara</a:t>
            </a:r>
            <a:r>
              <a:rPr lang="en-US" sz="1200" dirty="0">
                <a:solidFill>
                  <a:srgbClr val="444444"/>
                </a:solidFill>
              </a:rPr>
              <a:t> modular dan </a:t>
            </a:r>
            <a:r>
              <a:rPr lang="en-US" sz="1200" dirty="0" err="1">
                <a:solidFill>
                  <a:srgbClr val="444444"/>
                </a:solidFill>
              </a:rPr>
              <a:t>otomatis</a:t>
            </a:r>
            <a:r>
              <a:rPr lang="en-US" sz="1200" dirty="0">
                <a:solidFill>
                  <a:srgbClr val="444444"/>
                </a:solidFill>
              </a:rPr>
              <a:t> </a:t>
            </a:r>
            <a:r>
              <a:rPr lang="en-US" sz="1200" dirty="0" err="1">
                <a:solidFill>
                  <a:srgbClr val="444444"/>
                </a:solidFill>
              </a:rPr>
              <a:t>memvalidasi</a:t>
            </a:r>
            <a:r>
              <a:rPr lang="en-US" sz="1200" dirty="0">
                <a:solidFill>
                  <a:srgbClr val="444444"/>
                </a:solidFill>
              </a:rPr>
              <a:t> </a:t>
            </a:r>
            <a:r>
              <a:rPr lang="en-US" sz="1200" dirty="0" err="1">
                <a:solidFill>
                  <a:srgbClr val="444444"/>
                </a:solidFill>
              </a:rPr>
              <a:t>kondisi</a:t>
            </a:r>
            <a:r>
              <a:rPr lang="en-US" sz="1200" dirty="0">
                <a:solidFill>
                  <a:srgbClr val="444444"/>
                </a:solidFill>
              </a:rPr>
              <a:t> visual </a:t>
            </a:r>
            <a:r>
              <a:rPr lang="en-US" sz="1200" dirty="0" err="1">
                <a:solidFill>
                  <a:srgbClr val="444444"/>
                </a:solidFill>
              </a:rPr>
              <a:t>tumpukan</a:t>
            </a:r>
            <a:r>
              <a:rPr lang="en-US" sz="1200" dirty="0">
                <a:solidFill>
                  <a:srgbClr val="444444"/>
                </a:solidFill>
              </a:rPr>
              <a:t> </a:t>
            </a:r>
            <a:r>
              <a:rPr lang="en-US" sz="1200" dirty="0" err="1">
                <a:solidFill>
                  <a:srgbClr val="444444"/>
                </a:solidFill>
              </a:rPr>
              <a:t>sampah</a:t>
            </a:r>
            <a:r>
              <a:rPr lang="en-US" sz="1200" dirty="0">
                <a:solidFill>
                  <a:srgbClr val="444444"/>
                </a:solidFill>
              </a:rPr>
              <a:t>   	</a:t>
            </a:r>
            <a:endParaRPr lang="en-US" sz="1200" dirty="0"/>
          </a:p>
        </p:txBody>
      </p:sp>
      <p:sp>
        <p:nvSpPr>
          <p:cNvPr id="14" name="Shape 12"/>
          <p:cNvSpPr/>
          <p:nvPr/>
        </p:nvSpPr>
        <p:spPr>
          <a:xfrm>
            <a:off x="6080760" y="2331720"/>
            <a:ext cx="2697480" cy="2468880"/>
          </a:xfrm>
          <a:prstGeom prst="roundRect">
            <a:avLst>
              <a:gd name="adj" fmla="val 3704"/>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5" name="Text 13"/>
          <p:cNvSpPr/>
          <p:nvPr/>
        </p:nvSpPr>
        <p:spPr>
          <a:xfrm>
            <a:off x="7039356" y="2468880"/>
            <a:ext cx="483616" cy="491490"/>
          </a:xfrm>
          <a:prstGeom prst="rect">
            <a:avLst/>
          </a:prstGeom>
          <a:noFill/>
          <a:ln/>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6915404" y="2903220"/>
            <a:ext cx="788416" cy="205740"/>
          </a:xfrm>
          <a:prstGeom prst="rect">
            <a:avLst/>
          </a:prstGeom>
          <a:noFill/>
          <a:ln/>
        </p:spPr>
        <p:txBody>
          <a:bodyPr wrap="square" rtlCol="0" anchor="ctr"/>
          <a:lstStyle/>
          <a:p>
            <a:pPr marL="0" indent="0" algn="ctr">
              <a:buNone/>
            </a:pPr>
            <a:r>
              <a:rPr lang="en-US" sz="1400" b="1" dirty="0">
                <a:solidFill>
                  <a:srgbClr val="0A1628"/>
                </a:solidFill>
              </a:rPr>
              <a:t>Output</a:t>
            </a:r>
            <a:endParaRPr lang="en-US" sz="1400" dirty="0"/>
          </a:p>
        </p:txBody>
      </p:sp>
      <p:sp>
        <p:nvSpPr>
          <p:cNvPr id="17" name="Text 15"/>
          <p:cNvSpPr/>
          <p:nvPr/>
        </p:nvSpPr>
        <p:spPr>
          <a:xfrm>
            <a:off x="6163056" y="3279140"/>
            <a:ext cx="2423160" cy="571500"/>
          </a:xfrm>
          <a:prstGeom prst="rect">
            <a:avLst/>
          </a:prstGeom>
          <a:noFill/>
          <a:ln/>
        </p:spPr>
        <p:txBody>
          <a:bodyPr wrap="square" rtlCol="0" anchor="ctr"/>
          <a:lstStyle/>
          <a:p>
            <a:pPr marL="0" indent="0" algn="ctr">
              <a:buNone/>
            </a:pPr>
            <a:r>
              <a:rPr lang="en-US" sz="1200" dirty="0">
                <a:solidFill>
                  <a:srgbClr val="444444"/>
                </a:solidFill>
              </a:rPr>
              <a:t>Label 'Layak Diangkut' atau 'Tidak Layak' + tingkat keyakinan (confidence %).</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marL="0" indent="0">
              <a:buNone/>
            </a:pPr>
            <a:r>
              <a:rPr lang="en-US" sz="2200" b="1" dirty="0">
                <a:solidFill>
                  <a:srgbClr val="FFFFFF"/>
                </a:solidFill>
              </a:rPr>
              <a:t>ARSITEKTUR PIPELINE SISTEM</a:t>
            </a:r>
            <a:endParaRPr lang="en-US" sz="2200" dirty="0"/>
          </a:p>
        </p:txBody>
      </p:sp>
      <p:sp>
        <p:nvSpPr>
          <p:cNvPr id="3" name="Text 1"/>
          <p:cNvSpPr/>
          <p:nvPr/>
        </p:nvSpPr>
        <p:spPr>
          <a:xfrm>
            <a:off x="457200" y="731520"/>
            <a:ext cx="8229600" cy="347472"/>
          </a:xfrm>
          <a:prstGeom prst="rect">
            <a:avLst/>
          </a:prstGeom>
          <a:noFill/>
          <a:ln/>
        </p:spPr>
        <p:txBody>
          <a:bodyPr wrap="square" rtlCol="0" anchor="ctr"/>
          <a:lstStyle/>
          <a:p>
            <a:pPr marL="0" indent="0">
              <a:buNone/>
            </a:pPr>
            <a:r>
              <a:rPr lang="en-US" sz="1300" dirty="0">
                <a:solidFill>
                  <a:srgbClr val="94A3B8"/>
                </a:solidFill>
              </a:rPr>
              <a:t>Dua AI bekerja berurutan — YOLO sebagai 'mata', Random Forest sebagai 'otak'</a:t>
            </a:r>
            <a:endParaRPr lang="en-US" sz="1300" dirty="0"/>
          </a:p>
        </p:txBody>
      </p:sp>
      <p:sp>
        <p:nvSpPr>
          <p:cNvPr id="4" name="Shape 2"/>
          <p:cNvSpPr/>
          <p:nvPr/>
        </p:nvSpPr>
        <p:spPr>
          <a:xfrm>
            <a:off x="228600" y="1325880"/>
            <a:ext cx="1600200" cy="1554480"/>
          </a:xfrm>
          <a:prstGeom prst="roundRect">
            <a:avLst>
              <a:gd name="adj" fmla="val 5882"/>
            </a:avLst>
          </a:prstGeom>
          <a:solidFill>
            <a:srgbClr val="1A3A6B"/>
          </a:solidFill>
          <a:ln w="12700">
            <a:solidFill>
              <a:srgbClr val="FFFFFF"/>
            </a:solidFill>
            <a:prstDash val="solid"/>
          </a:ln>
          <a:effectLst>
            <a:outerShdw blurRad="101600" dist="38100" dir="2700000" algn="bl" rotWithShape="0">
              <a:srgbClr val="000000">
                <a:alpha val="18000"/>
              </a:srgbClr>
            </a:outerShdw>
          </a:effectLst>
        </p:spPr>
      </p:sp>
      <p:sp>
        <p:nvSpPr>
          <p:cNvPr id="5" name="Text 3"/>
          <p:cNvSpPr/>
          <p:nvPr/>
        </p:nvSpPr>
        <p:spPr>
          <a:xfrm>
            <a:off x="228600" y="1325880"/>
            <a:ext cx="1600200" cy="155448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a:p>
            <a:pPr marL="0" indent="0" algn="ctr">
              <a:buNone/>
            </a:pPr>
            <a:r>
              <a:rPr lang="en-US" sz="1200" b="1" dirty="0">
                <a:solidFill>
                  <a:srgbClr val="FFFFFF"/>
                </a:solidFill>
              </a:rPr>
              <a:t>Gambar</a:t>
            </a:r>
            <a:endParaRPr lang="en-US" sz="1200" dirty="0"/>
          </a:p>
          <a:p>
            <a:pPr marL="0" indent="0" algn="ctr">
              <a:buNone/>
            </a:pPr>
            <a:r>
              <a:rPr lang="en-US" sz="1200" b="1" dirty="0">
                <a:solidFill>
                  <a:srgbClr val="FFFFFF"/>
                </a:solidFill>
              </a:rPr>
              <a:t>Input</a:t>
            </a:r>
            <a:endParaRPr lang="en-US" sz="1200" dirty="0"/>
          </a:p>
        </p:txBody>
      </p:sp>
      <p:sp>
        <p:nvSpPr>
          <p:cNvPr id="6" name="Shape 4"/>
          <p:cNvSpPr/>
          <p:nvPr/>
        </p:nvSpPr>
        <p:spPr>
          <a:xfrm>
            <a:off x="1837944" y="2103120"/>
            <a:ext cx="338328" cy="0"/>
          </a:xfrm>
          <a:prstGeom prst="line">
            <a:avLst/>
          </a:prstGeom>
          <a:noFill/>
          <a:ln w="31750">
            <a:solidFill>
              <a:srgbClr val="14B8A6"/>
            </a:solidFill>
            <a:prstDash val="solid"/>
          </a:ln>
        </p:spPr>
      </p:sp>
      <p:sp>
        <p:nvSpPr>
          <p:cNvPr id="7" name="Text 5"/>
          <p:cNvSpPr/>
          <p:nvPr/>
        </p:nvSpPr>
        <p:spPr>
          <a:xfrm>
            <a:off x="1965960" y="2011680"/>
            <a:ext cx="320040" cy="228600"/>
          </a:xfrm>
          <a:prstGeom prst="rect">
            <a:avLst/>
          </a:prstGeom>
          <a:noFill/>
          <a:ln/>
        </p:spPr>
        <p:txBody>
          <a:bodyPr wrap="square" rtlCol="0" anchor="ctr"/>
          <a:lstStyle/>
          <a:p>
            <a:pPr marL="0" indent="0">
              <a:buNone/>
            </a:pPr>
            <a:r>
              <a:rPr lang="en-US" sz="1100" dirty="0">
                <a:solidFill>
                  <a:srgbClr val="14B8A6"/>
                </a:solidFill>
              </a:rPr>
              <a:t>▶</a:t>
            </a:r>
            <a:endParaRPr lang="en-US" sz="1100" dirty="0"/>
          </a:p>
        </p:txBody>
      </p:sp>
      <p:sp>
        <p:nvSpPr>
          <p:cNvPr id="8" name="Shape 6"/>
          <p:cNvSpPr/>
          <p:nvPr/>
        </p:nvSpPr>
        <p:spPr>
          <a:xfrm>
            <a:off x="1975104" y="1325880"/>
            <a:ext cx="1600200" cy="1554480"/>
          </a:xfrm>
          <a:prstGeom prst="roundRect">
            <a:avLst>
              <a:gd name="adj" fmla="val 5882"/>
            </a:avLst>
          </a:prstGeom>
          <a:solidFill>
            <a:srgbClr val="1A4A6B"/>
          </a:solidFill>
          <a:ln w="12700">
            <a:solidFill>
              <a:srgbClr val="FFFFFF"/>
            </a:solidFill>
            <a:prstDash val="solid"/>
          </a:ln>
          <a:effectLst>
            <a:outerShdw blurRad="101600" dist="38100" dir="2700000" algn="bl" rotWithShape="0">
              <a:srgbClr val="000000">
                <a:alpha val="18000"/>
              </a:srgbClr>
            </a:outerShdw>
          </a:effectLst>
        </p:spPr>
      </p:sp>
      <p:sp>
        <p:nvSpPr>
          <p:cNvPr id="9" name="Text 7"/>
          <p:cNvSpPr/>
          <p:nvPr/>
        </p:nvSpPr>
        <p:spPr>
          <a:xfrm>
            <a:off x="1965960" y="1325880"/>
            <a:ext cx="1600200" cy="155448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a:p>
            <a:pPr marL="0" indent="0" algn="ctr">
              <a:buNone/>
            </a:pPr>
            <a:r>
              <a:rPr lang="en-US" sz="1200" b="1" dirty="0">
                <a:solidFill>
                  <a:srgbClr val="FFFFFF"/>
                </a:solidFill>
              </a:rPr>
              <a:t>Cek</a:t>
            </a:r>
            <a:endParaRPr lang="en-US" sz="1200" dirty="0"/>
          </a:p>
          <a:p>
            <a:pPr marL="0" indent="0" algn="ctr">
              <a:buNone/>
            </a:pPr>
            <a:r>
              <a:rPr lang="en-US" sz="1200" b="1" dirty="0">
                <a:solidFill>
                  <a:srgbClr val="FFFFFF"/>
                </a:solidFill>
              </a:rPr>
              <a:t>Kualitas</a:t>
            </a:r>
            <a:endParaRPr lang="en-US" sz="1200" dirty="0"/>
          </a:p>
        </p:txBody>
      </p:sp>
      <p:sp>
        <p:nvSpPr>
          <p:cNvPr id="10" name="Shape 8"/>
          <p:cNvSpPr/>
          <p:nvPr/>
        </p:nvSpPr>
        <p:spPr>
          <a:xfrm>
            <a:off x="3575304" y="2103120"/>
            <a:ext cx="338328" cy="0"/>
          </a:xfrm>
          <a:prstGeom prst="line">
            <a:avLst/>
          </a:prstGeom>
          <a:noFill/>
          <a:ln w="31750">
            <a:solidFill>
              <a:srgbClr val="14B8A6"/>
            </a:solidFill>
            <a:prstDash val="solid"/>
          </a:ln>
        </p:spPr>
      </p:sp>
      <p:sp>
        <p:nvSpPr>
          <p:cNvPr id="11" name="Text 9"/>
          <p:cNvSpPr/>
          <p:nvPr/>
        </p:nvSpPr>
        <p:spPr>
          <a:xfrm>
            <a:off x="3703320" y="2011680"/>
            <a:ext cx="320040" cy="228600"/>
          </a:xfrm>
          <a:prstGeom prst="rect">
            <a:avLst/>
          </a:prstGeom>
          <a:noFill/>
          <a:ln/>
        </p:spPr>
        <p:txBody>
          <a:bodyPr wrap="square" rtlCol="0" anchor="ctr"/>
          <a:lstStyle/>
          <a:p>
            <a:pPr marL="0" indent="0">
              <a:buNone/>
            </a:pPr>
            <a:r>
              <a:rPr lang="en-US" sz="1100" dirty="0">
                <a:solidFill>
                  <a:srgbClr val="14B8A6"/>
                </a:solidFill>
              </a:rPr>
              <a:t>▶</a:t>
            </a:r>
            <a:endParaRPr lang="en-US" sz="1100" dirty="0"/>
          </a:p>
        </p:txBody>
      </p:sp>
      <p:sp>
        <p:nvSpPr>
          <p:cNvPr id="12" name="Shape 10"/>
          <p:cNvSpPr/>
          <p:nvPr/>
        </p:nvSpPr>
        <p:spPr>
          <a:xfrm>
            <a:off x="3703320" y="1325880"/>
            <a:ext cx="1600200" cy="1554480"/>
          </a:xfrm>
          <a:prstGeom prst="roundRect">
            <a:avLst>
              <a:gd name="adj" fmla="val 5882"/>
            </a:avLst>
          </a:prstGeom>
          <a:solidFill>
            <a:srgbClr val="0D9488"/>
          </a:solidFill>
          <a:ln w="12700">
            <a:solidFill>
              <a:srgbClr val="FFFFFF"/>
            </a:solidFill>
            <a:prstDash val="solid"/>
          </a:ln>
          <a:effectLst>
            <a:outerShdw blurRad="101600" dist="38100" dir="2700000" algn="bl" rotWithShape="0">
              <a:srgbClr val="000000">
                <a:alpha val="18000"/>
              </a:srgbClr>
            </a:outerShdw>
          </a:effectLst>
        </p:spPr>
      </p:sp>
      <p:sp>
        <p:nvSpPr>
          <p:cNvPr id="13" name="Text 11"/>
          <p:cNvSpPr/>
          <p:nvPr/>
        </p:nvSpPr>
        <p:spPr>
          <a:xfrm>
            <a:off x="3703320" y="1325880"/>
            <a:ext cx="1600200" cy="155448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a:p>
            <a:pPr marL="0" indent="0" algn="ctr">
              <a:buNone/>
            </a:pPr>
            <a:r>
              <a:rPr lang="en-US" sz="1200" b="1" dirty="0">
                <a:solidFill>
                  <a:srgbClr val="FFFFFF"/>
                </a:solidFill>
              </a:rPr>
              <a:t>YOLOv8m</a:t>
            </a:r>
            <a:endParaRPr lang="en-US" sz="1200" dirty="0"/>
          </a:p>
          <a:p>
            <a:pPr marL="0" indent="0" algn="ctr">
              <a:buNone/>
            </a:pPr>
            <a:r>
              <a:rPr lang="en-US" sz="1200" b="1" dirty="0">
                <a:solidFill>
                  <a:srgbClr val="FFFFFF"/>
                </a:solidFill>
              </a:rPr>
              <a:t>Deteksi</a:t>
            </a:r>
            <a:endParaRPr lang="en-US" sz="1200" dirty="0"/>
          </a:p>
        </p:txBody>
      </p:sp>
      <p:sp>
        <p:nvSpPr>
          <p:cNvPr id="14" name="Shape 12"/>
          <p:cNvSpPr/>
          <p:nvPr/>
        </p:nvSpPr>
        <p:spPr>
          <a:xfrm>
            <a:off x="5312664" y="2103120"/>
            <a:ext cx="338328" cy="0"/>
          </a:xfrm>
          <a:prstGeom prst="line">
            <a:avLst/>
          </a:prstGeom>
          <a:noFill/>
          <a:ln w="31750">
            <a:solidFill>
              <a:srgbClr val="14B8A6"/>
            </a:solidFill>
            <a:prstDash val="solid"/>
          </a:ln>
        </p:spPr>
      </p:sp>
      <p:sp>
        <p:nvSpPr>
          <p:cNvPr id="15" name="Text 13"/>
          <p:cNvSpPr/>
          <p:nvPr/>
        </p:nvSpPr>
        <p:spPr>
          <a:xfrm>
            <a:off x="5440680" y="2011680"/>
            <a:ext cx="320040" cy="228600"/>
          </a:xfrm>
          <a:prstGeom prst="rect">
            <a:avLst/>
          </a:prstGeom>
          <a:noFill/>
          <a:ln/>
        </p:spPr>
        <p:txBody>
          <a:bodyPr wrap="square" rtlCol="0" anchor="ctr"/>
          <a:lstStyle/>
          <a:p>
            <a:pPr marL="0" indent="0">
              <a:buNone/>
            </a:pPr>
            <a:r>
              <a:rPr lang="en-US" sz="1100" dirty="0">
                <a:solidFill>
                  <a:srgbClr val="14B8A6"/>
                </a:solidFill>
              </a:rPr>
              <a:t>▶</a:t>
            </a:r>
            <a:endParaRPr lang="en-US" sz="1100" dirty="0"/>
          </a:p>
        </p:txBody>
      </p:sp>
      <p:sp>
        <p:nvSpPr>
          <p:cNvPr id="16" name="Shape 14"/>
          <p:cNvSpPr/>
          <p:nvPr/>
        </p:nvSpPr>
        <p:spPr>
          <a:xfrm>
            <a:off x="5440680" y="1325880"/>
            <a:ext cx="1600200" cy="1554480"/>
          </a:xfrm>
          <a:prstGeom prst="roundRect">
            <a:avLst>
              <a:gd name="adj" fmla="val 5882"/>
            </a:avLst>
          </a:prstGeom>
          <a:solidFill>
            <a:srgbClr val="8B5CF6"/>
          </a:solidFill>
          <a:ln w="12700">
            <a:solidFill>
              <a:srgbClr val="FFFFFF"/>
            </a:solidFill>
            <a:prstDash val="solid"/>
          </a:ln>
          <a:effectLst>
            <a:outerShdw blurRad="101600" dist="38100" dir="2700000" algn="bl" rotWithShape="0">
              <a:srgbClr val="000000">
                <a:alpha val="18000"/>
              </a:srgbClr>
            </a:outerShdw>
          </a:effectLst>
        </p:spPr>
      </p:sp>
      <p:sp>
        <p:nvSpPr>
          <p:cNvPr id="17" name="Text 15"/>
          <p:cNvSpPr/>
          <p:nvPr/>
        </p:nvSpPr>
        <p:spPr>
          <a:xfrm>
            <a:off x="5440680" y="1325880"/>
            <a:ext cx="1600200" cy="155448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a:p>
            <a:pPr marL="0" indent="0" algn="ctr">
              <a:buNone/>
            </a:pPr>
            <a:r>
              <a:rPr lang="en-US" sz="1200" b="1" dirty="0">
                <a:solidFill>
                  <a:srgbClr val="FFFFFF"/>
                </a:solidFill>
              </a:rPr>
              <a:t>Ekstrak</a:t>
            </a:r>
            <a:endParaRPr lang="en-US" sz="1200" dirty="0"/>
          </a:p>
          <a:p>
            <a:pPr marL="0" indent="0" algn="ctr">
              <a:buNone/>
            </a:pPr>
            <a:r>
              <a:rPr lang="en-US" sz="1200" b="1" dirty="0">
                <a:solidFill>
                  <a:srgbClr val="FFFFFF"/>
                </a:solidFill>
              </a:rPr>
              <a:t>6 Fitur</a:t>
            </a:r>
            <a:endParaRPr lang="en-US" sz="1200" dirty="0"/>
          </a:p>
        </p:txBody>
      </p:sp>
      <p:sp>
        <p:nvSpPr>
          <p:cNvPr id="18" name="Shape 16"/>
          <p:cNvSpPr/>
          <p:nvPr/>
        </p:nvSpPr>
        <p:spPr>
          <a:xfrm>
            <a:off x="7050024" y="2103120"/>
            <a:ext cx="338328" cy="0"/>
          </a:xfrm>
          <a:prstGeom prst="line">
            <a:avLst/>
          </a:prstGeom>
          <a:noFill/>
          <a:ln w="31750">
            <a:solidFill>
              <a:srgbClr val="14B8A6"/>
            </a:solidFill>
            <a:prstDash val="solid"/>
          </a:ln>
        </p:spPr>
      </p:sp>
      <p:sp>
        <p:nvSpPr>
          <p:cNvPr id="19" name="Text 17"/>
          <p:cNvSpPr/>
          <p:nvPr/>
        </p:nvSpPr>
        <p:spPr>
          <a:xfrm>
            <a:off x="7178040" y="2011680"/>
            <a:ext cx="320040" cy="228600"/>
          </a:xfrm>
          <a:prstGeom prst="rect">
            <a:avLst/>
          </a:prstGeom>
          <a:noFill/>
          <a:ln/>
        </p:spPr>
        <p:txBody>
          <a:bodyPr wrap="square" rtlCol="0" anchor="ctr"/>
          <a:lstStyle/>
          <a:p>
            <a:pPr marL="0" indent="0">
              <a:buNone/>
            </a:pPr>
            <a:r>
              <a:rPr lang="en-US" sz="1100" dirty="0">
                <a:solidFill>
                  <a:srgbClr val="14B8A6"/>
                </a:solidFill>
              </a:rPr>
              <a:t>▶</a:t>
            </a:r>
            <a:endParaRPr lang="en-US" sz="1100" dirty="0"/>
          </a:p>
        </p:txBody>
      </p:sp>
      <p:sp>
        <p:nvSpPr>
          <p:cNvPr id="20" name="Shape 18"/>
          <p:cNvSpPr/>
          <p:nvPr/>
        </p:nvSpPr>
        <p:spPr>
          <a:xfrm>
            <a:off x="7178040" y="1325880"/>
            <a:ext cx="1600200" cy="1554480"/>
          </a:xfrm>
          <a:prstGeom prst="roundRect">
            <a:avLst>
              <a:gd name="adj" fmla="val 5882"/>
            </a:avLst>
          </a:prstGeom>
          <a:solidFill>
            <a:srgbClr val="15803D"/>
          </a:solidFill>
          <a:ln w="12700">
            <a:solidFill>
              <a:srgbClr val="FFFFFF"/>
            </a:solidFill>
            <a:prstDash val="solid"/>
          </a:ln>
          <a:effectLst>
            <a:outerShdw blurRad="101600" dist="38100" dir="2700000" algn="bl" rotWithShape="0">
              <a:srgbClr val="000000">
                <a:alpha val="18000"/>
              </a:srgbClr>
            </a:outerShdw>
          </a:effectLst>
        </p:spPr>
      </p:sp>
      <p:sp>
        <p:nvSpPr>
          <p:cNvPr id="21" name="Text 19"/>
          <p:cNvSpPr/>
          <p:nvPr/>
        </p:nvSpPr>
        <p:spPr>
          <a:xfrm>
            <a:off x="7178040" y="1325880"/>
            <a:ext cx="1600200" cy="1554480"/>
          </a:xfrm>
          <a:prstGeom prst="rect">
            <a:avLst/>
          </a:prstGeom>
          <a:noFill/>
          <a:ln/>
        </p:spPr>
        <p:txBody>
          <a:bodyPr wrap="square" rtlCol="0" anchor="ctr"/>
          <a:lstStyle/>
          <a:p>
            <a:pPr marL="0" indent="0" algn="ctr">
              <a:buNone/>
            </a:pPr>
            <a:r>
              <a:rPr lang="en-US" sz="1200" b="1" dirty="0">
                <a:solidFill>
                  <a:srgbClr val="FFFFFF"/>
                </a:solidFill>
              </a:rPr>
              <a:t>🌲</a:t>
            </a:r>
            <a:endParaRPr lang="en-US" sz="1200" dirty="0"/>
          </a:p>
          <a:p>
            <a:pPr marL="0" indent="0" algn="ctr">
              <a:buNone/>
            </a:pPr>
            <a:r>
              <a:rPr lang="en-US" sz="1200" b="1" dirty="0">
                <a:solidFill>
                  <a:srgbClr val="FFFFFF"/>
                </a:solidFill>
              </a:rPr>
              <a:t>Random</a:t>
            </a:r>
            <a:endParaRPr lang="en-US" sz="1200" dirty="0"/>
          </a:p>
          <a:p>
            <a:pPr marL="0" indent="0" algn="ctr">
              <a:buNone/>
            </a:pPr>
            <a:r>
              <a:rPr lang="en-US" sz="1200" b="1" dirty="0">
                <a:solidFill>
                  <a:srgbClr val="FFFFFF"/>
                </a:solidFill>
              </a:rPr>
              <a:t>Forest</a:t>
            </a:r>
            <a:endParaRPr lang="en-US" sz="1200" dirty="0"/>
          </a:p>
        </p:txBody>
      </p:sp>
      <p:sp>
        <p:nvSpPr>
          <p:cNvPr id="22" name="Shape 20"/>
          <p:cNvSpPr/>
          <p:nvPr/>
        </p:nvSpPr>
        <p:spPr>
          <a:xfrm>
            <a:off x="822960" y="1207008"/>
            <a:ext cx="384048" cy="256032"/>
          </a:xfrm>
          <a:prstGeom prst="ellipse">
            <a:avLst/>
          </a:prstGeom>
          <a:solidFill>
            <a:srgbClr val="FBBF24"/>
          </a:solidFill>
          <a:ln w="12700">
            <a:solidFill>
              <a:srgbClr val="FBBF24"/>
            </a:solidFill>
            <a:prstDash val="solid"/>
          </a:ln>
        </p:spPr>
      </p:sp>
      <p:sp>
        <p:nvSpPr>
          <p:cNvPr id="23" name="Text 21"/>
          <p:cNvSpPr/>
          <p:nvPr/>
        </p:nvSpPr>
        <p:spPr>
          <a:xfrm>
            <a:off x="822960" y="1207008"/>
            <a:ext cx="384048" cy="256032"/>
          </a:xfrm>
          <a:prstGeom prst="rect">
            <a:avLst/>
          </a:prstGeom>
          <a:noFill/>
          <a:ln/>
        </p:spPr>
        <p:txBody>
          <a:bodyPr wrap="square" lIns="0" tIns="0" rIns="0" bIns="0" rtlCol="0" anchor="ctr"/>
          <a:lstStyle/>
          <a:p>
            <a:pPr marL="0" indent="0" algn="ctr">
              <a:buNone/>
            </a:pPr>
            <a:r>
              <a:rPr lang="en-US" sz="1000" b="1" dirty="0">
                <a:solidFill>
                  <a:srgbClr val="0A1628"/>
                </a:solidFill>
              </a:rPr>
              <a:t>1</a:t>
            </a:r>
            <a:endParaRPr lang="en-US" sz="1000" dirty="0"/>
          </a:p>
        </p:txBody>
      </p:sp>
      <p:sp>
        <p:nvSpPr>
          <p:cNvPr id="24" name="Shape 22"/>
          <p:cNvSpPr/>
          <p:nvPr/>
        </p:nvSpPr>
        <p:spPr>
          <a:xfrm>
            <a:off x="2560320" y="1207008"/>
            <a:ext cx="384048" cy="256032"/>
          </a:xfrm>
          <a:prstGeom prst="ellipse">
            <a:avLst/>
          </a:prstGeom>
          <a:solidFill>
            <a:srgbClr val="FBBF24"/>
          </a:solidFill>
          <a:ln w="12700">
            <a:solidFill>
              <a:srgbClr val="FBBF24"/>
            </a:solidFill>
            <a:prstDash val="solid"/>
          </a:ln>
        </p:spPr>
      </p:sp>
      <p:sp>
        <p:nvSpPr>
          <p:cNvPr id="25" name="Text 23"/>
          <p:cNvSpPr/>
          <p:nvPr/>
        </p:nvSpPr>
        <p:spPr>
          <a:xfrm>
            <a:off x="2560320" y="1207008"/>
            <a:ext cx="384048" cy="256032"/>
          </a:xfrm>
          <a:prstGeom prst="rect">
            <a:avLst/>
          </a:prstGeom>
          <a:noFill/>
          <a:ln/>
        </p:spPr>
        <p:txBody>
          <a:bodyPr wrap="square" lIns="0" tIns="0" rIns="0" bIns="0" rtlCol="0" anchor="ctr"/>
          <a:lstStyle/>
          <a:p>
            <a:pPr marL="0" indent="0" algn="ctr">
              <a:buNone/>
            </a:pPr>
            <a:r>
              <a:rPr lang="en-US" sz="1000" b="1" dirty="0">
                <a:solidFill>
                  <a:srgbClr val="0A1628"/>
                </a:solidFill>
              </a:rPr>
              <a:t>2</a:t>
            </a:r>
            <a:endParaRPr lang="en-US" sz="1000" dirty="0"/>
          </a:p>
        </p:txBody>
      </p:sp>
      <p:sp>
        <p:nvSpPr>
          <p:cNvPr id="26" name="Shape 24"/>
          <p:cNvSpPr/>
          <p:nvPr/>
        </p:nvSpPr>
        <p:spPr>
          <a:xfrm>
            <a:off x="4297680" y="1207008"/>
            <a:ext cx="384048" cy="256032"/>
          </a:xfrm>
          <a:prstGeom prst="ellipse">
            <a:avLst/>
          </a:prstGeom>
          <a:solidFill>
            <a:srgbClr val="FBBF24"/>
          </a:solidFill>
          <a:ln w="12700">
            <a:solidFill>
              <a:srgbClr val="FBBF24"/>
            </a:solidFill>
            <a:prstDash val="solid"/>
          </a:ln>
        </p:spPr>
      </p:sp>
      <p:sp>
        <p:nvSpPr>
          <p:cNvPr id="27" name="Text 25"/>
          <p:cNvSpPr/>
          <p:nvPr/>
        </p:nvSpPr>
        <p:spPr>
          <a:xfrm>
            <a:off x="4297680" y="1207008"/>
            <a:ext cx="384048" cy="256032"/>
          </a:xfrm>
          <a:prstGeom prst="rect">
            <a:avLst/>
          </a:prstGeom>
          <a:noFill/>
          <a:ln/>
        </p:spPr>
        <p:txBody>
          <a:bodyPr wrap="square" lIns="0" tIns="0" rIns="0" bIns="0" rtlCol="0" anchor="ctr"/>
          <a:lstStyle/>
          <a:p>
            <a:pPr marL="0" indent="0" algn="ctr">
              <a:buNone/>
            </a:pPr>
            <a:r>
              <a:rPr lang="en-US" sz="1000" b="1" dirty="0">
                <a:solidFill>
                  <a:srgbClr val="0A1628"/>
                </a:solidFill>
              </a:rPr>
              <a:t>3</a:t>
            </a:r>
            <a:endParaRPr lang="en-US" sz="1000" dirty="0"/>
          </a:p>
        </p:txBody>
      </p:sp>
      <p:sp>
        <p:nvSpPr>
          <p:cNvPr id="28" name="Shape 26"/>
          <p:cNvSpPr/>
          <p:nvPr/>
        </p:nvSpPr>
        <p:spPr>
          <a:xfrm>
            <a:off x="6035040" y="1207008"/>
            <a:ext cx="384048" cy="256032"/>
          </a:xfrm>
          <a:prstGeom prst="ellipse">
            <a:avLst/>
          </a:prstGeom>
          <a:solidFill>
            <a:srgbClr val="FBBF24"/>
          </a:solidFill>
          <a:ln w="12700">
            <a:solidFill>
              <a:srgbClr val="FBBF24"/>
            </a:solidFill>
            <a:prstDash val="solid"/>
          </a:ln>
        </p:spPr>
      </p:sp>
      <p:sp>
        <p:nvSpPr>
          <p:cNvPr id="29" name="Text 27"/>
          <p:cNvSpPr/>
          <p:nvPr/>
        </p:nvSpPr>
        <p:spPr>
          <a:xfrm>
            <a:off x="6035040" y="1207008"/>
            <a:ext cx="384048" cy="256032"/>
          </a:xfrm>
          <a:prstGeom prst="rect">
            <a:avLst/>
          </a:prstGeom>
          <a:noFill/>
          <a:ln/>
        </p:spPr>
        <p:txBody>
          <a:bodyPr wrap="square" lIns="0" tIns="0" rIns="0" bIns="0" rtlCol="0" anchor="ctr"/>
          <a:lstStyle/>
          <a:p>
            <a:pPr marL="0" indent="0" algn="ctr">
              <a:buNone/>
            </a:pPr>
            <a:r>
              <a:rPr lang="en-US" sz="1000" b="1" dirty="0">
                <a:solidFill>
                  <a:srgbClr val="0A1628"/>
                </a:solidFill>
              </a:rPr>
              <a:t>4</a:t>
            </a:r>
            <a:endParaRPr lang="en-US" sz="1000" dirty="0"/>
          </a:p>
        </p:txBody>
      </p:sp>
      <p:sp>
        <p:nvSpPr>
          <p:cNvPr id="30" name="Shape 28"/>
          <p:cNvSpPr/>
          <p:nvPr/>
        </p:nvSpPr>
        <p:spPr>
          <a:xfrm>
            <a:off x="7772400" y="1207008"/>
            <a:ext cx="384048" cy="256032"/>
          </a:xfrm>
          <a:prstGeom prst="ellipse">
            <a:avLst/>
          </a:prstGeom>
          <a:solidFill>
            <a:srgbClr val="FBBF24"/>
          </a:solidFill>
          <a:ln w="12700">
            <a:solidFill>
              <a:srgbClr val="FBBF24"/>
            </a:solidFill>
            <a:prstDash val="solid"/>
          </a:ln>
        </p:spPr>
      </p:sp>
      <p:sp>
        <p:nvSpPr>
          <p:cNvPr id="31" name="Text 29"/>
          <p:cNvSpPr/>
          <p:nvPr/>
        </p:nvSpPr>
        <p:spPr>
          <a:xfrm>
            <a:off x="7772400" y="1207008"/>
            <a:ext cx="384048" cy="256032"/>
          </a:xfrm>
          <a:prstGeom prst="rect">
            <a:avLst/>
          </a:prstGeom>
          <a:noFill/>
          <a:ln/>
        </p:spPr>
        <p:txBody>
          <a:bodyPr wrap="square" lIns="0" tIns="0" rIns="0" bIns="0" rtlCol="0" anchor="ctr"/>
          <a:lstStyle/>
          <a:p>
            <a:pPr marL="0" indent="0" algn="ctr">
              <a:buNone/>
            </a:pPr>
            <a:r>
              <a:rPr lang="en-US" sz="1000" b="1" dirty="0">
                <a:solidFill>
                  <a:srgbClr val="0A1628"/>
                </a:solidFill>
              </a:rPr>
              <a:t>5</a:t>
            </a:r>
            <a:endParaRPr lang="en-US" sz="1000" dirty="0"/>
          </a:p>
        </p:txBody>
      </p:sp>
      <p:sp>
        <p:nvSpPr>
          <p:cNvPr id="32" name="Shape 30"/>
          <p:cNvSpPr/>
          <p:nvPr/>
        </p:nvSpPr>
        <p:spPr>
          <a:xfrm>
            <a:off x="1371600" y="3154680"/>
            <a:ext cx="2743200" cy="685800"/>
          </a:xfrm>
          <a:prstGeom prst="roundRect">
            <a:avLst>
              <a:gd name="adj" fmla="val 10667"/>
            </a:avLst>
          </a:prstGeom>
          <a:solidFill>
            <a:srgbClr val="22C55E">
              <a:alpha val="80000"/>
            </a:srgbClr>
          </a:solidFill>
          <a:ln w="12700">
            <a:solidFill>
              <a:srgbClr val="22C55E"/>
            </a:solidFill>
            <a:prstDash val="solid"/>
          </a:ln>
        </p:spPr>
      </p:sp>
      <p:sp>
        <p:nvSpPr>
          <p:cNvPr id="33" name="Text 31"/>
          <p:cNvSpPr/>
          <p:nvPr/>
        </p:nvSpPr>
        <p:spPr>
          <a:xfrm>
            <a:off x="1371600" y="3154680"/>
            <a:ext cx="2743200" cy="685800"/>
          </a:xfrm>
          <a:prstGeom prst="rect">
            <a:avLst/>
          </a:prstGeom>
          <a:noFill/>
          <a:ln/>
        </p:spPr>
        <p:txBody>
          <a:bodyPr wrap="square" lIns="0" tIns="0" rIns="0" bIns="0" rtlCol="0" anchor="ctr"/>
          <a:lstStyle/>
          <a:p>
            <a:pPr marL="0" indent="0" algn="ctr">
              <a:buNone/>
            </a:pPr>
            <a:r>
              <a:rPr lang="en-US" sz="1400" b="1" dirty="0">
                <a:solidFill>
                  <a:srgbClr val="FFFFFF"/>
                </a:solidFill>
              </a:rPr>
              <a:t>✅  LAYAK DIANGKUT</a:t>
            </a:r>
            <a:endParaRPr lang="en-US" sz="1400" dirty="0"/>
          </a:p>
        </p:txBody>
      </p:sp>
      <p:sp>
        <p:nvSpPr>
          <p:cNvPr id="34" name="Shape 32"/>
          <p:cNvSpPr/>
          <p:nvPr/>
        </p:nvSpPr>
        <p:spPr>
          <a:xfrm>
            <a:off x="5029200" y="3154680"/>
            <a:ext cx="2743200" cy="685800"/>
          </a:xfrm>
          <a:prstGeom prst="roundRect">
            <a:avLst>
              <a:gd name="adj" fmla="val 10667"/>
            </a:avLst>
          </a:prstGeom>
          <a:solidFill>
            <a:srgbClr val="EF4444">
              <a:alpha val="80000"/>
            </a:srgbClr>
          </a:solidFill>
          <a:ln w="12700">
            <a:solidFill>
              <a:srgbClr val="EF4444"/>
            </a:solidFill>
            <a:prstDash val="solid"/>
          </a:ln>
        </p:spPr>
      </p:sp>
      <p:sp>
        <p:nvSpPr>
          <p:cNvPr id="35" name="Text 33"/>
          <p:cNvSpPr/>
          <p:nvPr/>
        </p:nvSpPr>
        <p:spPr>
          <a:xfrm>
            <a:off x="5029200" y="3154680"/>
            <a:ext cx="2743200" cy="685800"/>
          </a:xfrm>
          <a:prstGeom prst="rect">
            <a:avLst/>
          </a:prstGeom>
          <a:noFill/>
          <a:ln/>
        </p:spPr>
        <p:txBody>
          <a:bodyPr wrap="square" lIns="0" tIns="0" rIns="0" bIns="0" rtlCol="0" anchor="ctr"/>
          <a:lstStyle/>
          <a:p>
            <a:pPr marL="0" indent="0" algn="ctr">
              <a:buNone/>
            </a:pPr>
            <a:r>
              <a:rPr lang="en-US" sz="1400" b="1" dirty="0">
                <a:solidFill>
                  <a:srgbClr val="FFFFFF"/>
                </a:solidFill>
              </a:rPr>
              <a:t>❌  TIDAK LAYAK</a:t>
            </a:r>
            <a:endParaRPr lang="en-US" sz="1400" dirty="0"/>
          </a:p>
        </p:txBody>
      </p:sp>
      <p:sp>
        <p:nvSpPr>
          <p:cNvPr id="36" name="Text 34"/>
          <p:cNvSpPr/>
          <p:nvPr/>
        </p:nvSpPr>
        <p:spPr>
          <a:xfrm>
            <a:off x="7040880" y="2880360"/>
            <a:ext cx="274320" cy="274320"/>
          </a:xfrm>
          <a:prstGeom prst="rect">
            <a:avLst/>
          </a:prstGeom>
          <a:noFill/>
          <a:ln/>
        </p:spPr>
        <p:txBody>
          <a:bodyPr wrap="square" rtlCol="0" anchor="ctr"/>
          <a:lstStyle/>
          <a:p>
            <a:pPr marL="0" indent="0">
              <a:buNone/>
            </a:pPr>
            <a:endParaRPr lang="en-US" sz="1300" dirty="0"/>
          </a:p>
        </p:txBody>
      </p:sp>
      <p:sp>
        <p:nvSpPr>
          <p:cNvPr id="37" name="Text 35"/>
          <p:cNvSpPr/>
          <p:nvPr/>
        </p:nvSpPr>
        <p:spPr>
          <a:xfrm>
            <a:off x="5943600" y="2880360"/>
            <a:ext cx="274320" cy="274320"/>
          </a:xfrm>
          <a:prstGeom prst="rect">
            <a:avLst/>
          </a:prstGeom>
          <a:noFill/>
          <a:ln/>
        </p:spPr>
        <p:txBody>
          <a:bodyPr wrap="square" rtlCol="0" anchor="ctr"/>
          <a:lstStyle/>
          <a:p>
            <a:pPr marL="0" indent="0">
              <a:buNone/>
            </a:pP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D9488"/>
          </a:solidFill>
          <a:ln w="12700">
            <a:solidFill>
              <a:srgbClr val="0D9488"/>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① YOLOv8m — OBJECT DETECTION (Tahap Penglihatan)</a:t>
            </a:r>
            <a:endParaRPr lang="en-US" sz="1800" dirty="0"/>
          </a:p>
        </p:txBody>
      </p:sp>
      <p:sp>
        <p:nvSpPr>
          <p:cNvPr id="4" name="Shape 2"/>
          <p:cNvSpPr/>
          <p:nvPr/>
        </p:nvSpPr>
        <p:spPr>
          <a:xfrm>
            <a:off x="2055495" y="1156716"/>
            <a:ext cx="4572000" cy="3794760"/>
          </a:xfrm>
          <a:prstGeom prst="roundRect">
            <a:avLst>
              <a:gd name="adj" fmla="val 2410"/>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5" name="Text 3"/>
          <p:cNvSpPr/>
          <p:nvPr/>
        </p:nvSpPr>
        <p:spPr>
          <a:xfrm>
            <a:off x="2238375" y="1293876"/>
            <a:ext cx="4206240" cy="365760"/>
          </a:xfrm>
          <a:prstGeom prst="rect">
            <a:avLst/>
          </a:prstGeom>
          <a:noFill/>
          <a:ln/>
        </p:spPr>
        <p:txBody>
          <a:bodyPr wrap="square" rtlCol="0" anchor="ctr"/>
          <a:lstStyle/>
          <a:p>
            <a:pPr marL="0" indent="0">
              <a:buNone/>
            </a:pPr>
            <a:r>
              <a:rPr lang="en-US" sz="1400" b="1" dirty="0">
                <a:solidFill>
                  <a:srgbClr val="0A1628"/>
                </a:solidFill>
              </a:rPr>
              <a:t>Cara Kerja YOLOv8m</a:t>
            </a:r>
            <a:endParaRPr lang="en-US" sz="1400" dirty="0"/>
          </a:p>
        </p:txBody>
      </p:sp>
      <p:sp>
        <p:nvSpPr>
          <p:cNvPr id="6" name="Text 4"/>
          <p:cNvSpPr/>
          <p:nvPr/>
        </p:nvSpPr>
        <p:spPr>
          <a:xfrm>
            <a:off x="2238375" y="1751076"/>
            <a:ext cx="4206240" cy="438912"/>
          </a:xfrm>
          <a:prstGeom prst="rect">
            <a:avLst/>
          </a:prstGeom>
          <a:noFill/>
          <a:ln/>
        </p:spPr>
        <p:txBody>
          <a:bodyPr wrap="square" rtlCol="0" anchor="ctr"/>
          <a:lstStyle/>
          <a:p>
            <a:pPr marL="0" indent="0">
              <a:buNone/>
            </a:pPr>
            <a:r>
              <a:rPr lang="en-US" sz="1200" dirty="0">
                <a:solidFill>
                  <a:srgbClr val="333333"/>
                </a:solidFill>
              </a:rPr>
              <a:t>1️⃣  Gambar diubah ukuran menjadi 640×640 piksel</a:t>
            </a:r>
            <a:endParaRPr lang="en-US" sz="1200" dirty="0"/>
          </a:p>
        </p:txBody>
      </p:sp>
      <p:sp>
        <p:nvSpPr>
          <p:cNvPr id="7" name="Text 5"/>
          <p:cNvSpPr/>
          <p:nvPr/>
        </p:nvSpPr>
        <p:spPr>
          <a:xfrm>
            <a:off x="2238375" y="2235708"/>
            <a:ext cx="4206240" cy="438912"/>
          </a:xfrm>
          <a:prstGeom prst="rect">
            <a:avLst/>
          </a:prstGeom>
          <a:noFill/>
          <a:ln/>
        </p:spPr>
        <p:txBody>
          <a:bodyPr wrap="square" rtlCol="0" anchor="ctr"/>
          <a:lstStyle/>
          <a:p>
            <a:pPr marL="0" indent="0">
              <a:buNone/>
            </a:pPr>
            <a:r>
              <a:rPr lang="en-US" sz="1200" dirty="0">
                <a:solidFill>
                  <a:srgbClr val="333333"/>
                </a:solidFill>
              </a:rPr>
              <a:t>2️⃣  Model membagi gambar menjadi grid sel</a:t>
            </a:r>
            <a:endParaRPr lang="en-US" sz="1200" dirty="0"/>
          </a:p>
        </p:txBody>
      </p:sp>
      <p:sp>
        <p:nvSpPr>
          <p:cNvPr id="8" name="Text 6"/>
          <p:cNvSpPr/>
          <p:nvPr/>
        </p:nvSpPr>
        <p:spPr>
          <a:xfrm>
            <a:off x="2238375" y="2720340"/>
            <a:ext cx="4206240" cy="438912"/>
          </a:xfrm>
          <a:prstGeom prst="rect">
            <a:avLst/>
          </a:prstGeom>
          <a:noFill/>
          <a:ln/>
        </p:spPr>
        <p:txBody>
          <a:bodyPr wrap="square" rtlCol="0" anchor="ctr"/>
          <a:lstStyle/>
          <a:p>
            <a:pPr marL="0" indent="0">
              <a:buNone/>
            </a:pPr>
            <a:r>
              <a:rPr lang="en-US" sz="1200" dirty="0">
                <a:solidFill>
                  <a:srgbClr val="333333"/>
                </a:solidFill>
              </a:rPr>
              <a:t>3️⃣  Setiap sel memprediksi: ada sampah tidak?</a:t>
            </a:r>
            <a:endParaRPr lang="en-US" sz="1200" dirty="0"/>
          </a:p>
        </p:txBody>
      </p:sp>
      <p:sp>
        <p:nvSpPr>
          <p:cNvPr id="9" name="Text 7"/>
          <p:cNvSpPr/>
          <p:nvPr/>
        </p:nvSpPr>
        <p:spPr>
          <a:xfrm>
            <a:off x="2238375" y="3204972"/>
            <a:ext cx="4206240" cy="438912"/>
          </a:xfrm>
          <a:prstGeom prst="rect">
            <a:avLst/>
          </a:prstGeom>
          <a:noFill/>
          <a:ln/>
        </p:spPr>
        <p:txBody>
          <a:bodyPr wrap="square" rtlCol="0" anchor="ctr"/>
          <a:lstStyle/>
          <a:p>
            <a:pPr marL="0" indent="0">
              <a:buNone/>
            </a:pPr>
            <a:r>
              <a:rPr lang="en-US" sz="1200" dirty="0">
                <a:solidFill>
                  <a:srgbClr val="333333"/>
                </a:solidFill>
              </a:rPr>
              <a:t>4️⃣  Jika ya → gambar kotak (bounding box) + conf</a:t>
            </a:r>
            <a:endParaRPr lang="en-US" sz="1200" dirty="0"/>
          </a:p>
        </p:txBody>
      </p:sp>
      <p:sp>
        <p:nvSpPr>
          <p:cNvPr id="10" name="Text 8"/>
          <p:cNvSpPr/>
          <p:nvPr/>
        </p:nvSpPr>
        <p:spPr>
          <a:xfrm>
            <a:off x="2238375" y="3689604"/>
            <a:ext cx="4206240" cy="438912"/>
          </a:xfrm>
          <a:prstGeom prst="rect">
            <a:avLst/>
          </a:prstGeom>
          <a:noFill/>
          <a:ln/>
        </p:spPr>
        <p:txBody>
          <a:bodyPr wrap="square" rtlCol="0" anchor="ctr"/>
          <a:lstStyle/>
          <a:p>
            <a:pPr marL="0" indent="0">
              <a:buNone/>
            </a:pPr>
            <a:r>
              <a:rPr lang="en-US" sz="1200" dirty="0">
                <a:solidFill>
                  <a:srgbClr val="333333"/>
                </a:solidFill>
              </a:rPr>
              <a:t>5️⃣  NMS membuang kotak yang tumpang tindih</a:t>
            </a:r>
            <a:endParaRPr lang="en-US" sz="1200" dirty="0"/>
          </a:p>
        </p:txBody>
      </p:sp>
      <p:sp>
        <p:nvSpPr>
          <p:cNvPr id="11" name="Text 9"/>
          <p:cNvSpPr/>
          <p:nvPr/>
        </p:nvSpPr>
        <p:spPr>
          <a:xfrm>
            <a:off x="2238375" y="4174236"/>
            <a:ext cx="4206240" cy="438912"/>
          </a:xfrm>
          <a:prstGeom prst="rect">
            <a:avLst/>
          </a:prstGeom>
          <a:noFill/>
          <a:ln/>
        </p:spPr>
        <p:txBody>
          <a:bodyPr wrap="square" rtlCol="0" anchor="ctr"/>
          <a:lstStyle/>
          <a:p>
            <a:pPr marL="0" indent="0">
              <a:buNone/>
            </a:pPr>
            <a:r>
              <a:rPr lang="en-US" sz="1200" dirty="0">
                <a:solidFill>
                  <a:srgbClr val="333333"/>
                </a:solidFill>
              </a:rPr>
              <a:t>6️⃣  Output: koordinat (x1,y1,x2,y2) + confidence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000" b="1" dirty="0">
                <a:solidFill>
                  <a:srgbClr val="FFFFFF"/>
                </a:solidFill>
              </a:rPr>
              <a:t>AUGMENTASI DATA — Cara YOLO Belajar Lebih Kuat</a:t>
            </a:r>
            <a:endParaRPr lang="en-US" sz="2000" dirty="0"/>
          </a:p>
        </p:txBody>
      </p:sp>
      <p:sp>
        <p:nvSpPr>
          <p:cNvPr id="3" name="Text 1"/>
          <p:cNvSpPr/>
          <p:nvPr/>
        </p:nvSpPr>
        <p:spPr>
          <a:xfrm>
            <a:off x="457200" y="685800"/>
            <a:ext cx="8229600" cy="347472"/>
          </a:xfrm>
          <a:prstGeom prst="rect">
            <a:avLst/>
          </a:prstGeom>
          <a:noFill/>
          <a:ln/>
        </p:spPr>
        <p:txBody>
          <a:bodyPr wrap="square" rtlCol="0" anchor="ctr"/>
          <a:lstStyle/>
          <a:p>
            <a:pPr marL="0" indent="0">
              <a:buNone/>
            </a:pPr>
            <a:r>
              <a:rPr lang="en-US" sz="1200" dirty="0">
                <a:solidFill>
                  <a:srgbClr val="94A3B8"/>
                </a:solidFill>
              </a:rPr>
              <a:t>Setiap gambar dimodifikasi secara acak agar model tidak 'hafal' data — tapi benar-benar 'memahami' sampah.</a:t>
            </a:r>
            <a:endParaRPr lang="en-US" sz="1200" dirty="0"/>
          </a:p>
        </p:txBody>
      </p:sp>
      <p:sp>
        <p:nvSpPr>
          <p:cNvPr id="4" name="Shape 2"/>
          <p:cNvSpPr/>
          <p:nvPr/>
        </p:nvSpPr>
        <p:spPr>
          <a:xfrm>
            <a:off x="228600" y="132588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5" name="Text 3"/>
          <p:cNvSpPr/>
          <p:nvPr/>
        </p:nvSpPr>
        <p:spPr>
          <a:xfrm>
            <a:off x="228600" y="141732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6" name="Text 4"/>
          <p:cNvSpPr/>
          <p:nvPr/>
        </p:nvSpPr>
        <p:spPr>
          <a:xfrm>
            <a:off x="228600" y="1874520"/>
            <a:ext cx="2011680" cy="292608"/>
          </a:xfrm>
          <a:prstGeom prst="rect">
            <a:avLst/>
          </a:prstGeom>
          <a:noFill/>
          <a:ln/>
        </p:spPr>
        <p:txBody>
          <a:bodyPr wrap="square" rtlCol="0" anchor="ctr"/>
          <a:lstStyle/>
          <a:p>
            <a:pPr marL="0" indent="0" algn="ctr">
              <a:buNone/>
            </a:pPr>
            <a:r>
              <a:rPr lang="en-US" sz="1300" b="1" dirty="0">
                <a:solidFill>
                  <a:srgbClr val="14B8A6"/>
                </a:solidFill>
              </a:rPr>
              <a:t>Mosaic</a:t>
            </a:r>
            <a:endParaRPr lang="en-US" sz="1300" dirty="0"/>
          </a:p>
        </p:txBody>
      </p:sp>
      <p:sp>
        <p:nvSpPr>
          <p:cNvPr id="7" name="Text 5"/>
          <p:cNvSpPr/>
          <p:nvPr/>
        </p:nvSpPr>
        <p:spPr>
          <a:xfrm>
            <a:off x="228600" y="2167128"/>
            <a:ext cx="2011680" cy="256032"/>
          </a:xfrm>
          <a:prstGeom prst="rect">
            <a:avLst/>
          </a:prstGeom>
          <a:noFill/>
          <a:ln/>
        </p:spPr>
        <p:txBody>
          <a:bodyPr wrap="square" rtlCol="0" anchor="ctr"/>
          <a:lstStyle/>
          <a:p>
            <a:pPr marL="0" indent="0" algn="ctr">
              <a:buNone/>
            </a:pPr>
            <a:r>
              <a:rPr lang="en-US" sz="1000" dirty="0">
                <a:solidFill>
                  <a:srgbClr val="FBBF24"/>
                </a:solidFill>
              </a:rPr>
              <a:t>Nilai: 0.8</a:t>
            </a:r>
            <a:endParaRPr lang="en-US" sz="1000" dirty="0"/>
          </a:p>
        </p:txBody>
      </p:sp>
      <p:sp>
        <p:nvSpPr>
          <p:cNvPr id="8" name="Text 6"/>
          <p:cNvSpPr/>
          <p:nvPr/>
        </p:nvSpPr>
        <p:spPr>
          <a:xfrm>
            <a:off x="320040" y="2423160"/>
            <a:ext cx="1828800" cy="347472"/>
          </a:xfrm>
          <a:prstGeom prst="rect">
            <a:avLst/>
          </a:prstGeom>
          <a:noFill/>
          <a:ln/>
        </p:spPr>
        <p:txBody>
          <a:bodyPr wrap="square" rtlCol="0" anchor="ctr"/>
          <a:lstStyle/>
          <a:p>
            <a:pPr marL="0" indent="0" algn="ctr">
              <a:buNone/>
            </a:pPr>
            <a:r>
              <a:rPr lang="en-US" sz="950" dirty="0">
                <a:solidFill>
                  <a:srgbClr val="CBD5E1"/>
                </a:solidFill>
              </a:rPr>
              <a:t>Gabungkan 4 gambar jadi 1 tile</a:t>
            </a:r>
            <a:endParaRPr lang="en-US" sz="950" dirty="0"/>
          </a:p>
        </p:txBody>
      </p:sp>
      <p:sp>
        <p:nvSpPr>
          <p:cNvPr id="9" name="Shape 7"/>
          <p:cNvSpPr/>
          <p:nvPr/>
        </p:nvSpPr>
        <p:spPr>
          <a:xfrm>
            <a:off x="2404872" y="132588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10" name="Text 8"/>
          <p:cNvSpPr/>
          <p:nvPr/>
        </p:nvSpPr>
        <p:spPr>
          <a:xfrm>
            <a:off x="2404872" y="141732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2404872" y="1874520"/>
            <a:ext cx="2011680" cy="292608"/>
          </a:xfrm>
          <a:prstGeom prst="rect">
            <a:avLst/>
          </a:prstGeom>
          <a:noFill/>
          <a:ln/>
        </p:spPr>
        <p:txBody>
          <a:bodyPr wrap="square" rtlCol="0" anchor="ctr"/>
          <a:lstStyle/>
          <a:p>
            <a:pPr marL="0" indent="0" algn="ctr">
              <a:buNone/>
            </a:pPr>
            <a:r>
              <a:rPr lang="en-US" sz="1300" b="1" dirty="0">
                <a:solidFill>
                  <a:srgbClr val="14B8A6"/>
                </a:solidFill>
              </a:rPr>
              <a:t>Mixup</a:t>
            </a:r>
            <a:endParaRPr lang="en-US" sz="1300" dirty="0"/>
          </a:p>
        </p:txBody>
      </p:sp>
      <p:sp>
        <p:nvSpPr>
          <p:cNvPr id="12" name="Text 10"/>
          <p:cNvSpPr/>
          <p:nvPr/>
        </p:nvSpPr>
        <p:spPr>
          <a:xfrm>
            <a:off x="2404872" y="2167128"/>
            <a:ext cx="2011680" cy="256032"/>
          </a:xfrm>
          <a:prstGeom prst="rect">
            <a:avLst/>
          </a:prstGeom>
          <a:noFill/>
          <a:ln/>
        </p:spPr>
        <p:txBody>
          <a:bodyPr wrap="square" rtlCol="0" anchor="ctr"/>
          <a:lstStyle/>
          <a:p>
            <a:pPr marL="0" indent="0" algn="ctr">
              <a:buNone/>
            </a:pPr>
            <a:r>
              <a:rPr lang="en-US" sz="1000" dirty="0">
                <a:solidFill>
                  <a:srgbClr val="FBBF24"/>
                </a:solidFill>
              </a:rPr>
              <a:t>Nilai: 0.1</a:t>
            </a:r>
            <a:endParaRPr lang="en-US" sz="1000" dirty="0"/>
          </a:p>
        </p:txBody>
      </p:sp>
      <p:sp>
        <p:nvSpPr>
          <p:cNvPr id="13" name="Text 11"/>
          <p:cNvSpPr/>
          <p:nvPr/>
        </p:nvSpPr>
        <p:spPr>
          <a:xfrm>
            <a:off x="2496312" y="2423160"/>
            <a:ext cx="1828800" cy="347472"/>
          </a:xfrm>
          <a:prstGeom prst="rect">
            <a:avLst/>
          </a:prstGeom>
          <a:noFill/>
          <a:ln/>
        </p:spPr>
        <p:txBody>
          <a:bodyPr wrap="square" rtlCol="0" anchor="ctr"/>
          <a:lstStyle/>
          <a:p>
            <a:pPr marL="0" indent="0" algn="ctr">
              <a:buNone/>
            </a:pPr>
            <a:r>
              <a:rPr lang="en-US" sz="950" dirty="0">
                <a:solidFill>
                  <a:srgbClr val="CBD5E1"/>
                </a:solidFill>
              </a:rPr>
              <a:t>Campur 2 gambar secara transparan</a:t>
            </a:r>
            <a:endParaRPr lang="en-US" sz="950" dirty="0"/>
          </a:p>
        </p:txBody>
      </p:sp>
      <p:sp>
        <p:nvSpPr>
          <p:cNvPr id="14" name="Shape 12"/>
          <p:cNvSpPr/>
          <p:nvPr/>
        </p:nvSpPr>
        <p:spPr>
          <a:xfrm>
            <a:off x="4581144" y="132588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15" name="Text 13"/>
          <p:cNvSpPr/>
          <p:nvPr/>
        </p:nvSpPr>
        <p:spPr>
          <a:xfrm>
            <a:off x="4581144" y="141732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4581144" y="1874520"/>
            <a:ext cx="2011680" cy="292608"/>
          </a:xfrm>
          <a:prstGeom prst="rect">
            <a:avLst/>
          </a:prstGeom>
          <a:noFill/>
          <a:ln/>
        </p:spPr>
        <p:txBody>
          <a:bodyPr wrap="square" rtlCol="0" anchor="ctr"/>
          <a:lstStyle/>
          <a:p>
            <a:pPr marL="0" indent="0" algn="ctr">
              <a:buNone/>
            </a:pPr>
            <a:r>
              <a:rPr lang="en-US" sz="1300" b="1" dirty="0">
                <a:solidFill>
                  <a:srgbClr val="14B8A6"/>
                </a:solidFill>
              </a:rPr>
              <a:t>Rotasi</a:t>
            </a:r>
            <a:endParaRPr lang="en-US" sz="1300" dirty="0"/>
          </a:p>
        </p:txBody>
      </p:sp>
      <p:sp>
        <p:nvSpPr>
          <p:cNvPr id="17" name="Text 15"/>
          <p:cNvSpPr/>
          <p:nvPr/>
        </p:nvSpPr>
        <p:spPr>
          <a:xfrm>
            <a:off x="4581144" y="2167128"/>
            <a:ext cx="2011680" cy="256032"/>
          </a:xfrm>
          <a:prstGeom prst="rect">
            <a:avLst/>
          </a:prstGeom>
          <a:noFill/>
          <a:ln/>
        </p:spPr>
        <p:txBody>
          <a:bodyPr wrap="square" rtlCol="0" anchor="ctr"/>
          <a:lstStyle/>
          <a:p>
            <a:pPr marL="0" indent="0" algn="ctr">
              <a:buNone/>
            </a:pPr>
            <a:r>
              <a:rPr lang="en-US" sz="1000" dirty="0">
                <a:solidFill>
                  <a:srgbClr val="FBBF24"/>
                </a:solidFill>
              </a:rPr>
              <a:t>Nilai: ±15°</a:t>
            </a:r>
            <a:endParaRPr lang="en-US" sz="1000" dirty="0"/>
          </a:p>
        </p:txBody>
      </p:sp>
      <p:sp>
        <p:nvSpPr>
          <p:cNvPr id="18" name="Text 16"/>
          <p:cNvSpPr/>
          <p:nvPr/>
        </p:nvSpPr>
        <p:spPr>
          <a:xfrm>
            <a:off x="4672584" y="2423160"/>
            <a:ext cx="1828800" cy="347472"/>
          </a:xfrm>
          <a:prstGeom prst="rect">
            <a:avLst/>
          </a:prstGeom>
          <a:noFill/>
          <a:ln/>
        </p:spPr>
        <p:txBody>
          <a:bodyPr wrap="square" rtlCol="0" anchor="ctr"/>
          <a:lstStyle/>
          <a:p>
            <a:pPr marL="0" indent="0" algn="ctr">
              <a:buNone/>
            </a:pPr>
            <a:r>
              <a:rPr lang="en-US" sz="950" dirty="0">
                <a:solidFill>
                  <a:srgbClr val="CBD5E1"/>
                </a:solidFill>
              </a:rPr>
              <a:t>Putar gambar hingga 15 derajat</a:t>
            </a:r>
            <a:endParaRPr lang="en-US" sz="950" dirty="0"/>
          </a:p>
        </p:txBody>
      </p:sp>
      <p:sp>
        <p:nvSpPr>
          <p:cNvPr id="19" name="Shape 17"/>
          <p:cNvSpPr/>
          <p:nvPr/>
        </p:nvSpPr>
        <p:spPr>
          <a:xfrm>
            <a:off x="6757416" y="132588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20" name="Text 18"/>
          <p:cNvSpPr/>
          <p:nvPr/>
        </p:nvSpPr>
        <p:spPr>
          <a:xfrm>
            <a:off x="6757416" y="141732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6757416" y="1874520"/>
            <a:ext cx="2011680" cy="292608"/>
          </a:xfrm>
          <a:prstGeom prst="rect">
            <a:avLst/>
          </a:prstGeom>
          <a:noFill/>
          <a:ln/>
        </p:spPr>
        <p:txBody>
          <a:bodyPr wrap="square" rtlCol="0" anchor="ctr"/>
          <a:lstStyle/>
          <a:p>
            <a:pPr marL="0" indent="0" algn="ctr">
              <a:buNone/>
            </a:pPr>
            <a:r>
              <a:rPr lang="en-US" sz="1300" b="1" dirty="0">
                <a:solidFill>
                  <a:srgbClr val="14B8A6"/>
                </a:solidFill>
              </a:rPr>
              <a:t>Translate</a:t>
            </a:r>
            <a:endParaRPr lang="en-US" sz="1300" dirty="0"/>
          </a:p>
        </p:txBody>
      </p:sp>
      <p:sp>
        <p:nvSpPr>
          <p:cNvPr id="22" name="Text 20"/>
          <p:cNvSpPr/>
          <p:nvPr/>
        </p:nvSpPr>
        <p:spPr>
          <a:xfrm>
            <a:off x="6757416" y="2167128"/>
            <a:ext cx="2011680" cy="256032"/>
          </a:xfrm>
          <a:prstGeom prst="rect">
            <a:avLst/>
          </a:prstGeom>
          <a:noFill/>
          <a:ln/>
        </p:spPr>
        <p:txBody>
          <a:bodyPr wrap="square" rtlCol="0" anchor="ctr"/>
          <a:lstStyle/>
          <a:p>
            <a:pPr marL="0" indent="0" algn="ctr">
              <a:buNone/>
            </a:pPr>
            <a:r>
              <a:rPr lang="en-US" sz="1000" dirty="0">
                <a:solidFill>
                  <a:srgbClr val="FBBF24"/>
                </a:solidFill>
              </a:rPr>
              <a:t>Nilai: 0.15</a:t>
            </a:r>
            <a:endParaRPr lang="en-US" sz="1000" dirty="0"/>
          </a:p>
        </p:txBody>
      </p:sp>
      <p:sp>
        <p:nvSpPr>
          <p:cNvPr id="23" name="Text 21"/>
          <p:cNvSpPr/>
          <p:nvPr/>
        </p:nvSpPr>
        <p:spPr>
          <a:xfrm>
            <a:off x="6848856" y="2423160"/>
            <a:ext cx="1828800" cy="347472"/>
          </a:xfrm>
          <a:prstGeom prst="rect">
            <a:avLst/>
          </a:prstGeom>
          <a:noFill/>
          <a:ln/>
        </p:spPr>
        <p:txBody>
          <a:bodyPr wrap="square" rtlCol="0" anchor="ctr"/>
          <a:lstStyle/>
          <a:p>
            <a:pPr marL="0" indent="0" algn="ctr">
              <a:buNone/>
            </a:pPr>
            <a:r>
              <a:rPr lang="en-US" sz="950" dirty="0">
                <a:solidFill>
                  <a:srgbClr val="CBD5E1"/>
                </a:solidFill>
              </a:rPr>
              <a:t>Geser objek horizontal/vertikal</a:t>
            </a:r>
            <a:endParaRPr lang="en-US" sz="950" dirty="0"/>
          </a:p>
        </p:txBody>
      </p:sp>
      <p:sp>
        <p:nvSpPr>
          <p:cNvPr id="24" name="Shape 22"/>
          <p:cNvSpPr/>
          <p:nvPr/>
        </p:nvSpPr>
        <p:spPr>
          <a:xfrm>
            <a:off x="228600" y="301752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25" name="Text 23"/>
          <p:cNvSpPr/>
          <p:nvPr/>
        </p:nvSpPr>
        <p:spPr>
          <a:xfrm>
            <a:off x="228600" y="310896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228600" y="3566160"/>
            <a:ext cx="2011680" cy="292608"/>
          </a:xfrm>
          <a:prstGeom prst="rect">
            <a:avLst/>
          </a:prstGeom>
          <a:noFill/>
          <a:ln/>
        </p:spPr>
        <p:txBody>
          <a:bodyPr wrap="square" rtlCol="0" anchor="ctr"/>
          <a:lstStyle/>
          <a:p>
            <a:pPr marL="0" indent="0" algn="ctr">
              <a:buNone/>
            </a:pPr>
            <a:r>
              <a:rPr lang="en-US" sz="1300" b="1" dirty="0">
                <a:solidFill>
                  <a:srgbClr val="14B8A6"/>
                </a:solidFill>
              </a:rPr>
              <a:t>Scale</a:t>
            </a:r>
            <a:endParaRPr lang="en-US" sz="1300" dirty="0"/>
          </a:p>
        </p:txBody>
      </p:sp>
      <p:sp>
        <p:nvSpPr>
          <p:cNvPr id="27" name="Text 25"/>
          <p:cNvSpPr/>
          <p:nvPr/>
        </p:nvSpPr>
        <p:spPr>
          <a:xfrm>
            <a:off x="228600" y="3858768"/>
            <a:ext cx="2011680" cy="256032"/>
          </a:xfrm>
          <a:prstGeom prst="rect">
            <a:avLst/>
          </a:prstGeom>
          <a:noFill/>
          <a:ln/>
        </p:spPr>
        <p:txBody>
          <a:bodyPr wrap="square" rtlCol="0" anchor="ctr"/>
          <a:lstStyle/>
          <a:p>
            <a:pPr marL="0" indent="0" algn="ctr">
              <a:buNone/>
            </a:pPr>
            <a:r>
              <a:rPr lang="en-US" sz="1000" dirty="0">
                <a:solidFill>
                  <a:srgbClr val="FBBF24"/>
                </a:solidFill>
              </a:rPr>
              <a:t>Nilai: 0.5</a:t>
            </a:r>
            <a:endParaRPr lang="en-US" sz="1000" dirty="0"/>
          </a:p>
        </p:txBody>
      </p:sp>
      <p:sp>
        <p:nvSpPr>
          <p:cNvPr id="28" name="Text 26"/>
          <p:cNvSpPr/>
          <p:nvPr/>
        </p:nvSpPr>
        <p:spPr>
          <a:xfrm>
            <a:off x="320040" y="4114800"/>
            <a:ext cx="1828800" cy="347472"/>
          </a:xfrm>
          <a:prstGeom prst="rect">
            <a:avLst/>
          </a:prstGeom>
          <a:noFill/>
          <a:ln/>
        </p:spPr>
        <p:txBody>
          <a:bodyPr wrap="square" rtlCol="0" anchor="ctr"/>
          <a:lstStyle/>
          <a:p>
            <a:pPr marL="0" indent="0" algn="ctr">
              <a:buNone/>
            </a:pPr>
            <a:r>
              <a:rPr lang="en-US" sz="950" dirty="0">
                <a:solidFill>
                  <a:srgbClr val="CBD5E1"/>
                </a:solidFill>
              </a:rPr>
              <a:t>Zoom in/out pada gambar</a:t>
            </a:r>
            <a:endParaRPr lang="en-US" sz="950" dirty="0"/>
          </a:p>
        </p:txBody>
      </p:sp>
      <p:sp>
        <p:nvSpPr>
          <p:cNvPr id="29" name="Shape 27"/>
          <p:cNvSpPr/>
          <p:nvPr/>
        </p:nvSpPr>
        <p:spPr>
          <a:xfrm>
            <a:off x="2404872" y="301752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30" name="Text 28"/>
          <p:cNvSpPr/>
          <p:nvPr/>
        </p:nvSpPr>
        <p:spPr>
          <a:xfrm>
            <a:off x="2404872" y="310896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2404872" y="3566160"/>
            <a:ext cx="2011680" cy="292608"/>
          </a:xfrm>
          <a:prstGeom prst="rect">
            <a:avLst/>
          </a:prstGeom>
          <a:noFill/>
          <a:ln/>
        </p:spPr>
        <p:txBody>
          <a:bodyPr wrap="square" rtlCol="0" anchor="ctr"/>
          <a:lstStyle/>
          <a:p>
            <a:pPr marL="0" indent="0" algn="ctr">
              <a:buNone/>
            </a:pPr>
            <a:r>
              <a:rPr lang="en-US" sz="1300" b="1" dirty="0">
                <a:solidFill>
                  <a:srgbClr val="14B8A6"/>
                </a:solidFill>
              </a:rPr>
              <a:t>Flip LR</a:t>
            </a:r>
            <a:endParaRPr lang="en-US" sz="1300" dirty="0"/>
          </a:p>
        </p:txBody>
      </p:sp>
      <p:sp>
        <p:nvSpPr>
          <p:cNvPr id="32" name="Text 30"/>
          <p:cNvSpPr/>
          <p:nvPr/>
        </p:nvSpPr>
        <p:spPr>
          <a:xfrm>
            <a:off x="2404872" y="3858768"/>
            <a:ext cx="2011680" cy="256032"/>
          </a:xfrm>
          <a:prstGeom prst="rect">
            <a:avLst/>
          </a:prstGeom>
          <a:noFill/>
          <a:ln/>
        </p:spPr>
        <p:txBody>
          <a:bodyPr wrap="square" rtlCol="0" anchor="ctr"/>
          <a:lstStyle/>
          <a:p>
            <a:pPr marL="0" indent="0" algn="ctr">
              <a:buNone/>
            </a:pPr>
            <a:r>
              <a:rPr lang="en-US" sz="1000" dirty="0">
                <a:solidFill>
                  <a:srgbClr val="FBBF24"/>
                </a:solidFill>
              </a:rPr>
              <a:t>Nilai: 50%</a:t>
            </a:r>
            <a:endParaRPr lang="en-US" sz="1000" dirty="0"/>
          </a:p>
        </p:txBody>
      </p:sp>
      <p:sp>
        <p:nvSpPr>
          <p:cNvPr id="33" name="Text 31"/>
          <p:cNvSpPr/>
          <p:nvPr/>
        </p:nvSpPr>
        <p:spPr>
          <a:xfrm>
            <a:off x="2496312" y="4114800"/>
            <a:ext cx="1828800" cy="347472"/>
          </a:xfrm>
          <a:prstGeom prst="rect">
            <a:avLst/>
          </a:prstGeom>
          <a:noFill/>
          <a:ln/>
        </p:spPr>
        <p:txBody>
          <a:bodyPr wrap="square" rtlCol="0" anchor="ctr"/>
          <a:lstStyle/>
          <a:p>
            <a:pPr marL="0" indent="0" algn="ctr">
              <a:buNone/>
            </a:pPr>
            <a:r>
              <a:rPr lang="en-US" sz="950" dirty="0">
                <a:solidFill>
                  <a:srgbClr val="CBD5E1"/>
                </a:solidFill>
              </a:rPr>
              <a:t>Cerminkan gambar kiri-kanan</a:t>
            </a:r>
            <a:endParaRPr lang="en-US" sz="950" dirty="0"/>
          </a:p>
        </p:txBody>
      </p:sp>
      <p:sp>
        <p:nvSpPr>
          <p:cNvPr id="34" name="Shape 32"/>
          <p:cNvSpPr/>
          <p:nvPr/>
        </p:nvSpPr>
        <p:spPr>
          <a:xfrm>
            <a:off x="4581144" y="301752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35" name="Text 33"/>
          <p:cNvSpPr/>
          <p:nvPr/>
        </p:nvSpPr>
        <p:spPr>
          <a:xfrm>
            <a:off x="4581144" y="310896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4581144" y="3566160"/>
            <a:ext cx="2011680" cy="292608"/>
          </a:xfrm>
          <a:prstGeom prst="rect">
            <a:avLst/>
          </a:prstGeom>
          <a:noFill/>
          <a:ln/>
        </p:spPr>
        <p:txBody>
          <a:bodyPr wrap="square" rtlCol="0" anchor="ctr"/>
          <a:lstStyle/>
          <a:p>
            <a:pPr marL="0" indent="0" algn="ctr">
              <a:buNone/>
            </a:pPr>
            <a:r>
              <a:rPr lang="en-US" sz="1300" b="1" dirty="0">
                <a:solidFill>
                  <a:srgbClr val="14B8A6"/>
                </a:solidFill>
              </a:rPr>
              <a:t>HSV Hue</a:t>
            </a:r>
            <a:endParaRPr lang="en-US" sz="1300" dirty="0"/>
          </a:p>
        </p:txBody>
      </p:sp>
      <p:sp>
        <p:nvSpPr>
          <p:cNvPr id="37" name="Text 35"/>
          <p:cNvSpPr/>
          <p:nvPr/>
        </p:nvSpPr>
        <p:spPr>
          <a:xfrm>
            <a:off x="4581144" y="3858768"/>
            <a:ext cx="2011680" cy="256032"/>
          </a:xfrm>
          <a:prstGeom prst="rect">
            <a:avLst/>
          </a:prstGeom>
          <a:noFill/>
          <a:ln/>
        </p:spPr>
        <p:txBody>
          <a:bodyPr wrap="square" rtlCol="0" anchor="ctr"/>
          <a:lstStyle/>
          <a:p>
            <a:pPr marL="0" indent="0" algn="ctr">
              <a:buNone/>
            </a:pPr>
            <a:r>
              <a:rPr lang="en-US" sz="1000" dirty="0">
                <a:solidFill>
                  <a:srgbClr val="FBBF24"/>
                </a:solidFill>
              </a:rPr>
              <a:t>Nilai: 0.01</a:t>
            </a:r>
            <a:endParaRPr lang="en-US" sz="1000" dirty="0"/>
          </a:p>
        </p:txBody>
      </p:sp>
      <p:sp>
        <p:nvSpPr>
          <p:cNvPr id="38" name="Text 36"/>
          <p:cNvSpPr/>
          <p:nvPr/>
        </p:nvSpPr>
        <p:spPr>
          <a:xfrm>
            <a:off x="4672584" y="4114800"/>
            <a:ext cx="1828800" cy="347472"/>
          </a:xfrm>
          <a:prstGeom prst="rect">
            <a:avLst/>
          </a:prstGeom>
          <a:noFill/>
          <a:ln/>
        </p:spPr>
        <p:txBody>
          <a:bodyPr wrap="square" rtlCol="0" anchor="ctr"/>
          <a:lstStyle/>
          <a:p>
            <a:pPr marL="0" indent="0" algn="ctr">
              <a:buNone/>
            </a:pPr>
            <a:r>
              <a:rPr lang="en-US" sz="950" dirty="0">
                <a:solidFill>
                  <a:srgbClr val="CBD5E1"/>
                </a:solidFill>
              </a:rPr>
              <a:t>Ubah warna gambar sedikit</a:t>
            </a:r>
            <a:endParaRPr lang="en-US" sz="950" dirty="0"/>
          </a:p>
        </p:txBody>
      </p:sp>
      <p:sp>
        <p:nvSpPr>
          <p:cNvPr id="39" name="Shape 37"/>
          <p:cNvSpPr/>
          <p:nvPr/>
        </p:nvSpPr>
        <p:spPr>
          <a:xfrm>
            <a:off x="6757416" y="3017520"/>
            <a:ext cx="2011680" cy="1508760"/>
          </a:xfrm>
          <a:prstGeom prst="roundRect">
            <a:avLst>
              <a:gd name="adj" fmla="val 6061"/>
            </a:avLst>
          </a:prstGeom>
          <a:solidFill>
            <a:srgbClr val="1A3A6B"/>
          </a:solidFill>
          <a:ln w="12700">
            <a:solidFill>
              <a:srgbClr val="0D9488"/>
            </a:solidFill>
            <a:prstDash val="solid"/>
          </a:ln>
          <a:effectLst>
            <a:outerShdw blurRad="101600" dist="38100" dir="2700000" algn="bl" rotWithShape="0">
              <a:srgbClr val="000000">
                <a:alpha val="18000"/>
              </a:srgbClr>
            </a:outerShdw>
          </a:effectLst>
        </p:spPr>
      </p:sp>
      <p:sp>
        <p:nvSpPr>
          <p:cNvPr id="40" name="Text 38"/>
          <p:cNvSpPr/>
          <p:nvPr/>
        </p:nvSpPr>
        <p:spPr>
          <a:xfrm>
            <a:off x="6757416" y="3108960"/>
            <a:ext cx="2011680" cy="457200"/>
          </a:xfrm>
          <a:prstGeom prst="rect">
            <a:avLst/>
          </a:prstGeom>
          <a:noFill/>
          <a:ln/>
        </p:spPr>
        <p:txBody>
          <a:bodyPr wrap="square" rtlCol="0" anchor="ctr"/>
          <a:lstStyle/>
          <a:p>
            <a:pPr marL="0" indent="0" algn="ctr">
              <a:buNone/>
            </a:pPr>
            <a:r>
              <a:rPr lang="en-US" sz="2200" dirty="0">
                <a:solidFill>
                  <a:srgbClr val="000000"/>
                </a:solidFill>
              </a:rPr>
              <a:t>🌈</a:t>
            </a:r>
            <a:endParaRPr lang="en-US" sz="2200" dirty="0"/>
          </a:p>
        </p:txBody>
      </p:sp>
      <p:sp>
        <p:nvSpPr>
          <p:cNvPr id="41" name="Text 39"/>
          <p:cNvSpPr/>
          <p:nvPr/>
        </p:nvSpPr>
        <p:spPr>
          <a:xfrm>
            <a:off x="6757416" y="3566160"/>
            <a:ext cx="2011680" cy="292608"/>
          </a:xfrm>
          <a:prstGeom prst="rect">
            <a:avLst/>
          </a:prstGeom>
          <a:noFill/>
          <a:ln/>
        </p:spPr>
        <p:txBody>
          <a:bodyPr wrap="square" rtlCol="0" anchor="ctr"/>
          <a:lstStyle/>
          <a:p>
            <a:pPr marL="0" indent="0" algn="ctr">
              <a:buNone/>
            </a:pPr>
            <a:r>
              <a:rPr lang="en-US" sz="1300" b="1" dirty="0">
                <a:solidFill>
                  <a:srgbClr val="14B8A6"/>
                </a:solidFill>
              </a:rPr>
              <a:t>Saturation</a:t>
            </a:r>
            <a:endParaRPr lang="en-US" sz="1300" dirty="0"/>
          </a:p>
        </p:txBody>
      </p:sp>
      <p:sp>
        <p:nvSpPr>
          <p:cNvPr id="42" name="Text 40"/>
          <p:cNvSpPr/>
          <p:nvPr/>
        </p:nvSpPr>
        <p:spPr>
          <a:xfrm>
            <a:off x="6757416" y="3858768"/>
            <a:ext cx="2011680" cy="256032"/>
          </a:xfrm>
          <a:prstGeom prst="rect">
            <a:avLst/>
          </a:prstGeom>
          <a:noFill/>
          <a:ln/>
        </p:spPr>
        <p:txBody>
          <a:bodyPr wrap="square" rtlCol="0" anchor="ctr"/>
          <a:lstStyle/>
          <a:p>
            <a:pPr marL="0" indent="0" algn="ctr">
              <a:buNone/>
            </a:pPr>
            <a:r>
              <a:rPr lang="en-US" sz="1000" dirty="0">
                <a:solidFill>
                  <a:srgbClr val="FBBF24"/>
                </a:solidFill>
              </a:rPr>
              <a:t>Nilai: 0.5</a:t>
            </a:r>
            <a:endParaRPr lang="en-US" sz="1000" dirty="0"/>
          </a:p>
        </p:txBody>
      </p:sp>
      <p:sp>
        <p:nvSpPr>
          <p:cNvPr id="43" name="Text 41"/>
          <p:cNvSpPr/>
          <p:nvPr/>
        </p:nvSpPr>
        <p:spPr>
          <a:xfrm>
            <a:off x="6848856" y="4114800"/>
            <a:ext cx="1828800" cy="347472"/>
          </a:xfrm>
          <a:prstGeom prst="rect">
            <a:avLst/>
          </a:prstGeom>
          <a:noFill/>
          <a:ln/>
        </p:spPr>
        <p:txBody>
          <a:bodyPr wrap="square" rtlCol="0" anchor="ctr"/>
          <a:lstStyle/>
          <a:p>
            <a:pPr marL="0" indent="0" algn="ctr">
              <a:buNone/>
            </a:pPr>
            <a:r>
              <a:rPr lang="en-US" sz="950" dirty="0">
                <a:solidFill>
                  <a:srgbClr val="CBD5E1"/>
                </a:solidFill>
              </a:rPr>
              <a:t>Ubah tingkat saturasi warna</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700" b="1" dirty="0">
                <a:solidFill>
                  <a:srgbClr val="FFFFFF"/>
                </a:solidFill>
              </a:rPr>
              <a:t>PREPROCESSING DATASET Langkah Pembersihan</a:t>
            </a:r>
            <a:endParaRPr lang="en-US" sz="1700" dirty="0"/>
          </a:p>
        </p:txBody>
      </p:sp>
      <p:sp>
        <p:nvSpPr>
          <p:cNvPr id="4" name="Shape 2"/>
          <p:cNvSpPr/>
          <p:nvPr/>
        </p:nvSpPr>
        <p:spPr>
          <a:xfrm>
            <a:off x="146304" y="1288796"/>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5" name="Shape 3"/>
          <p:cNvSpPr/>
          <p:nvPr/>
        </p:nvSpPr>
        <p:spPr>
          <a:xfrm>
            <a:off x="996696" y="2331720"/>
            <a:ext cx="502920" cy="347472"/>
          </a:xfrm>
          <a:prstGeom prst="ellipse">
            <a:avLst/>
          </a:prstGeom>
          <a:solidFill>
            <a:srgbClr val="1A3A6B"/>
          </a:solidFill>
          <a:ln w="12700">
            <a:solidFill>
              <a:srgbClr val="1A3A6B"/>
            </a:solidFill>
            <a:prstDash val="solid"/>
          </a:ln>
        </p:spPr>
        <p:txBody>
          <a:bodyPr/>
          <a:lstStyle/>
          <a:p>
            <a:endParaRPr lang="en-US" dirty="0"/>
          </a:p>
        </p:txBody>
      </p:sp>
      <p:sp>
        <p:nvSpPr>
          <p:cNvPr id="7" name="Text 5"/>
          <p:cNvSpPr/>
          <p:nvPr/>
        </p:nvSpPr>
        <p:spPr>
          <a:xfrm>
            <a:off x="320040" y="1252728"/>
            <a:ext cx="1828800" cy="347472"/>
          </a:xfrm>
          <a:prstGeom prst="rect">
            <a:avLst/>
          </a:prstGeom>
          <a:noFill/>
          <a:ln/>
        </p:spPr>
        <p:txBody>
          <a:bodyPr wrap="square" rtlCol="0" anchor="ctr"/>
          <a:lstStyle/>
          <a:p>
            <a:pPr marL="0" indent="0" algn="ctr">
              <a:buNone/>
            </a:pPr>
            <a:r>
              <a:rPr lang="en-US" sz="1200" b="1" dirty="0">
                <a:solidFill>
                  <a:srgbClr val="0A1628"/>
                </a:solidFill>
              </a:rPr>
              <a:t>Tulis data.yaml</a:t>
            </a:r>
            <a:endParaRPr lang="en-US" sz="1200" dirty="0"/>
          </a:p>
        </p:txBody>
      </p:sp>
      <p:sp>
        <p:nvSpPr>
          <p:cNvPr id="8" name="Text 6"/>
          <p:cNvSpPr/>
          <p:nvPr/>
        </p:nvSpPr>
        <p:spPr>
          <a:xfrm>
            <a:off x="320040" y="1618488"/>
            <a:ext cx="1828800" cy="713232"/>
          </a:xfrm>
          <a:prstGeom prst="rect">
            <a:avLst/>
          </a:prstGeom>
          <a:noFill/>
          <a:ln/>
        </p:spPr>
        <p:txBody>
          <a:bodyPr wrap="square" rtlCol="0" anchor="ctr"/>
          <a:lstStyle/>
          <a:p>
            <a:pPr marL="0" indent="0" algn="ctr">
              <a:buNone/>
            </a:pPr>
            <a:r>
              <a:rPr lang="en-US" sz="1050" dirty="0">
                <a:solidFill>
                  <a:srgbClr val="444444"/>
                </a:solidFill>
              </a:rPr>
              <a:t>File konfigurasi dataset: path, kelas, split train/val/test</a:t>
            </a:r>
            <a:endParaRPr lang="en-US" sz="1050" dirty="0"/>
          </a:p>
        </p:txBody>
      </p:sp>
      <p:sp>
        <p:nvSpPr>
          <p:cNvPr id="9" name="Shape 7"/>
          <p:cNvSpPr/>
          <p:nvPr/>
        </p:nvSpPr>
        <p:spPr>
          <a:xfrm>
            <a:off x="2382520" y="1293876"/>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0" name="Shape 8"/>
          <p:cNvSpPr/>
          <p:nvPr/>
        </p:nvSpPr>
        <p:spPr>
          <a:xfrm>
            <a:off x="3209544" y="2400300"/>
            <a:ext cx="502920" cy="347472"/>
          </a:xfrm>
          <a:prstGeom prst="ellipse">
            <a:avLst/>
          </a:prstGeom>
          <a:solidFill>
            <a:srgbClr val="1A3A6B"/>
          </a:solidFill>
          <a:ln w="12700">
            <a:solidFill>
              <a:srgbClr val="1A3A6B"/>
            </a:solidFill>
            <a:prstDash val="solid"/>
          </a:ln>
        </p:spPr>
        <p:txBody>
          <a:bodyPr/>
          <a:lstStyle/>
          <a:p>
            <a:r>
              <a:rPr lang="en-US" sz="1100" b="1" dirty="0">
                <a:solidFill>
                  <a:srgbClr val="FFFFFF"/>
                </a:solidFill>
              </a:rPr>
              <a:t>02</a:t>
            </a:r>
            <a:endParaRPr lang="en-US" sz="1100" dirty="0"/>
          </a:p>
          <a:p>
            <a:endParaRPr lang="en-US" sz="1100" dirty="0"/>
          </a:p>
          <a:p>
            <a:endParaRPr lang="en-US" dirty="0"/>
          </a:p>
        </p:txBody>
      </p:sp>
      <p:sp>
        <p:nvSpPr>
          <p:cNvPr id="11" name="Text 9"/>
          <p:cNvSpPr/>
          <p:nvPr/>
        </p:nvSpPr>
        <p:spPr>
          <a:xfrm>
            <a:off x="3154680" y="868680"/>
            <a:ext cx="502920" cy="347472"/>
          </a:xfrm>
          <a:prstGeom prst="rect">
            <a:avLst/>
          </a:prstGeom>
          <a:noFill/>
          <a:ln/>
        </p:spPr>
        <p:txBody>
          <a:bodyPr wrap="square" lIns="0" tIns="0" rIns="0" bIns="0" rtlCol="0" anchor="ctr"/>
          <a:lstStyle/>
          <a:p>
            <a:pPr marL="0" indent="0" algn="ctr">
              <a:buNone/>
            </a:pPr>
            <a:endParaRPr lang="en-US" sz="1100" dirty="0"/>
          </a:p>
        </p:txBody>
      </p:sp>
      <p:sp>
        <p:nvSpPr>
          <p:cNvPr id="12" name="Text 10"/>
          <p:cNvSpPr/>
          <p:nvPr/>
        </p:nvSpPr>
        <p:spPr>
          <a:xfrm>
            <a:off x="2496312" y="1252728"/>
            <a:ext cx="1828800" cy="347472"/>
          </a:xfrm>
          <a:prstGeom prst="rect">
            <a:avLst/>
          </a:prstGeom>
          <a:noFill/>
          <a:ln/>
        </p:spPr>
        <p:txBody>
          <a:bodyPr wrap="square" rtlCol="0" anchor="ctr"/>
          <a:lstStyle/>
          <a:p>
            <a:pPr marL="0" indent="0" algn="ctr">
              <a:buNone/>
            </a:pPr>
            <a:r>
              <a:rPr lang="en-US" sz="1200" b="1" dirty="0">
                <a:solidFill>
                  <a:srgbClr val="0A1628"/>
                </a:solidFill>
              </a:rPr>
              <a:t>Hapus Orphan Files</a:t>
            </a:r>
            <a:endParaRPr lang="en-US" sz="1200" dirty="0"/>
          </a:p>
        </p:txBody>
      </p:sp>
      <p:sp>
        <p:nvSpPr>
          <p:cNvPr id="13" name="Text 11"/>
          <p:cNvSpPr/>
          <p:nvPr/>
        </p:nvSpPr>
        <p:spPr>
          <a:xfrm>
            <a:off x="2496312" y="1618488"/>
            <a:ext cx="1828800" cy="713232"/>
          </a:xfrm>
          <a:prstGeom prst="rect">
            <a:avLst/>
          </a:prstGeom>
          <a:noFill/>
          <a:ln/>
        </p:spPr>
        <p:txBody>
          <a:bodyPr wrap="square" rtlCol="0" anchor="ctr"/>
          <a:lstStyle/>
          <a:p>
            <a:pPr marL="0" indent="0" algn="ctr">
              <a:buNone/>
            </a:pPr>
            <a:r>
              <a:rPr lang="en-US" sz="1050" dirty="0">
                <a:solidFill>
                  <a:srgbClr val="444444"/>
                </a:solidFill>
              </a:rPr>
              <a:t>Label tanpa gambar &amp; gambar tanpa label dihapus otomatis</a:t>
            </a:r>
            <a:endParaRPr lang="en-US" sz="1050" dirty="0"/>
          </a:p>
        </p:txBody>
      </p:sp>
      <p:sp>
        <p:nvSpPr>
          <p:cNvPr id="14" name="Shape 12"/>
          <p:cNvSpPr/>
          <p:nvPr/>
        </p:nvSpPr>
        <p:spPr>
          <a:xfrm>
            <a:off x="4654296" y="1321816"/>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6" name="Text 14"/>
          <p:cNvSpPr/>
          <p:nvPr/>
        </p:nvSpPr>
        <p:spPr>
          <a:xfrm>
            <a:off x="5330952" y="86868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03</a:t>
            </a:r>
            <a:endParaRPr lang="en-US" sz="1100" dirty="0"/>
          </a:p>
        </p:txBody>
      </p:sp>
      <p:sp>
        <p:nvSpPr>
          <p:cNvPr id="17" name="Text 15"/>
          <p:cNvSpPr/>
          <p:nvPr/>
        </p:nvSpPr>
        <p:spPr>
          <a:xfrm>
            <a:off x="4672584" y="1252728"/>
            <a:ext cx="1828800" cy="347472"/>
          </a:xfrm>
          <a:prstGeom prst="rect">
            <a:avLst/>
          </a:prstGeom>
          <a:noFill/>
          <a:ln/>
        </p:spPr>
        <p:txBody>
          <a:bodyPr wrap="square" rtlCol="0" anchor="ctr"/>
          <a:lstStyle/>
          <a:p>
            <a:pPr marL="0" indent="0" algn="ctr">
              <a:buNone/>
            </a:pPr>
            <a:r>
              <a:rPr lang="en-US" sz="1200" b="1" dirty="0">
                <a:solidFill>
                  <a:srgbClr val="0A1628"/>
                </a:solidFill>
              </a:rPr>
              <a:t>Deteksi Duplikat</a:t>
            </a:r>
            <a:endParaRPr lang="en-US" sz="1200" dirty="0"/>
          </a:p>
        </p:txBody>
      </p:sp>
      <p:sp>
        <p:nvSpPr>
          <p:cNvPr id="18" name="Text 16"/>
          <p:cNvSpPr/>
          <p:nvPr/>
        </p:nvSpPr>
        <p:spPr>
          <a:xfrm>
            <a:off x="4672584" y="1618488"/>
            <a:ext cx="1828800" cy="713232"/>
          </a:xfrm>
          <a:prstGeom prst="rect">
            <a:avLst/>
          </a:prstGeom>
          <a:noFill/>
          <a:ln/>
        </p:spPr>
        <p:txBody>
          <a:bodyPr wrap="square" rtlCol="0" anchor="ctr"/>
          <a:lstStyle/>
          <a:p>
            <a:pPr marL="0" indent="0" algn="ctr">
              <a:buNone/>
            </a:pPr>
            <a:r>
              <a:rPr lang="en-US" sz="1050" dirty="0">
                <a:solidFill>
                  <a:srgbClr val="444444"/>
                </a:solidFill>
              </a:rPr>
              <a:t>MD5 hash setiap gambar — duplikat dihapus agar tidak overfitting</a:t>
            </a:r>
            <a:endParaRPr lang="en-US" sz="1050" dirty="0"/>
          </a:p>
        </p:txBody>
      </p:sp>
      <p:sp>
        <p:nvSpPr>
          <p:cNvPr id="19" name="Shape 17"/>
          <p:cNvSpPr/>
          <p:nvPr/>
        </p:nvSpPr>
        <p:spPr>
          <a:xfrm>
            <a:off x="6812280" y="1321816"/>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21" name="Text 19"/>
          <p:cNvSpPr/>
          <p:nvPr/>
        </p:nvSpPr>
        <p:spPr>
          <a:xfrm>
            <a:off x="7507224" y="86868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22" name="Text 20"/>
          <p:cNvSpPr/>
          <p:nvPr/>
        </p:nvSpPr>
        <p:spPr>
          <a:xfrm>
            <a:off x="6848856" y="1252728"/>
            <a:ext cx="1828800" cy="347472"/>
          </a:xfrm>
          <a:prstGeom prst="rect">
            <a:avLst/>
          </a:prstGeom>
          <a:noFill/>
          <a:ln/>
        </p:spPr>
        <p:txBody>
          <a:bodyPr wrap="square" rtlCol="0" anchor="ctr"/>
          <a:lstStyle/>
          <a:p>
            <a:pPr marL="0" indent="0" algn="ctr">
              <a:buNone/>
            </a:pPr>
            <a:r>
              <a:rPr lang="en-US" sz="1200" b="1" dirty="0">
                <a:solidFill>
                  <a:srgbClr val="0A1628"/>
                </a:solidFill>
              </a:rPr>
              <a:t>Validasi Label YOLO</a:t>
            </a:r>
            <a:endParaRPr lang="en-US" sz="1200" dirty="0"/>
          </a:p>
        </p:txBody>
      </p:sp>
      <p:sp>
        <p:nvSpPr>
          <p:cNvPr id="23" name="Text 21"/>
          <p:cNvSpPr/>
          <p:nvPr/>
        </p:nvSpPr>
        <p:spPr>
          <a:xfrm>
            <a:off x="6848856" y="1618488"/>
            <a:ext cx="1828800" cy="713232"/>
          </a:xfrm>
          <a:prstGeom prst="rect">
            <a:avLst/>
          </a:prstGeom>
          <a:noFill/>
          <a:ln/>
        </p:spPr>
        <p:txBody>
          <a:bodyPr wrap="square" rtlCol="0" anchor="ctr"/>
          <a:lstStyle/>
          <a:p>
            <a:pPr marL="0" indent="0" algn="ctr">
              <a:buNone/>
            </a:pPr>
            <a:r>
              <a:rPr lang="en-US" sz="1050" dirty="0">
                <a:solidFill>
                  <a:srgbClr val="444444"/>
                </a:solidFill>
              </a:rPr>
              <a:t>Koordinat bounding box diclamping ke 0.0–1.0, class id dicek</a:t>
            </a:r>
            <a:endParaRPr lang="en-US" sz="1050" dirty="0"/>
          </a:p>
        </p:txBody>
      </p:sp>
      <p:sp>
        <p:nvSpPr>
          <p:cNvPr id="26" name="Text 24"/>
          <p:cNvSpPr/>
          <p:nvPr/>
        </p:nvSpPr>
        <p:spPr>
          <a:xfrm>
            <a:off x="978408" y="233172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01</a:t>
            </a:r>
            <a:endParaRPr lang="en-US" sz="1100" dirty="0"/>
          </a:p>
        </p:txBody>
      </p:sp>
      <p:sp>
        <p:nvSpPr>
          <p:cNvPr id="27" name="Text 25"/>
          <p:cNvSpPr/>
          <p:nvPr/>
        </p:nvSpPr>
        <p:spPr>
          <a:xfrm>
            <a:off x="320040" y="2715768"/>
            <a:ext cx="1828800" cy="347472"/>
          </a:xfrm>
          <a:prstGeom prst="rect">
            <a:avLst/>
          </a:prstGeom>
          <a:noFill/>
          <a:ln/>
        </p:spPr>
        <p:txBody>
          <a:bodyPr wrap="square" rtlCol="0" anchor="ctr"/>
          <a:lstStyle/>
          <a:p>
            <a:pPr marL="0" indent="0" algn="ctr">
              <a:buNone/>
            </a:pPr>
            <a:endParaRPr lang="en-US" sz="1200" dirty="0"/>
          </a:p>
        </p:txBody>
      </p:sp>
      <p:sp>
        <p:nvSpPr>
          <p:cNvPr id="28" name="Text 26"/>
          <p:cNvSpPr/>
          <p:nvPr/>
        </p:nvSpPr>
        <p:spPr>
          <a:xfrm>
            <a:off x="320040" y="3081528"/>
            <a:ext cx="1828800" cy="713232"/>
          </a:xfrm>
          <a:prstGeom prst="rect">
            <a:avLst/>
          </a:prstGeom>
          <a:noFill/>
          <a:ln/>
        </p:spPr>
        <p:txBody>
          <a:bodyPr wrap="square" rtlCol="0" anchor="ctr"/>
          <a:lstStyle/>
          <a:p>
            <a:pPr marL="0" indent="0" algn="ctr">
              <a:buNone/>
            </a:pPr>
            <a:endParaRPr lang="en-US" sz="1050" dirty="0"/>
          </a:p>
        </p:txBody>
      </p:sp>
      <p:sp>
        <p:nvSpPr>
          <p:cNvPr id="31" name="Text 29"/>
          <p:cNvSpPr/>
          <p:nvPr/>
        </p:nvSpPr>
        <p:spPr>
          <a:xfrm>
            <a:off x="3154680" y="2331720"/>
            <a:ext cx="502920" cy="347472"/>
          </a:xfrm>
          <a:prstGeom prst="rect">
            <a:avLst/>
          </a:prstGeom>
          <a:noFill/>
          <a:ln/>
        </p:spPr>
        <p:txBody>
          <a:bodyPr wrap="square" lIns="0" tIns="0" rIns="0" bIns="0" rtlCol="0" anchor="ctr"/>
          <a:lstStyle/>
          <a:p>
            <a:pPr marL="0" indent="0" algn="ctr">
              <a:buNone/>
            </a:pPr>
            <a:endParaRPr lang="en-US" sz="1100" dirty="0"/>
          </a:p>
        </p:txBody>
      </p:sp>
      <p:sp>
        <p:nvSpPr>
          <p:cNvPr id="32" name="Text 30"/>
          <p:cNvSpPr/>
          <p:nvPr/>
        </p:nvSpPr>
        <p:spPr>
          <a:xfrm>
            <a:off x="2496312" y="2715768"/>
            <a:ext cx="1828800" cy="347472"/>
          </a:xfrm>
          <a:prstGeom prst="rect">
            <a:avLst/>
          </a:prstGeom>
          <a:noFill/>
          <a:ln/>
        </p:spPr>
        <p:txBody>
          <a:bodyPr wrap="square" rtlCol="0" anchor="ctr"/>
          <a:lstStyle/>
          <a:p>
            <a:pPr marL="0" indent="0" algn="ctr">
              <a:buNone/>
            </a:pPr>
            <a:endParaRPr lang="en-US" sz="1200" dirty="0"/>
          </a:p>
        </p:txBody>
      </p:sp>
      <p:sp>
        <p:nvSpPr>
          <p:cNvPr id="33" name="Text 31"/>
          <p:cNvSpPr/>
          <p:nvPr/>
        </p:nvSpPr>
        <p:spPr>
          <a:xfrm>
            <a:off x="2546604" y="3063240"/>
            <a:ext cx="1828800" cy="713232"/>
          </a:xfrm>
          <a:prstGeom prst="rect">
            <a:avLst/>
          </a:prstGeom>
          <a:noFill/>
          <a:ln/>
        </p:spPr>
        <p:txBody>
          <a:bodyPr wrap="square" rtlCol="0" anchor="ctr"/>
          <a:lstStyle/>
          <a:p>
            <a:pPr marL="0" indent="0" algn="ctr">
              <a:buNone/>
            </a:pPr>
            <a:endParaRPr lang="en-US" sz="1050" dirty="0"/>
          </a:p>
        </p:txBody>
      </p:sp>
      <p:sp>
        <p:nvSpPr>
          <p:cNvPr id="36" name="Text 34"/>
          <p:cNvSpPr/>
          <p:nvPr/>
        </p:nvSpPr>
        <p:spPr>
          <a:xfrm>
            <a:off x="5330952" y="233172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07</a:t>
            </a:r>
            <a:endParaRPr lang="en-US" sz="1100" dirty="0"/>
          </a:p>
        </p:txBody>
      </p:sp>
      <p:sp>
        <p:nvSpPr>
          <p:cNvPr id="38" name="Text 36"/>
          <p:cNvSpPr/>
          <p:nvPr/>
        </p:nvSpPr>
        <p:spPr>
          <a:xfrm>
            <a:off x="4672584" y="3081528"/>
            <a:ext cx="1828800" cy="713232"/>
          </a:xfrm>
          <a:prstGeom prst="rect">
            <a:avLst/>
          </a:prstGeom>
          <a:noFill/>
          <a:ln/>
        </p:spPr>
        <p:txBody>
          <a:bodyPr wrap="square" rtlCol="0" anchor="ctr"/>
          <a:lstStyle/>
          <a:p>
            <a:pPr marL="0" indent="0" algn="ctr">
              <a:buNone/>
            </a:pPr>
            <a:endParaRPr lang="en-US" sz="1050" dirty="0"/>
          </a:p>
        </p:txBody>
      </p:sp>
      <p:sp>
        <p:nvSpPr>
          <p:cNvPr id="44" name="Shape 8">
            <a:extLst>
              <a:ext uri="{FF2B5EF4-FFF2-40B4-BE49-F238E27FC236}">
                <a16:creationId xmlns:a16="http://schemas.microsoft.com/office/drawing/2014/main" id="{34EA5860-C513-45A3-A31A-14EFFEF43836}"/>
              </a:ext>
            </a:extLst>
          </p:cNvPr>
          <p:cNvSpPr/>
          <p:nvPr/>
        </p:nvSpPr>
        <p:spPr>
          <a:xfrm>
            <a:off x="5431536" y="2400300"/>
            <a:ext cx="502920" cy="347472"/>
          </a:xfrm>
          <a:prstGeom prst="ellipse">
            <a:avLst/>
          </a:prstGeom>
          <a:solidFill>
            <a:srgbClr val="1A3A6B"/>
          </a:solidFill>
          <a:ln w="12700">
            <a:solidFill>
              <a:srgbClr val="1A3A6B"/>
            </a:solidFill>
            <a:prstDash val="solid"/>
          </a:ln>
        </p:spPr>
        <p:txBody>
          <a:bodyPr/>
          <a:lstStyle/>
          <a:p>
            <a:r>
              <a:rPr lang="en-US" sz="1100" b="1" dirty="0">
                <a:solidFill>
                  <a:srgbClr val="FFFFFF"/>
                </a:solidFill>
              </a:rPr>
              <a:t>03</a:t>
            </a:r>
            <a:endParaRPr lang="en-US" sz="1100" dirty="0"/>
          </a:p>
          <a:p>
            <a:endParaRPr lang="en-US" sz="1100" dirty="0"/>
          </a:p>
          <a:p>
            <a:endParaRPr lang="en-US" sz="1100" dirty="0"/>
          </a:p>
          <a:p>
            <a:endParaRPr lang="en-US" sz="1100" dirty="0"/>
          </a:p>
        </p:txBody>
      </p:sp>
      <p:sp>
        <p:nvSpPr>
          <p:cNvPr id="45" name="Shape 8">
            <a:extLst>
              <a:ext uri="{FF2B5EF4-FFF2-40B4-BE49-F238E27FC236}">
                <a16:creationId xmlns:a16="http://schemas.microsoft.com/office/drawing/2014/main" id="{013CFE94-9796-4AE4-AF8A-CCB762CF51F5}"/>
              </a:ext>
            </a:extLst>
          </p:cNvPr>
          <p:cNvSpPr/>
          <p:nvPr/>
        </p:nvSpPr>
        <p:spPr>
          <a:xfrm>
            <a:off x="7607808" y="2450592"/>
            <a:ext cx="502920" cy="347472"/>
          </a:xfrm>
          <a:prstGeom prst="ellipse">
            <a:avLst/>
          </a:prstGeom>
          <a:solidFill>
            <a:srgbClr val="1A3A6B"/>
          </a:solidFill>
          <a:ln w="12700">
            <a:solidFill>
              <a:srgbClr val="1A3A6B"/>
            </a:solidFill>
            <a:prstDash val="solid"/>
          </a:ln>
        </p:spPr>
        <p:txBody>
          <a:bodyPr/>
          <a:lstStyle/>
          <a:p>
            <a:r>
              <a:rPr lang="en-US" sz="1100" b="1" dirty="0">
                <a:solidFill>
                  <a:srgbClr val="FFFFFF"/>
                </a:solidFill>
              </a:rPr>
              <a:t>04</a:t>
            </a:r>
            <a:endParaRPr lang="en-US" sz="1100" dirty="0"/>
          </a:p>
          <a:p>
            <a:endParaRPr lang="en-US" sz="1100" dirty="0"/>
          </a:p>
          <a:p>
            <a:endParaRPr lang="en-US" sz="1100" dirty="0"/>
          </a:p>
          <a:p>
            <a:endParaRPr lang="en-US" sz="1100" dirty="0"/>
          </a:p>
          <a:p>
            <a:endParaRPr lang="en-US" sz="1100" dirty="0"/>
          </a:p>
        </p:txBody>
      </p:sp>
      <p:pic>
        <p:nvPicPr>
          <p:cNvPr id="24" name="Picture 23">
            <a:extLst>
              <a:ext uri="{FF2B5EF4-FFF2-40B4-BE49-F238E27FC236}">
                <a16:creationId xmlns:a16="http://schemas.microsoft.com/office/drawing/2014/main" id="{E747452C-F080-4AB3-A77C-10370F63720D}"/>
              </a:ext>
            </a:extLst>
          </p:cNvPr>
          <p:cNvPicPr>
            <a:picLocks noChangeAspect="1"/>
          </p:cNvPicPr>
          <p:nvPr/>
        </p:nvPicPr>
        <p:blipFill>
          <a:blip r:embed="rId3"/>
          <a:stretch>
            <a:fillRect/>
          </a:stretch>
        </p:blipFill>
        <p:spPr>
          <a:xfrm>
            <a:off x="229523" y="2889504"/>
            <a:ext cx="1879786" cy="1665668"/>
          </a:xfrm>
          <a:prstGeom prst="rect">
            <a:avLst/>
          </a:prstGeom>
        </p:spPr>
      </p:pic>
      <p:pic>
        <p:nvPicPr>
          <p:cNvPr id="29" name="Picture 28">
            <a:extLst>
              <a:ext uri="{FF2B5EF4-FFF2-40B4-BE49-F238E27FC236}">
                <a16:creationId xmlns:a16="http://schemas.microsoft.com/office/drawing/2014/main" id="{3B524EBF-A23D-436C-BD6B-7A853A7A7C8F}"/>
              </a:ext>
            </a:extLst>
          </p:cNvPr>
          <p:cNvPicPr>
            <a:picLocks noChangeAspect="1"/>
          </p:cNvPicPr>
          <p:nvPr/>
        </p:nvPicPr>
        <p:blipFill>
          <a:blip r:embed="rId4"/>
          <a:stretch>
            <a:fillRect/>
          </a:stretch>
        </p:blipFill>
        <p:spPr>
          <a:xfrm>
            <a:off x="2300634" y="2775204"/>
            <a:ext cx="2117618" cy="1738820"/>
          </a:xfrm>
          <a:prstGeom prst="rect">
            <a:avLst/>
          </a:prstGeom>
        </p:spPr>
      </p:pic>
      <p:pic>
        <p:nvPicPr>
          <p:cNvPr id="34" name="Picture 33">
            <a:extLst>
              <a:ext uri="{FF2B5EF4-FFF2-40B4-BE49-F238E27FC236}">
                <a16:creationId xmlns:a16="http://schemas.microsoft.com/office/drawing/2014/main" id="{536A05DB-8738-455F-8E9B-E0D5F44CCCCF}"/>
              </a:ext>
            </a:extLst>
          </p:cNvPr>
          <p:cNvPicPr>
            <a:picLocks noChangeAspect="1"/>
          </p:cNvPicPr>
          <p:nvPr/>
        </p:nvPicPr>
        <p:blipFill>
          <a:blip r:embed="rId5"/>
          <a:stretch>
            <a:fillRect/>
          </a:stretch>
        </p:blipFill>
        <p:spPr>
          <a:xfrm>
            <a:off x="4558364" y="2816352"/>
            <a:ext cx="2253916" cy="1621643"/>
          </a:xfrm>
          <a:prstGeom prst="rect">
            <a:avLst/>
          </a:prstGeom>
        </p:spPr>
      </p:pic>
      <p:pic>
        <p:nvPicPr>
          <p:cNvPr id="37" name="Picture 36">
            <a:extLst>
              <a:ext uri="{FF2B5EF4-FFF2-40B4-BE49-F238E27FC236}">
                <a16:creationId xmlns:a16="http://schemas.microsoft.com/office/drawing/2014/main" id="{F1BC3D43-F256-416F-B522-454FA3C3D441}"/>
              </a:ext>
            </a:extLst>
          </p:cNvPr>
          <p:cNvPicPr>
            <a:picLocks noChangeAspect="1"/>
          </p:cNvPicPr>
          <p:nvPr/>
        </p:nvPicPr>
        <p:blipFill>
          <a:blip r:embed="rId6"/>
          <a:stretch>
            <a:fillRect/>
          </a:stretch>
        </p:blipFill>
        <p:spPr>
          <a:xfrm>
            <a:off x="7190562" y="2830103"/>
            <a:ext cx="1590726" cy="1929314"/>
          </a:xfrm>
          <a:prstGeom prst="rect">
            <a:avLst/>
          </a:prstGeom>
        </p:spPr>
      </p:pic>
    </p:spTree>
    <p:extLst>
      <p:ext uri="{BB962C8B-B14F-4D97-AF65-F5344CB8AC3E}">
        <p14:creationId xmlns:p14="http://schemas.microsoft.com/office/powerpoint/2010/main" val="360922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0A1628"/>
          </a:solidFill>
          <a:ln w="12700">
            <a:solidFill>
              <a:srgbClr val="0A1628"/>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700" b="1" dirty="0">
                <a:solidFill>
                  <a:srgbClr val="FFFFFF"/>
                </a:solidFill>
              </a:rPr>
              <a:t>PREPROCESSING DATASET Langkah Pembersihan</a:t>
            </a:r>
            <a:endParaRPr lang="en-US" sz="1700" dirty="0"/>
          </a:p>
        </p:txBody>
      </p:sp>
      <p:sp>
        <p:nvSpPr>
          <p:cNvPr id="7" name="Text 5"/>
          <p:cNvSpPr/>
          <p:nvPr/>
        </p:nvSpPr>
        <p:spPr>
          <a:xfrm>
            <a:off x="320040" y="1252728"/>
            <a:ext cx="1828800" cy="347472"/>
          </a:xfrm>
          <a:prstGeom prst="rect">
            <a:avLst/>
          </a:prstGeom>
          <a:noFill/>
          <a:ln/>
        </p:spPr>
        <p:txBody>
          <a:bodyPr wrap="square" rtlCol="0" anchor="ctr"/>
          <a:lstStyle/>
          <a:p>
            <a:pPr marL="0" indent="0" algn="ctr">
              <a:buNone/>
            </a:pPr>
            <a:endParaRPr lang="en-US" sz="1200" dirty="0"/>
          </a:p>
        </p:txBody>
      </p:sp>
      <p:sp>
        <p:nvSpPr>
          <p:cNvPr id="8" name="Text 6"/>
          <p:cNvSpPr/>
          <p:nvPr/>
        </p:nvSpPr>
        <p:spPr>
          <a:xfrm>
            <a:off x="320040" y="1618488"/>
            <a:ext cx="1828800" cy="713232"/>
          </a:xfrm>
          <a:prstGeom prst="rect">
            <a:avLst/>
          </a:prstGeom>
          <a:noFill/>
          <a:ln/>
        </p:spPr>
        <p:txBody>
          <a:bodyPr wrap="square" rtlCol="0" anchor="ctr"/>
          <a:lstStyle/>
          <a:p>
            <a:pPr marL="0" indent="0" algn="ctr">
              <a:buNone/>
            </a:pPr>
            <a:endParaRPr lang="en-US" sz="1050" dirty="0"/>
          </a:p>
        </p:txBody>
      </p:sp>
      <p:sp>
        <p:nvSpPr>
          <p:cNvPr id="13" name="Text 11"/>
          <p:cNvSpPr/>
          <p:nvPr/>
        </p:nvSpPr>
        <p:spPr>
          <a:xfrm>
            <a:off x="2496312" y="1618488"/>
            <a:ext cx="1828800" cy="713232"/>
          </a:xfrm>
          <a:prstGeom prst="rect">
            <a:avLst/>
          </a:prstGeom>
          <a:noFill/>
          <a:ln/>
        </p:spPr>
        <p:txBody>
          <a:bodyPr wrap="square" rtlCol="0" anchor="ctr"/>
          <a:lstStyle/>
          <a:p>
            <a:pPr marL="0" indent="0" algn="ctr">
              <a:buNone/>
            </a:pPr>
            <a:endParaRPr lang="en-US" sz="1050" dirty="0"/>
          </a:p>
        </p:txBody>
      </p:sp>
      <p:sp>
        <p:nvSpPr>
          <p:cNvPr id="16" name="Text 14"/>
          <p:cNvSpPr/>
          <p:nvPr/>
        </p:nvSpPr>
        <p:spPr>
          <a:xfrm>
            <a:off x="5330952" y="868680"/>
            <a:ext cx="502920" cy="347472"/>
          </a:xfrm>
          <a:prstGeom prst="rect">
            <a:avLst/>
          </a:prstGeom>
          <a:noFill/>
          <a:ln/>
        </p:spPr>
        <p:txBody>
          <a:bodyPr wrap="square" lIns="0" tIns="0" rIns="0" bIns="0" rtlCol="0" anchor="ctr"/>
          <a:lstStyle/>
          <a:p>
            <a:pPr marL="0" indent="0" algn="ctr">
              <a:buNone/>
            </a:pPr>
            <a:endParaRPr lang="en-US" sz="1100" dirty="0"/>
          </a:p>
        </p:txBody>
      </p:sp>
      <p:sp>
        <p:nvSpPr>
          <p:cNvPr id="17" name="Text 15"/>
          <p:cNvSpPr/>
          <p:nvPr/>
        </p:nvSpPr>
        <p:spPr>
          <a:xfrm>
            <a:off x="4672584" y="1252728"/>
            <a:ext cx="1828800" cy="347472"/>
          </a:xfrm>
          <a:prstGeom prst="rect">
            <a:avLst/>
          </a:prstGeom>
          <a:noFill/>
          <a:ln/>
        </p:spPr>
        <p:txBody>
          <a:bodyPr wrap="square" rtlCol="0" anchor="ctr"/>
          <a:lstStyle/>
          <a:p>
            <a:pPr marL="0" indent="0" algn="ctr">
              <a:buNone/>
            </a:pPr>
            <a:endParaRPr lang="en-US" sz="1200" dirty="0"/>
          </a:p>
        </p:txBody>
      </p:sp>
      <p:sp>
        <p:nvSpPr>
          <p:cNvPr id="18" name="Text 16"/>
          <p:cNvSpPr/>
          <p:nvPr/>
        </p:nvSpPr>
        <p:spPr>
          <a:xfrm>
            <a:off x="4672584" y="1618488"/>
            <a:ext cx="1828800" cy="713232"/>
          </a:xfrm>
          <a:prstGeom prst="rect">
            <a:avLst/>
          </a:prstGeom>
          <a:noFill/>
          <a:ln/>
        </p:spPr>
        <p:txBody>
          <a:bodyPr wrap="square" rtlCol="0" anchor="ctr"/>
          <a:lstStyle/>
          <a:p>
            <a:pPr marL="0" indent="0" algn="ctr">
              <a:buNone/>
            </a:pPr>
            <a:endParaRPr lang="en-US" sz="1050" dirty="0"/>
          </a:p>
        </p:txBody>
      </p:sp>
      <p:sp>
        <p:nvSpPr>
          <p:cNvPr id="21" name="Text 19"/>
          <p:cNvSpPr/>
          <p:nvPr/>
        </p:nvSpPr>
        <p:spPr>
          <a:xfrm>
            <a:off x="7507224" y="868680"/>
            <a:ext cx="502920" cy="347472"/>
          </a:xfrm>
          <a:prstGeom prst="rect">
            <a:avLst/>
          </a:prstGeom>
          <a:noFill/>
          <a:ln/>
        </p:spPr>
        <p:txBody>
          <a:bodyPr wrap="square" lIns="0" tIns="0" rIns="0" bIns="0" rtlCol="0" anchor="ctr"/>
          <a:lstStyle/>
          <a:p>
            <a:pPr marL="0" indent="0" algn="ctr">
              <a:buNone/>
            </a:pPr>
            <a:endParaRPr lang="en-US" sz="1100" dirty="0"/>
          </a:p>
        </p:txBody>
      </p:sp>
      <p:sp>
        <p:nvSpPr>
          <p:cNvPr id="22" name="Text 20"/>
          <p:cNvSpPr/>
          <p:nvPr/>
        </p:nvSpPr>
        <p:spPr>
          <a:xfrm>
            <a:off x="6848856" y="1252728"/>
            <a:ext cx="1828800" cy="347472"/>
          </a:xfrm>
          <a:prstGeom prst="rect">
            <a:avLst/>
          </a:prstGeom>
          <a:noFill/>
          <a:ln/>
        </p:spPr>
        <p:txBody>
          <a:bodyPr wrap="square" rtlCol="0" anchor="ctr"/>
          <a:lstStyle/>
          <a:p>
            <a:pPr marL="0" indent="0" algn="ctr">
              <a:buNone/>
            </a:pPr>
            <a:endParaRPr lang="en-US" sz="1200" dirty="0"/>
          </a:p>
        </p:txBody>
      </p:sp>
      <p:sp>
        <p:nvSpPr>
          <p:cNvPr id="23" name="Text 21"/>
          <p:cNvSpPr/>
          <p:nvPr/>
        </p:nvSpPr>
        <p:spPr>
          <a:xfrm>
            <a:off x="6848856" y="1618488"/>
            <a:ext cx="1828800" cy="713232"/>
          </a:xfrm>
          <a:prstGeom prst="rect">
            <a:avLst/>
          </a:prstGeom>
          <a:noFill/>
          <a:ln/>
        </p:spPr>
        <p:txBody>
          <a:bodyPr wrap="square" rtlCol="0" anchor="ctr"/>
          <a:lstStyle/>
          <a:p>
            <a:pPr marL="0" indent="0" algn="ctr">
              <a:buNone/>
            </a:pPr>
            <a:endParaRPr lang="en-US" sz="1050" dirty="0"/>
          </a:p>
        </p:txBody>
      </p:sp>
      <p:sp>
        <p:nvSpPr>
          <p:cNvPr id="24" name="Shape 22"/>
          <p:cNvSpPr/>
          <p:nvPr/>
        </p:nvSpPr>
        <p:spPr>
          <a:xfrm>
            <a:off x="636524" y="1256030"/>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25" name="Shape 23"/>
          <p:cNvSpPr/>
          <p:nvPr/>
        </p:nvSpPr>
        <p:spPr>
          <a:xfrm>
            <a:off x="1304036" y="1109726"/>
            <a:ext cx="502920" cy="347472"/>
          </a:xfrm>
          <a:prstGeom prst="ellipse">
            <a:avLst/>
          </a:prstGeom>
          <a:solidFill>
            <a:srgbClr val="7C3AED"/>
          </a:solidFill>
          <a:ln w="12700">
            <a:solidFill>
              <a:srgbClr val="7C3AED"/>
            </a:solidFill>
            <a:prstDash val="solid"/>
          </a:ln>
        </p:spPr>
      </p:sp>
      <p:sp>
        <p:nvSpPr>
          <p:cNvPr id="26" name="Text 24"/>
          <p:cNvSpPr/>
          <p:nvPr/>
        </p:nvSpPr>
        <p:spPr>
          <a:xfrm>
            <a:off x="1313180" y="107315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7" name="Text 25"/>
          <p:cNvSpPr/>
          <p:nvPr/>
        </p:nvSpPr>
        <p:spPr>
          <a:xfrm>
            <a:off x="654812" y="1457198"/>
            <a:ext cx="1828800" cy="347472"/>
          </a:xfrm>
          <a:prstGeom prst="rect">
            <a:avLst/>
          </a:prstGeom>
          <a:noFill/>
          <a:ln/>
        </p:spPr>
        <p:txBody>
          <a:bodyPr wrap="square" rtlCol="0" anchor="ctr"/>
          <a:lstStyle/>
          <a:p>
            <a:pPr marL="0" indent="0" algn="ctr">
              <a:buNone/>
            </a:pPr>
            <a:r>
              <a:rPr lang="en-US" sz="1200" b="1" dirty="0">
                <a:solidFill>
                  <a:srgbClr val="0A1628"/>
                </a:solidFill>
              </a:rPr>
              <a:t>Cek Gambar Korup</a:t>
            </a:r>
            <a:endParaRPr lang="en-US" sz="1200" dirty="0"/>
          </a:p>
        </p:txBody>
      </p:sp>
      <p:sp>
        <p:nvSpPr>
          <p:cNvPr id="28" name="Text 26"/>
          <p:cNvSpPr/>
          <p:nvPr/>
        </p:nvSpPr>
        <p:spPr>
          <a:xfrm>
            <a:off x="636524" y="1822958"/>
            <a:ext cx="1828800" cy="713232"/>
          </a:xfrm>
          <a:prstGeom prst="rect">
            <a:avLst/>
          </a:prstGeom>
          <a:noFill/>
          <a:ln/>
        </p:spPr>
        <p:txBody>
          <a:bodyPr wrap="square" rtlCol="0" anchor="ctr"/>
          <a:lstStyle/>
          <a:p>
            <a:pPr marL="0" indent="0" algn="ctr">
              <a:buNone/>
            </a:pPr>
            <a:r>
              <a:rPr lang="en-US" sz="1050" dirty="0">
                <a:solidFill>
                  <a:srgbClr val="444444"/>
                </a:solidFill>
              </a:rPr>
              <a:t>Gambar yang tidak bisa dibuka OpenCV </a:t>
            </a:r>
            <a:r>
              <a:rPr lang="en-US" sz="1050" dirty="0" err="1">
                <a:solidFill>
                  <a:srgbClr val="444444"/>
                </a:solidFill>
              </a:rPr>
              <a:t>langsung</a:t>
            </a:r>
            <a:r>
              <a:rPr lang="en-US" sz="1050" dirty="0">
                <a:solidFill>
                  <a:srgbClr val="444444"/>
                </a:solidFill>
              </a:rPr>
              <a:t> dihapus</a:t>
            </a:r>
            <a:endParaRPr lang="en-US" sz="1050" dirty="0"/>
          </a:p>
        </p:txBody>
      </p:sp>
      <p:sp>
        <p:nvSpPr>
          <p:cNvPr id="29" name="Shape 27"/>
          <p:cNvSpPr/>
          <p:nvPr/>
        </p:nvSpPr>
        <p:spPr>
          <a:xfrm>
            <a:off x="3376168" y="1256030"/>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30" name="Shape 28"/>
          <p:cNvSpPr/>
          <p:nvPr/>
        </p:nvSpPr>
        <p:spPr>
          <a:xfrm>
            <a:off x="4125976" y="1088644"/>
            <a:ext cx="502920" cy="347472"/>
          </a:xfrm>
          <a:prstGeom prst="ellipse">
            <a:avLst/>
          </a:prstGeom>
          <a:solidFill>
            <a:srgbClr val="7C3AED"/>
          </a:solidFill>
          <a:ln w="12700">
            <a:solidFill>
              <a:srgbClr val="7C3AED"/>
            </a:solidFill>
            <a:prstDash val="solid"/>
          </a:ln>
        </p:spPr>
      </p:sp>
      <p:sp>
        <p:nvSpPr>
          <p:cNvPr id="31" name="Text 29"/>
          <p:cNvSpPr/>
          <p:nvPr/>
        </p:nvSpPr>
        <p:spPr>
          <a:xfrm>
            <a:off x="4125976" y="1073150"/>
            <a:ext cx="502920" cy="347472"/>
          </a:xfrm>
          <a:prstGeom prst="rect">
            <a:avLst/>
          </a:prstGeom>
          <a:noFill/>
          <a:ln/>
        </p:spPr>
        <p:txBody>
          <a:bodyPr wrap="square" lIns="0" tIns="0" rIns="0" bIns="0" rtlCol="0" anchor="ctr"/>
          <a:lstStyle/>
          <a:p>
            <a:pPr marL="0" indent="0" algn="ctr">
              <a:buNone/>
            </a:pPr>
            <a:r>
              <a:rPr lang="en-US" sz="1100" b="1" dirty="0">
                <a:solidFill>
                  <a:srgbClr val="FFFFFF"/>
                </a:solidFill>
              </a:rPr>
              <a:t>06</a:t>
            </a:r>
            <a:endParaRPr lang="en-US" sz="1100" dirty="0"/>
          </a:p>
        </p:txBody>
      </p:sp>
      <p:sp>
        <p:nvSpPr>
          <p:cNvPr id="32" name="Text 30"/>
          <p:cNvSpPr/>
          <p:nvPr/>
        </p:nvSpPr>
        <p:spPr>
          <a:xfrm>
            <a:off x="3467608" y="1457198"/>
            <a:ext cx="1828800" cy="347472"/>
          </a:xfrm>
          <a:prstGeom prst="rect">
            <a:avLst/>
          </a:prstGeom>
          <a:noFill/>
          <a:ln/>
        </p:spPr>
        <p:txBody>
          <a:bodyPr wrap="square" rtlCol="0" anchor="ctr"/>
          <a:lstStyle/>
          <a:p>
            <a:pPr marL="0" indent="0" algn="ctr">
              <a:buNone/>
            </a:pPr>
            <a:r>
              <a:rPr lang="en-US" sz="1200" b="1" dirty="0">
                <a:solidFill>
                  <a:srgbClr val="0A1628"/>
                </a:solidFill>
              </a:rPr>
              <a:t>Analisis Distribusi</a:t>
            </a:r>
            <a:endParaRPr lang="en-US" sz="1200" dirty="0"/>
          </a:p>
        </p:txBody>
      </p:sp>
      <p:sp>
        <p:nvSpPr>
          <p:cNvPr id="33" name="Text 31"/>
          <p:cNvSpPr/>
          <p:nvPr/>
        </p:nvSpPr>
        <p:spPr>
          <a:xfrm>
            <a:off x="3467608" y="1822958"/>
            <a:ext cx="1828800" cy="713232"/>
          </a:xfrm>
          <a:prstGeom prst="rect">
            <a:avLst/>
          </a:prstGeom>
          <a:noFill/>
          <a:ln/>
        </p:spPr>
        <p:txBody>
          <a:bodyPr wrap="square" rtlCol="0" anchor="ctr"/>
          <a:lstStyle/>
          <a:p>
            <a:pPr marL="0" indent="0" algn="ctr">
              <a:buNone/>
            </a:pPr>
            <a:r>
              <a:rPr lang="en-US" sz="1050" dirty="0">
                <a:solidFill>
                  <a:srgbClr val="444444"/>
                </a:solidFill>
              </a:rPr>
              <a:t>Hitung jumlah box per kelas, ukuran rata-rata bounding box</a:t>
            </a:r>
            <a:endParaRPr lang="en-US" sz="1050" dirty="0"/>
          </a:p>
        </p:txBody>
      </p:sp>
      <p:sp>
        <p:nvSpPr>
          <p:cNvPr id="34" name="Shape 32"/>
          <p:cNvSpPr/>
          <p:nvPr/>
        </p:nvSpPr>
        <p:spPr>
          <a:xfrm>
            <a:off x="6267704" y="1245870"/>
            <a:ext cx="2011680" cy="1325880"/>
          </a:xfrm>
          <a:prstGeom prst="roundRect">
            <a:avLst>
              <a:gd name="adj" fmla="val 5517"/>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35" name="Shape 33"/>
          <p:cNvSpPr/>
          <p:nvPr/>
        </p:nvSpPr>
        <p:spPr>
          <a:xfrm>
            <a:off x="7017512" y="1062990"/>
            <a:ext cx="502920" cy="347472"/>
          </a:xfrm>
          <a:prstGeom prst="ellipse">
            <a:avLst/>
          </a:prstGeom>
          <a:solidFill>
            <a:srgbClr val="B45309"/>
          </a:solidFill>
          <a:ln w="12700">
            <a:solidFill>
              <a:srgbClr val="B45309"/>
            </a:solidFill>
            <a:prstDash val="solid"/>
          </a:ln>
        </p:spPr>
        <p:txBody>
          <a:bodyPr/>
          <a:lstStyle/>
          <a:p>
            <a:r>
              <a:rPr lang="en-US" sz="1100" b="1" dirty="0">
                <a:solidFill>
                  <a:srgbClr val="FFFFFF"/>
                </a:solidFill>
              </a:rPr>
              <a:t>07</a:t>
            </a:r>
            <a:endParaRPr lang="en-US" sz="1100" dirty="0"/>
          </a:p>
          <a:p>
            <a:endParaRPr lang="en-US" sz="1100" dirty="0"/>
          </a:p>
        </p:txBody>
      </p:sp>
      <p:sp>
        <p:nvSpPr>
          <p:cNvPr id="36" name="Text 34"/>
          <p:cNvSpPr/>
          <p:nvPr/>
        </p:nvSpPr>
        <p:spPr>
          <a:xfrm>
            <a:off x="5330952" y="2331720"/>
            <a:ext cx="502920" cy="347472"/>
          </a:xfrm>
          <a:prstGeom prst="rect">
            <a:avLst/>
          </a:prstGeom>
          <a:noFill/>
          <a:ln/>
        </p:spPr>
        <p:txBody>
          <a:bodyPr wrap="square" lIns="0" tIns="0" rIns="0" bIns="0" rtlCol="0" anchor="ctr"/>
          <a:lstStyle/>
          <a:p>
            <a:pPr marL="0" indent="0" algn="ctr">
              <a:buNone/>
            </a:pPr>
            <a:endParaRPr lang="en-US" sz="1100" dirty="0"/>
          </a:p>
        </p:txBody>
      </p:sp>
      <p:sp>
        <p:nvSpPr>
          <p:cNvPr id="37" name="Text 35"/>
          <p:cNvSpPr/>
          <p:nvPr/>
        </p:nvSpPr>
        <p:spPr>
          <a:xfrm>
            <a:off x="6359144" y="1447038"/>
            <a:ext cx="1828800" cy="347472"/>
          </a:xfrm>
          <a:prstGeom prst="rect">
            <a:avLst/>
          </a:prstGeom>
          <a:noFill/>
          <a:ln/>
        </p:spPr>
        <p:txBody>
          <a:bodyPr wrap="square" rtlCol="0" anchor="ctr"/>
          <a:lstStyle/>
          <a:p>
            <a:pPr marL="0" indent="0" algn="ctr">
              <a:buNone/>
            </a:pPr>
            <a:r>
              <a:rPr lang="en-US" sz="1200" b="1" dirty="0">
                <a:solidFill>
                  <a:srgbClr val="0A1628"/>
                </a:solidFill>
              </a:rPr>
              <a:t>Visualisasi Sampel</a:t>
            </a:r>
            <a:endParaRPr lang="en-US" sz="1200" dirty="0"/>
          </a:p>
        </p:txBody>
      </p:sp>
      <p:sp>
        <p:nvSpPr>
          <p:cNvPr id="38" name="Text 36"/>
          <p:cNvSpPr/>
          <p:nvPr/>
        </p:nvSpPr>
        <p:spPr>
          <a:xfrm>
            <a:off x="6359144" y="1812798"/>
            <a:ext cx="1828800" cy="713232"/>
          </a:xfrm>
          <a:prstGeom prst="rect">
            <a:avLst/>
          </a:prstGeom>
          <a:noFill/>
          <a:ln/>
        </p:spPr>
        <p:txBody>
          <a:bodyPr wrap="square" rtlCol="0" anchor="ctr"/>
          <a:lstStyle/>
          <a:p>
            <a:pPr marL="0" indent="0" algn="ctr">
              <a:buNone/>
            </a:pPr>
            <a:r>
              <a:rPr lang="en-US" sz="1050" dirty="0">
                <a:solidFill>
                  <a:srgbClr val="444444"/>
                </a:solidFill>
              </a:rPr>
              <a:t>Preview 5 gambar dengan bounding box untuk konfirmasi visual</a:t>
            </a:r>
            <a:endParaRPr lang="en-US" sz="1050" dirty="0"/>
          </a:p>
        </p:txBody>
      </p:sp>
      <p:pic>
        <p:nvPicPr>
          <p:cNvPr id="11" name="Picture 10">
            <a:extLst>
              <a:ext uri="{FF2B5EF4-FFF2-40B4-BE49-F238E27FC236}">
                <a16:creationId xmlns:a16="http://schemas.microsoft.com/office/drawing/2014/main" id="{A2F9296F-D251-4297-8020-0902ECEFF335}"/>
              </a:ext>
            </a:extLst>
          </p:cNvPr>
          <p:cNvPicPr>
            <a:picLocks noChangeAspect="1"/>
          </p:cNvPicPr>
          <p:nvPr/>
        </p:nvPicPr>
        <p:blipFill>
          <a:blip r:embed="rId3"/>
          <a:stretch>
            <a:fillRect/>
          </a:stretch>
        </p:blipFill>
        <p:spPr>
          <a:xfrm>
            <a:off x="1416996" y="2679192"/>
            <a:ext cx="5863152" cy="21082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2714625" cy="914400"/>
          </a:xfrm>
          <a:prstGeom prst="rect">
            <a:avLst/>
          </a:prstGeom>
          <a:noFill/>
          <a:ln/>
        </p:spPr>
        <p:txBody>
          <a:bodyPr wrap="square" lIns="0" tIns="0" rIns="0" bIns="0" rtlCol="0" anchor="ctr"/>
          <a:lstStyle/>
          <a:p>
            <a:pPr marL="0" indent="0">
              <a:buNone/>
            </a:pPr>
            <a:r>
              <a:rPr lang="en-US" sz="1800" b="1" dirty="0">
                <a:solidFill>
                  <a:srgbClr val="FFFFFF"/>
                </a:solidFill>
              </a:rPr>
              <a:t>Label Training Otomatis</a:t>
            </a:r>
            <a:endParaRPr lang="en-US" sz="1800" dirty="0"/>
          </a:p>
        </p:txBody>
      </p:sp>
      <p:sp>
        <p:nvSpPr>
          <p:cNvPr id="4" name="Text 2"/>
          <p:cNvSpPr/>
          <p:nvPr/>
        </p:nvSpPr>
        <p:spPr>
          <a:xfrm>
            <a:off x="457200" y="960120"/>
            <a:ext cx="8229600" cy="347472"/>
          </a:xfrm>
          <a:prstGeom prst="rect">
            <a:avLst/>
          </a:prstGeom>
          <a:noFill/>
          <a:ln/>
        </p:spPr>
        <p:txBody>
          <a:bodyPr wrap="square" rtlCol="0" anchor="ctr"/>
          <a:lstStyle/>
          <a:p>
            <a:pPr marL="0" indent="0">
              <a:buNone/>
            </a:pPr>
            <a:r>
              <a:rPr lang="en-US" sz="1300" dirty="0">
                <a:solidFill>
                  <a:srgbClr val="333333"/>
                </a:solidFill>
              </a:rPr>
              <a:t>Karena dataset tidak punya label 'layak/tidak layak', sistem membuat sendiri pakai sistem skor:</a:t>
            </a:r>
            <a:endParaRPr lang="en-US" sz="1300" dirty="0"/>
          </a:p>
        </p:txBody>
      </p:sp>
      <p:sp>
        <p:nvSpPr>
          <p:cNvPr id="26" name="Text 24"/>
          <p:cNvSpPr/>
          <p:nvPr/>
        </p:nvSpPr>
        <p:spPr>
          <a:xfrm>
            <a:off x="4069080" y="3863340"/>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a:t>
            </a:r>
            <a:endParaRPr lang="en-US" sz="1200" dirty="0"/>
          </a:p>
        </p:txBody>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r>
              <a:rPr lang="en-US" sz="1800" b="1" dirty="0">
                <a:solidFill>
                  <a:srgbClr val="FFFFFF"/>
                </a:solidFill>
              </a:rPr>
              <a:t>  SKOR ≥ 3</a:t>
            </a:r>
            <a:endParaRPr lang="en-US" sz="1800" dirty="0"/>
          </a:p>
        </p:txBody>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endParaRPr lang="en-US" sz="1400" dirty="0"/>
          </a:p>
        </p:txBody>
      </p:sp>
      <p:sp>
        <p:nvSpPr>
          <p:cNvPr id="109" name="Text 34">
            <a:extLst>
              <a:ext uri="{FF2B5EF4-FFF2-40B4-BE49-F238E27FC236}">
                <a16:creationId xmlns:a16="http://schemas.microsoft.com/office/drawing/2014/main" id="{D5301D9A-E99F-4B5C-AAFD-7CA7BD0FB053}"/>
              </a:ext>
            </a:extLst>
          </p:cNvPr>
          <p:cNvSpPr/>
          <p:nvPr/>
        </p:nvSpPr>
        <p:spPr>
          <a:xfrm>
            <a:off x="1097280" y="4649724"/>
            <a:ext cx="1463040" cy="347472"/>
          </a:xfrm>
          <a:prstGeom prst="rect">
            <a:avLst/>
          </a:prstGeom>
          <a:noFill/>
          <a:ln/>
        </p:spPr>
        <p:txBody>
          <a:bodyPr wrap="square" rtlCol="0" anchor="ctr"/>
          <a:lstStyle/>
          <a:p>
            <a:pPr marL="0" indent="0">
              <a:buNone/>
            </a:pPr>
            <a:endParaRPr lang="en-US" sz="1100" dirty="0"/>
          </a:p>
        </p:txBody>
      </p:sp>
      <p:sp>
        <p:nvSpPr>
          <p:cNvPr id="110" name="Text 35">
            <a:extLst>
              <a:ext uri="{FF2B5EF4-FFF2-40B4-BE49-F238E27FC236}">
                <a16:creationId xmlns:a16="http://schemas.microsoft.com/office/drawing/2014/main" id="{AE061264-62A9-46AD-A49B-608FCD3CA4E4}"/>
              </a:ext>
            </a:extLst>
          </p:cNvPr>
          <p:cNvSpPr/>
          <p:nvPr/>
        </p:nvSpPr>
        <p:spPr>
          <a:xfrm>
            <a:off x="2514600" y="4649724"/>
            <a:ext cx="1828800" cy="347472"/>
          </a:xfrm>
          <a:prstGeom prst="rect">
            <a:avLst/>
          </a:prstGeom>
          <a:noFill/>
          <a:ln/>
        </p:spPr>
        <p:txBody>
          <a:bodyPr wrap="square" rtlCol="0" anchor="ctr"/>
          <a:lstStyle/>
          <a:p>
            <a:pPr marL="0" indent="0" algn="r">
              <a:buNone/>
            </a:pPr>
            <a:endParaRPr lang="en-US" sz="1100" dirty="0"/>
          </a:p>
        </p:txBody>
      </p:sp>
      <p:sp>
        <p:nvSpPr>
          <p:cNvPr id="140" name="Shape 10">
            <a:extLst>
              <a:ext uri="{FF2B5EF4-FFF2-40B4-BE49-F238E27FC236}">
                <a16:creationId xmlns:a16="http://schemas.microsoft.com/office/drawing/2014/main" id="{2D1397F6-A168-4025-874C-2A9824419E19}"/>
              </a:ext>
            </a:extLst>
          </p:cNvPr>
          <p:cNvSpPr/>
          <p:nvPr/>
        </p:nvSpPr>
        <p:spPr>
          <a:xfrm>
            <a:off x="457200" y="1353312"/>
            <a:ext cx="3657600" cy="3794760"/>
          </a:xfrm>
          <a:prstGeom prst="roundRect">
            <a:avLst>
              <a:gd name="adj" fmla="val 2500"/>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41" name="Text 11">
            <a:extLst>
              <a:ext uri="{FF2B5EF4-FFF2-40B4-BE49-F238E27FC236}">
                <a16:creationId xmlns:a16="http://schemas.microsoft.com/office/drawing/2014/main" id="{AFE274F4-8DF1-489A-8B4D-7222C26ECCBD}"/>
              </a:ext>
            </a:extLst>
          </p:cNvPr>
          <p:cNvSpPr/>
          <p:nvPr/>
        </p:nvSpPr>
        <p:spPr>
          <a:xfrm>
            <a:off x="640080" y="1490472"/>
            <a:ext cx="3291840" cy="365760"/>
          </a:xfrm>
          <a:prstGeom prst="rect">
            <a:avLst/>
          </a:prstGeom>
          <a:noFill/>
          <a:ln/>
        </p:spPr>
        <p:txBody>
          <a:bodyPr wrap="square" rtlCol="0" anchor="ctr"/>
          <a:lstStyle/>
          <a:p>
            <a:pPr marL="0" indent="0">
              <a:buNone/>
            </a:pPr>
            <a:r>
              <a:rPr lang="en-US" sz="1400" b="1" dirty="0">
                <a:solidFill>
                  <a:srgbClr val="0A1628"/>
                </a:solidFill>
              </a:rPr>
              <a:t>Parameter Training YOLO</a:t>
            </a:r>
            <a:endParaRPr lang="en-US" sz="1400" dirty="0"/>
          </a:p>
        </p:txBody>
      </p:sp>
      <p:sp>
        <p:nvSpPr>
          <p:cNvPr id="142" name="Shape 12">
            <a:extLst>
              <a:ext uri="{FF2B5EF4-FFF2-40B4-BE49-F238E27FC236}">
                <a16:creationId xmlns:a16="http://schemas.microsoft.com/office/drawing/2014/main" id="{33AFB666-431E-4D3E-A068-9D11EF679EA3}"/>
              </a:ext>
            </a:extLst>
          </p:cNvPr>
          <p:cNvSpPr/>
          <p:nvPr/>
        </p:nvSpPr>
        <p:spPr>
          <a:xfrm>
            <a:off x="548640" y="1947672"/>
            <a:ext cx="3474720" cy="347472"/>
          </a:xfrm>
          <a:prstGeom prst="roundRect">
            <a:avLst>
              <a:gd name="adj" fmla="val 10526"/>
            </a:avLst>
          </a:prstGeom>
          <a:solidFill>
            <a:srgbClr val="EFF6FF"/>
          </a:solidFill>
          <a:ln w="6350">
            <a:solidFill>
              <a:srgbClr val="CBD5E1"/>
            </a:solidFill>
            <a:prstDash val="solid"/>
          </a:ln>
        </p:spPr>
      </p:sp>
      <p:sp>
        <p:nvSpPr>
          <p:cNvPr id="143" name="Text 13">
            <a:extLst>
              <a:ext uri="{FF2B5EF4-FFF2-40B4-BE49-F238E27FC236}">
                <a16:creationId xmlns:a16="http://schemas.microsoft.com/office/drawing/2014/main" id="{289B09B6-BF1D-41FA-9966-096540292911}"/>
              </a:ext>
            </a:extLst>
          </p:cNvPr>
          <p:cNvSpPr/>
          <p:nvPr/>
        </p:nvSpPr>
        <p:spPr>
          <a:xfrm>
            <a:off x="640080" y="1947672"/>
            <a:ext cx="1463040" cy="347472"/>
          </a:xfrm>
          <a:prstGeom prst="rect">
            <a:avLst/>
          </a:prstGeom>
          <a:noFill/>
          <a:ln/>
        </p:spPr>
        <p:txBody>
          <a:bodyPr wrap="square" rtlCol="0" anchor="ctr"/>
          <a:lstStyle/>
          <a:p>
            <a:pPr marL="0" indent="0">
              <a:buNone/>
            </a:pPr>
            <a:r>
              <a:rPr lang="en-US" sz="1100" b="1" dirty="0">
                <a:solidFill>
                  <a:srgbClr val="1A3A6B"/>
                </a:solidFill>
              </a:rPr>
              <a:t>Model</a:t>
            </a:r>
            <a:endParaRPr lang="en-US" sz="1100" dirty="0"/>
          </a:p>
        </p:txBody>
      </p:sp>
      <p:sp>
        <p:nvSpPr>
          <p:cNvPr id="144" name="Text 14">
            <a:extLst>
              <a:ext uri="{FF2B5EF4-FFF2-40B4-BE49-F238E27FC236}">
                <a16:creationId xmlns:a16="http://schemas.microsoft.com/office/drawing/2014/main" id="{D12D36DE-0AEF-4CB7-B7FC-A1A3FAA7BFCF}"/>
              </a:ext>
            </a:extLst>
          </p:cNvPr>
          <p:cNvSpPr/>
          <p:nvPr/>
        </p:nvSpPr>
        <p:spPr>
          <a:xfrm>
            <a:off x="2057400" y="1901952"/>
            <a:ext cx="1828800" cy="347472"/>
          </a:xfrm>
          <a:prstGeom prst="rect">
            <a:avLst/>
          </a:prstGeom>
          <a:noFill/>
          <a:ln/>
        </p:spPr>
        <p:txBody>
          <a:bodyPr wrap="square" rtlCol="0" anchor="ctr"/>
          <a:lstStyle/>
          <a:p>
            <a:pPr marL="0" indent="0" algn="r">
              <a:buNone/>
            </a:pPr>
            <a:r>
              <a:rPr lang="en-US" sz="1100" b="1" dirty="0">
                <a:solidFill>
                  <a:srgbClr val="222222"/>
                </a:solidFill>
              </a:rPr>
              <a:t>YOLOv8m</a:t>
            </a:r>
            <a:endParaRPr lang="en-US" sz="1100" dirty="0"/>
          </a:p>
        </p:txBody>
      </p:sp>
      <p:sp>
        <p:nvSpPr>
          <p:cNvPr id="145" name="Shape 15">
            <a:extLst>
              <a:ext uri="{FF2B5EF4-FFF2-40B4-BE49-F238E27FC236}">
                <a16:creationId xmlns:a16="http://schemas.microsoft.com/office/drawing/2014/main" id="{3DDF0E34-3DC8-4FCD-B855-83F1669FB207}"/>
              </a:ext>
            </a:extLst>
          </p:cNvPr>
          <p:cNvSpPr/>
          <p:nvPr/>
        </p:nvSpPr>
        <p:spPr>
          <a:xfrm>
            <a:off x="548640" y="2340864"/>
            <a:ext cx="3474720" cy="347472"/>
          </a:xfrm>
          <a:prstGeom prst="roundRect">
            <a:avLst>
              <a:gd name="adj" fmla="val 10526"/>
            </a:avLst>
          </a:prstGeom>
          <a:solidFill>
            <a:srgbClr val="F8FAFC"/>
          </a:solidFill>
          <a:ln w="6350">
            <a:solidFill>
              <a:srgbClr val="CBD5E1"/>
            </a:solidFill>
            <a:prstDash val="solid"/>
          </a:ln>
        </p:spPr>
        <p:txBody>
          <a:bodyPr/>
          <a:lstStyle/>
          <a:p>
            <a:r>
              <a:rPr lang="en-US" dirty="0"/>
              <a:t> </a:t>
            </a:r>
          </a:p>
        </p:txBody>
      </p:sp>
      <p:sp>
        <p:nvSpPr>
          <p:cNvPr id="146" name="Text 16">
            <a:extLst>
              <a:ext uri="{FF2B5EF4-FFF2-40B4-BE49-F238E27FC236}">
                <a16:creationId xmlns:a16="http://schemas.microsoft.com/office/drawing/2014/main" id="{0835D3DC-51DC-498C-B001-F14F0B53B7F5}"/>
              </a:ext>
            </a:extLst>
          </p:cNvPr>
          <p:cNvSpPr/>
          <p:nvPr/>
        </p:nvSpPr>
        <p:spPr>
          <a:xfrm>
            <a:off x="594360" y="2276856"/>
            <a:ext cx="1463040" cy="347472"/>
          </a:xfrm>
          <a:prstGeom prst="rect">
            <a:avLst/>
          </a:prstGeom>
          <a:noFill/>
          <a:ln/>
        </p:spPr>
        <p:txBody>
          <a:bodyPr wrap="square" rtlCol="0" anchor="ctr"/>
          <a:lstStyle/>
          <a:p>
            <a:pPr marL="0" indent="0">
              <a:buNone/>
            </a:pPr>
            <a:r>
              <a:rPr lang="en-US" sz="1100" b="1" dirty="0">
                <a:solidFill>
                  <a:srgbClr val="1A3A6B"/>
                </a:solidFill>
              </a:rPr>
              <a:t>Epochs</a:t>
            </a:r>
            <a:endParaRPr lang="en-US" sz="1100" dirty="0"/>
          </a:p>
        </p:txBody>
      </p:sp>
      <p:sp>
        <p:nvSpPr>
          <p:cNvPr id="147" name="Text 17">
            <a:extLst>
              <a:ext uri="{FF2B5EF4-FFF2-40B4-BE49-F238E27FC236}">
                <a16:creationId xmlns:a16="http://schemas.microsoft.com/office/drawing/2014/main" id="{873D595E-2394-499E-BE8E-1000535D4EA8}"/>
              </a:ext>
            </a:extLst>
          </p:cNvPr>
          <p:cNvSpPr/>
          <p:nvPr/>
        </p:nvSpPr>
        <p:spPr>
          <a:xfrm>
            <a:off x="2057400" y="2295144"/>
            <a:ext cx="1828800" cy="347472"/>
          </a:xfrm>
          <a:prstGeom prst="rect">
            <a:avLst/>
          </a:prstGeom>
          <a:noFill/>
          <a:ln/>
        </p:spPr>
        <p:txBody>
          <a:bodyPr wrap="square" rtlCol="0" anchor="ctr"/>
          <a:lstStyle/>
          <a:p>
            <a:pPr marL="0" indent="0" algn="r">
              <a:buNone/>
            </a:pPr>
            <a:r>
              <a:rPr lang="en-US" sz="1100" b="1" dirty="0">
                <a:solidFill>
                  <a:srgbClr val="222222"/>
                </a:solidFill>
              </a:rPr>
              <a:t>120</a:t>
            </a:r>
            <a:endParaRPr lang="en-US" sz="1100" dirty="0"/>
          </a:p>
        </p:txBody>
      </p:sp>
      <p:sp>
        <p:nvSpPr>
          <p:cNvPr id="148" name="Shape 18">
            <a:extLst>
              <a:ext uri="{FF2B5EF4-FFF2-40B4-BE49-F238E27FC236}">
                <a16:creationId xmlns:a16="http://schemas.microsoft.com/office/drawing/2014/main" id="{46A6AF82-B3F3-4370-81A7-B1795B21FB62}"/>
              </a:ext>
            </a:extLst>
          </p:cNvPr>
          <p:cNvSpPr/>
          <p:nvPr/>
        </p:nvSpPr>
        <p:spPr>
          <a:xfrm>
            <a:off x="548640" y="2734056"/>
            <a:ext cx="3474720" cy="347472"/>
          </a:xfrm>
          <a:prstGeom prst="roundRect">
            <a:avLst>
              <a:gd name="adj" fmla="val 10526"/>
            </a:avLst>
          </a:prstGeom>
          <a:solidFill>
            <a:srgbClr val="EFF6FF"/>
          </a:solidFill>
          <a:ln w="6350">
            <a:solidFill>
              <a:srgbClr val="CBD5E1"/>
            </a:solidFill>
            <a:prstDash val="solid"/>
          </a:ln>
        </p:spPr>
      </p:sp>
      <p:sp>
        <p:nvSpPr>
          <p:cNvPr id="149" name="Text 19">
            <a:extLst>
              <a:ext uri="{FF2B5EF4-FFF2-40B4-BE49-F238E27FC236}">
                <a16:creationId xmlns:a16="http://schemas.microsoft.com/office/drawing/2014/main" id="{A6409377-5484-4B36-9E7B-5909ABAD9559}"/>
              </a:ext>
            </a:extLst>
          </p:cNvPr>
          <p:cNvSpPr/>
          <p:nvPr/>
        </p:nvSpPr>
        <p:spPr>
          <a:xfrm>
            <a:off x="640080" y="2734056"/>
            <a:ext cx="1463040" cy="347472"/>
          </a:xfrm>
          <a:prstGeom prst="rect">
            <a:avLst/>
          </a:prstGeom>
          <a:noFill/>
          <a:ln/>
        </p:spPr>
        <p:txBody>
          <a:bodyPr wrap="square" rtlCol="0" anchor="ctr"/>
          <a:lstStyle/>
          <a:p>
            <a:pPr marL="0" indent="0">
              <a:buNone/>
            </a:pPr>
            <a:r>
              <a:rPr lang="en-US" sz="1100" b="1" dirty="0">
                <a:solidFill>
                  <a:srgbClr val="1A3A6B"/>
                </a:solidFill>
              </a:rPr>
              <a:t>Learning Rate</a:t>
            </a:r>
            <a:endParaRPr lang="en-US" sz="1100" dirty="0"/>
          </a:p>
        </p:txBody>
      </p:sp>
      <p:sp>
        <p:nvSpPr>
          <p:cNvPr id="150" name="Text 20">
            <a:extLst>
              <a:ext uri="{FF2B5EF4-FFF2-40B4-BE49-F238E27FC236}">
                <a16:creationId xmlns:a16="http://schemas.microsoft.com/office/drawing/2014/main" id="{AD31E5BC-D451-4F52-B5B4-F42D84B44A03}"/>
              </a:ext>
            </a:extLst>
          </p:cNvPr>
          <p:cNvSpPr/>
          <p:nvPr/>
        </p:nvSpPr>
        <p:spPr>
          <a:xfrm>
            <a:off x="2011680" y="2688336"/>
            <a:ext cx="1828800" cy="347472"/>
          </a:xfrm>
          <a:prstGeom prst="rect">
            <a:avLst/>
          </a:prstGeom>
          <a:noFill/>
          <a:ln/>
        </p:spPr>
        <p:txBody>
          <a:bodyPr wrap="square" rtlCol="0" anchor="ctr"/>
          <a:lstStyle/>
          <a:p>
            <a:pPr marL="0" indent="0" algn="r">
              <a:buNone/>
            </a:pPr>
            <a:r>
              <a:rPr lang="en-US" sz="1100" b="1" dirty="0">
                <a:solidFill>
                  <a:srgbClr val="222222"/>
                </a:solidFill>
              </a:rPr>
              <a:t>0.001 (AdamW)</a:t>
            </a:r>
            <a:endParaRPr lang="en-US" sz="1100" dirty="0"/>
          </a:p>
        </p:txBody>
      </p:sp>
      <p:sp>
        <p:nvSpPr>
          <p:cNvPr id="151" name="Shape 21">
            <a:extLst>
              <a:ext uri="{FF2B5EF4-FFF2-40B4-BE49-F238E27FC236}">
                <a16:creationId xmlns:a16="http://schemas.microsoft.com/office/drawing/2014/main" id="{FBB0EBA5-E4D8-4D76-AAC8-350460D8A387}"/>
              </a:ext>
            </a:extLst>
          </p:cNvPr>
          <p:cNvSpPr/>
          <p:nvPr/>
        </p:nvSpPr>
        <p:spPr>
          <a:xfrm>
            <a:off x="548640" y="3127248"/>
            <a:ext cx="3474720" cy="347472"/>
          </a:xfrm>
          <a:prstGeom prst="roundRect">
            <a:avLst>
              <a:gd name="adj" fmla="val 10526"/>
            </a:avLst>
          </a:prstGeom>
          <a:solidFill>
            <a:srgbClr val="F8FAFC"/>
          </a:solidFill>
          <a:ln w="6350">
            <a:solidFill>
              <a:srgbClr val="CBD5E1"/>
            </a:solidFill>
            <a:prstDash val="solid"/>
          </a:ln>
        </p:spPr>
      </p:sp>
      <p:sp>
        <p:nvSpPr>
          <p:cNvPr id="152" name="Text 22">
            <a:extLst>
              <a:ext uri="{FF2B5EF4-FFF2-40B4-BE49-F238E27FC236}">
                <a16:creationId xmlns:a16="http://schemas.microsoft.com/office/drawing/2014/main" id="{1340508A-427A-4D22-BDFF-201A88AA3C47}"/>
              </a:ext>
            </a:extLst>
          </p:cNvPr>
          <p:cNvSpPr/>
          <p:nvPr/>
        </p:nvSpPr>
        <p:spPr>
          <a:xfrm>
            <a:off x="640080" y="3081528"/>
            <a:ext cx="1463040" cy="347472"/>
          </a:xfrm>
          <a:prstGeom prst="rect">
            <a:avLst/>
          </a:prstGeom>
          <a:noFill/>
          <a:ln/>
        </p:spPr>
        <p:txBody>
          <a:bodyPr wrap="square" rtlCol="0" anchor="ctr"/>
          <a:lstStyle/>
          <a:p>
            <a:pPr marL="0" indent="0">
              <a:buNone/>
            </a:pPr>
            <a:r>
              <a:rPr lang="en-US" sz="1100" b="1" dirty="0">
                <a:solidFill>
                  <a:srgbClr val="1A3A6B"/>
                </a:solidFill>
              </a:rPr>
              <a:t>Batch Size</a:t>
            </a:r>
            <a:endParaRPr lang="en-US" sz="1100" dirty="0"/>
          </a:p>
        </p:txBody>
      </p:sp>
      <p:sp>
        <p:nvSpPr>
          <p:cNvPr id="153" name="Text 23">
            <a:extLst>
              <a:ext uri="{FF2B5EF4-FFF2-40B4-BE49-F238E27FC236}">
                <a16:creationId xmlns:a16="http://schemas.microsoft.com/office/drawing/2014/main" id="{D5DC721E-4F67-4140-AE27-2430B32282DD}"/>
              </a:ext>
            </a:extLst>
          </p:cNvPr>
          <p:cNvSpPr/>
          <p:nvPr/>
        </p:nvSpPr>
        <p:spPr>
          <a:xfrm>
            <a:off x="2103120" y="3081528"/>
            <a:ext cx="1828800" cy="347472"/>
          </a:xfrm>
          <a:prstGeom prst="rect">
            <a:avLst/>
          </a:prstGeom>
          <a:noFill/>
          <a:ln/>
        </p:spPr>
        <p:txBody>
          <a:bodyPr wrap="square" rtlCol="0" anchor="ctr"/>
          <a:lstStyle/>
          <a:p>
            <a:pPr marL="0" indent="0" algn="r">
              <a:buNone/>
            </a:pPr>
            <a:r>
              <a:rPr lang="en-US" sz="1100" b="1" dirty="0">
                <a:solidFill>
                  <a:srgbClr val="222222"/>
                </a:solidFill>
              </a:rPr>
              <a:t>8 gambar</a:t>
            </a:r>
            <a:endParaRPr lang="en-US" sz="1100" dirty="0"/>
          </a:p>
        </p:txBody>
      </p:sp>
      <p:sp>
        <p:nvSpPr>
          <p:cNvPr id="154" name="Shape 24">
            <a:extLst>
              <a:ext uri="{FF2B5EF4-FFF2-40B4-BE49-F238E27FC236}">
                <a16:creationId xmlns:a16="http://schemas.microsoft.com/office/drawing/2014/main" id="{B6001BC7-B9FC-494D-95EE-0C7A25F105A0}"/>
              </a:ext>
            </a:extLst>
          </p:cNvPr>
          <p:cNvSpPr/>
          <p:nvPr/>
        </p:nvSpPr>
        <p:spPr>
          <a:xfrm>
            <a:off x="548640" y="3474720"/>
            <a:ext cx="3474720" cy="347472"/>
          </a:xfrm>
          <a:prstGeom prst="roundRect">
            <a:avLst>
              <a:gd name="adj" fmla="val 10526"/>
            </a:avLst>
          </a:prstGeom>
          <a:solidFill>
            <a:srgbClr val="EFF6FF"/>
          </a:solidFill>
          <a:ln w="6350">
            <a:solidFill>
              <a:srgbClr val="CBD5E1"/>
            </a:solidFill>
            <a:prstDash val="solid"/>
          </a:ln>
        </p:spPr>
      </p:sp>
      <p:sp>
        <p:nvSpPr>
          <p:cNvPr id="155" name="Text 25">
            <a:extLst>
              <a:ext uri="{FF2B5EF4-FFF2-40B4-BE49-F238E27FC236}">
                <a16:creationId xmlns:a16="http://schemas.microsoft.com/office/drawing/2014/main" id="{2C37847D-2897-4F22-A819-E2FAA1CDB372}"/>
              </a:ext>
            </a:extLst>
          </p:cNvPr>
          <p:cNvSpPr/>
          <p:nvPr/>
        </p:nvSpPr>
        <p:spPr>
          <a:xfrm>
            <a:off x="640080" y="3474720"/>
            <a:ext cx="1463040" cy="347472"/>
          </a:xfrm>
          <a:prstGeom prst="rect">
            <a:avLst/>
          </a:prstGeom>
          <a:noFill/>
          <a:ln/>
        </p:spPr>
        <p:txBody>
          <a:bodyPr wrap="square" rtlCol="0" anchor="ctr"/>
          <a:lstStyle/>
          <a:p>
            <a:pPr marL="0" indent="0">
              <a:buNone/>
            </a:pPr>
            <a:r>
              <a:rPr lang="en-US" sz="1100" b="1" dirty="0">
                <a:solidFill>
                  <a:srgbClr val="1A3A6B"/>
                </a:solidFill>
              </a:rPr>
              <a:t>Image Size</a:t>
            </a:r>
            <a:endParaRPr lang="en-US" sz="1100" dirty="0"/>
          </a:p>
        </p:txBody>
      </p:sp>
      <p:sp>
        <p:nvSpPr>
          <p:cNvPr id="156" name="Text 26">
            <a:extLst>
              <a:ext uri="{FF2B5EF4-FFF2-40B4-BE49-F238E27FC236}">
                <a16:creationId xmlns:a16="http://schemas.microsoft.com/office/drawing/2014/main" id="{E0630CD3-15F2-46F9-A529-0857FA6D75DE}"/>
              </a:ext>
            </a:extLst>
          </p:cNvPr>
          <p:cNvSpPr/>
          <p:nvPr/>
        </p:nvSpPr>
        <p:spPr>
          <a:xfrm>
            <a:off x="2057400" y="3474720"/>
            <a:ext cx="1828800" cy="347472"/>
          </a:xfrm>
          <a:prstGeom prst="rect">
            <a:avLst/>
          </a:prstGeom>
          <a:noFill/>
          <a:ln/>
        </p:spPr>
        <p:txBody>
          <a:bodyPr wrap="square" rtlCol="0" anchor="ctr"/>
          <a:lstStyle/>
          <a:p>
            <a:pPr marL="0" indent="0" algn="r">
              <a:buNone/>
            </a:pPr>
            <a:r>
              <a:rPr lang="en-US" sz="1100" b="1" dirty="0">
                <a:solidFill>
                  <a:srgbClr val="222222"/>
                </a:solidFill>
              </a:rPr>
              <a:t>640 × 640 px</a:t>
            </a:r>
            <a:endParaRPr lang="en-US" sz="1100" dirty="0"/>
          </a:p>
        </p:txBody>
      </p:sp>
      <p:sp>
        <p:nvSpPr>
          <p:cNvPr id="157" name="Shape 27">
            <a:extLst>
              <a:ext uri="{FF2B5EF4-FFF2-40B4-BE49-F238E27FC236}">
                <a16:creationId xmlns:a16="http://schemas.microsoft.com/office/drawing/2014/main" id="{78240A19-0D9E-4F32-8A93-0DFE7C1AF7B4}"/>
              </a:ext>
            </a:extLst>
          </p:cNvPr>
          <p:cNvSpPr/>
          <p:nvPr/>
        </p:nvSpPr>
        <p:spPr>
          <a:xfrm>
            <a:off x="548640" y="3867912"/>
            <a:ext cx="3474720" cy="347472"/>
          </a:xfrm>
          <a:prstGeom prst="roundRect">
            <a:avLst>
              <a:gd name="adj" fmla="val 10526"/>
            </a:avLst>
          </a:prstGeom>
          <a:solidFill>
            <a:srgbClr val="F8FAFC"/>
          </a:solidFill>
          <a:ln w="6350">
            <a:solidFill>
              <a:srgbClr val="CBD5E1"/>
            </a:solidFill>
            <a:prstDash val="solid"/>
          </a:ln>
        </p:spPr>
      </p:sp>
      <p:sp>
        <p:nvSpPr>
          <p:cNvPr id="158" name="Text 28">
            <a:extLst>
              <a:ext uri="{FF2B5EF4-FFF2-40B4-BE49-F238E27FC236}">
                <a16:creationId xmlns:a16="http://schemas.microsoft.com/office/drawing/2014/main" id="{94B98DFA-34D2-4483-A594-198DD4CB3E86}"/>
              </a:ext>
            </a:extLst>
          </p:cNvPr>
          <p:cNvSpPr/>
          <p:nvPr/>
        </p:nvSpPr>
        <p:spPr>
          <a:xfrm>
            <a:off x="640080" y="3867912"/>
            <a:ext cx="1463040" cy="347472"/>
          </a:xfrm>
          <a:prstGeom prst="rect">
            <a:avLst/>
          </a:prstGeom>
          <a:noFill/>
          <a:ln/>
        </p:spPr>
        <p:txBody>
          <a:bodyPr wrap="square" rtlCol="0" anchor="ctr"/>
          <a:lstStyle/>
          <a:p>
            <a:pPr marL="0" indent="0">
              <a:buNone/>
            </a:pPr>
            <a:r>
              <a:rPr lang="en-US" sz="1100" b="1" dirty="0">
                <a:solidFill>
                  <a:srgbClr val="1A3A6B"/>
                </a:solidFill>
              </a:rPr>
              <a:t>Patience</a:t>
            </a:r>
            <a:endParaRPr lang="en-US" sz="1100" dirty="0"/>
          </a:p>
        </p:txBody>
      </p:sp>
      <p:sp>
        <p:nvSpPr>
          <p:cNvPr id="159" name="Text 29">
            <a:extLst>
              <a:ext uri="{FF2B5EF4-FFF2-40B4-BE49-F238E27FC236}">
                <a16:creationId xmlns:a16="http://schemas.microsoft.com/office/drawing/2014/main" id="{E3619297-D1EC-4AC3-9489-7F948A57724B}"/>
              </a:ext>
            </a:extLst>
          </p:cNvPr>
          <p:cNvSpPr/>
          <p:nvPr/>
        </p:nvSpPr>
        <p:spPr>
          <a:xfrm>
            <a:off x="2057400" y="3867912"/>
            <a:ext cx="1828800" cy="347472"/>
          </a:xfrm>
          <a:prstGeom prst="rect">
            <a:avLst/>
          </a:prstGeom>
          <a:noFill/>
          <a:ln/>
        </p:spPr>
        <p:txBody>
          <a:bodyPr wrap="square" rtlCol="0" anchor="ctr"/>
          <a:lstStyle/>
          <a:p>
            <a:pPr marL="0" indent="0" algn="r">
              <a:buNone/>
            </a:pPr>
            <a:r>
              <a:rPr lang="en-US" sz="1100" b="1" dirty="0">
                <a:solidFill>
                  <a:srgbClr val="222222"/>
                </a:solidFill>
              </a:rPr>
              <a:t>40–100 epoch</a:t>
            </a:r>
            <a:endParaRPr lang="en-US" sz="1100" dirty="0"/>
          </a:p>
        </p:txBody>
      </p:sp>
      <p:sp>
        <p:nvSpPr>
          <p:cNvPr id="160" name="Shape 30">
            <a:extLst>
              <a:ext uri="{FF2B5EF4-FFF2-40B4-BE49-F238E27FC236}">
                <a16:creationId xmlns:a16="http://schemas.microsoft.com/office/drawing/2014/main" id="{30AB37C6-DB2A-4563-8282-8D6FDE328D70}"/>
              </a:ext>
            </a:extLst>
          </p:cNvPr>
          <p:cNvSpPr/>
          <p:nvPr/>
        </p:nvSpPr>
        <p:spPr>
          <a:xfrm>
            <a:off x="548640" y="4261104"/>
            <a:ext cx="3474720" cy="347472"/>
          </a:xfrm>
          <a:prstGeom prst="roundRect">
            <a:avLst>
              <a:gd name="adj" fmla="val 10526"/>
            </a:avLst>
          </a:prstGeom>
          <a:solidFill>
            <a:srgbClr val="EFF6FF"/>
          </a:solidFill>
          <a:ln w="6350">
            <a:solidFill>
              <a:srgbClr val="CBD5E1"/>
            </a:solidFill>
            <a:prstDash val="solid"/>
          </a:ln>
        </p:spPr>
      </p:sp>
      <p:sp>
        <p:nvSpPr>
          <p:cNvPr id="161" name="Text 31">
            <a:extLst>
              <a:ext uri="{FF2B5EF4-FFF2-40B4-BE49-F238E27FC236}">
                <a16:creationId xmlns:a16="http://schemas.microsoft.com/office/drawing/2014/main" id="{85412E87-B981-4B71-B508-749FEBA561B5}"/>
              </a:ext>
            </a:extLst>
          </p:cNvPr>
          <p:cNvSpPr/>
          <p:nvPr/>
        </p:nvSpPr>
        <p:spPr>
          <a:xfrm>
            <a:off x="640080" y="4261104"/>
            <a:ext cx="1463040" cy="347472"/>
          </a:xfrm>
          <a:prstGeom prst="rect">
            <a:avLst/>
          </a:prstGeom>
          <a:noFill/>
          <a:ln/>
        </p:spPr>
        <p:txBody>
          <a:bodyPr wrap="square" rtlCol="0" anchor="ctr"/>
          <a:lstStyle/>
          <a:p>
            <a:pPr marL="0" indent="0">
              <a:buNone/>
            </a:pPr>
            <a:r>
              <a:rPr lang="en-US" sz="1100" b="1" dirty="0">
                <a:solidFill>
                  <a:srgbClr val="1A3A6B"/>
                </a:solidFill>
              </a:rPr>
              <a:t>Warmup</a:t>
            </a:r>
            <a:endParaRPr lang="en-US" sz="1100" dirty="0"/>
          </a:p>
        </p:txBody>
      </p:sp>
      <p:sp>
        <p:nvSpPr>
          <p:cNvPr id="162" name="Text 32">
            <a:extLst>
              <a:ext uri="{FF2B5EF4-FFF2-40B4-BE49-F238E27FC236}">
                <a16:creationId xmlns:a16="http://schemas.microsoft.com/office/drawing/2014/main" id="{2A3E11F8-9CA8-44B8-9BDB-0F32B0D5D1C6}"/>
              </a:ext>
            </a:extLst>
          </p:cNvPr>
          <p:cNvSpPr/>
          <p:nvPr/>
        </p:nvSpPr>
        <p:spPr>
          <a:xfrm>
            <a:off x="2057400" y="4261104"/>
            <a:ext cx="1828800" cy="347472"/>
          </a:xfrm>
          <a:prstGeom prst="rect">
            <a:avLst/>
          </a:prstGeom>
          <a:noFill/>
          <a:ln/>
        </p:spPr>
        <p:txBody>
          <a:bodyPr wrap="square" rtlCol="0" anchor="ctr"/>
          <a:lstStyle/>
          <a:p>
            <a:pPr marL="0" indent="0" algn="r">
              <a:buNone/>
            </a:pPr>
            <a:r>
              <a:rPr lang="en-US" sz="1100" b="1" dirty="0">
                <a:solidFill>
                  <a:srgbClr val="222222"/>
                </a:solidFill>
              </a:rPr>
              <a:t>3 epoch awal</a:t>
            </a:r>
            <a:endParaRPr lang="en-US" sz="1100" dirty="0"/>
          </a:p>
        </p:txBody>
      </p:sp>
      <p:sp>
        <p:nvSpPr>
          <p:cNvPr id="163" name="Shape 33">
            <a:extLst>
              <a:ext uri="{FF2B5EF4-FFF2-40B4-BE49-F238E27FC236}">
                <a16:creationId xmlns:a16="http://schemas.microsoft.com/office/drawing/2014/main" id="{11E34202-BDB0-40EA-9628-BE30B87A60CD}"/>
              </a:ext>
            </a:extLst>
          </p:cNvPr>
          <p:cNvSpPr/>
          <p:nvPr/>
        </p:nvSpPr>
        <p:spPr>
          <a:xfrm>
            <a:off x="548640" y="4654296"/>
            <a:ext cx="3474720" cy="347472"/>
          </a:xfrm>
          <a:prstGeom prst="roundRect">
            <a:avLst>
              <a:gd name="adj" fmla="val 10526"/>
            </a:avLst>
          </a:prstGeom>
          <a:solidFill>
            <a:srgbClr val="F8FAFC"/>
          </a:solidFill>
          <a:ln w="6350">
            <a:solidFill>
              <a:srgbClr val="CBD5E1"/>
            </a:solidFill>
            <a:prstDash val="solid"/>
          </a:ln>
        </p:spPr>
      </p:sp>
      <p:sp>
        <p:nvSpPr>
          <p:cNvPr id="164" name="Text 34">
            <a:extLst>
              <a:ext uri="{FF2B5EF4-FFF2-40B4-BE49-F238E27FC236}">
                <a16:creationId xmlns:a16="http://schemas.microsoft.com/office/drawing/2014/main" id="{C90B9411-9835-4152-B746-20A9C964B9EF}"/>
              </a:ext>
            </a:extLst>
          </p:cNvPr>
          <p:cNvSpPr/>
          <p:nvPr/>
        </p:nvSpPr>
        <p:spPr>
          <a:xfrm>
            <a:off x="640080" y="4654296"/>
            <a:ext cx="1463040" cy="347472"/>
          </a:xfrm>
          <a:prstGeom prst="rect">
            <a:avLst/>
          </a:prstGeom>
          <a:noFill/>
          <a:ln/>
        </p:spPr>
        <p:txBody>
          <a:bodyPr wrap="square" rtlCol="0" anchor="ctr"/>
          <a:lstStyle/>
          <a:p>
            <a:pPr marL="0" indent="0">
              <a:buNone/>
            </a:pPr>
            <a:r>
              <a:rPr lang="en-US" sz="1100" b="1" dirty="0">
                <a:solidFill>
                  <a:srgbClr val="1A3A6B"/>
                </a:solidFill>
              </a:rPr>
              <a:t>Scheduler</a:t>
            </a:r>
            <a:endParaRPr lang="en-US" sz="1100" dirty="0"/>
          </a:p>
        </p:txBody>
      </p:sp>
      <p:sp>
        <p:nvSpPr>
          <p:cNvPr id="165" name="Text 35">
            <a:extLst>
              <a:ext uri="{FF2B5EF4-FFF2-40B4-BE49-F238E27FC236}">
                <a16:creationId xmlns:a16="http://schemas.microsoft.com/office/drawing/2014/main" id="{5CC817B4-F25D-4EB7-A25C-53D798C7AFEF}"/>
              </a:ext>
            </a:extLst>
          </p:cNvPr>
          <p:cNvSpPr/>
          <p:nvPr/>
        </p:nvSpPr>
        <p:spPr>
          <a:xfrm>
            <a:off x="2057400" y="4654296"/>
            <a:ext cx="1828800" cy="347472"/>
          </a:xfrm>
          <a:prstGeom prst="rect">
            <a:avLst/>
          </a:prstGeom>
          <a:noFill/>
          <a:ln/>
        </p:spPr>
        <p:txBody>
          <a:bodyPr wrap="square" rtlCol="0" anchor="ctr"/>
          <a:lstStyle/>
          <a:p>
            <a:pPr marL="0" indent="0" algn="r">
              <a:buNone/>
            </a:pPr>
            <a:r>
              <a:rPr lang="en-US" sz="1100" b="1" dirty="0">
                <a:solidFill>
                  <a:srgbClr val="222222"/>
                </a:solidFill>
              </a:rPr>
              <a:t>Cosine Annealing</a:t>
            </a:r>
            <a:endParaRPr lang="en-US" sz="1100" dirty="0"/>
          </a:p>
        </p:txBody>
      </p:sp>
      <p:pic>
        <p:nvPicPr>
          <p:cNvPr id="167" name="Picture 166">
            <a:extLst>
              <a:ext uri="{FF2B5EF4-FFF2-40B4-BE49-F238E27FC236}">
                <a16:creationId xmlns:a16="http://schemas.microsoft.com/office/drawing/2014/main" id="{E4083DD3-569C-499D-A83C-519E213A9646}"/>
              </a:ext>
            </a:extLst>
          </p:cNvPr>
          <p:cNvPicPr>
            <a:picLocks noChangeAspect="1"/>
          </p:cNvPicPr>
          <p:nvPr/>
        </p:nvPicPr>
        <p:blipFill>
          <a:blip r:embed="rId3"/>
          <a:stretch>
            <a:fillRect/>
          </a:stretch>
        </p:blipFill>
        <p:spPr>
          <a:xfrm>
            <a:off x="4854683" y="1292843"/>
            <a:ext cx="2466603" cy="1729165"/>
          </a:xfrm>
          <a:prstGeom prst="rect">
            <a:avLst/>
          </a:prstGeom>
        </p:spPr>
      </p:pic>
      <p:pic>
        <p:nvPicPr>
          <p:cNvPr id="169" name="Picture 168">
            <a:extLst>
              <a:ext uri="{FF2B5EF4-FFF2-40B4-BE49-F238E27FC236}">
                <a16:creationId xmlns:a16="http://schemas.microsoft.com/office/drawing/2014/main" id="{C6C4C535-9E82-49AE-9E37-8ED6C89ED32D}"/>
              </a:ext>
            </a:extLst>
          </p:cNvPr>
          <p:cNvPicPr>
            <a:picLocks noChangeAspect="1"/>
          </p:cNvPicPr>
          <p:nvPr/>
        </p:nvPicPr>
        <p:blipFill>
          <a:blip r:embed="rId4"/>
          <a:stretch>
            <a:fillRect/>
          </a:stretch>
        </p:blipFill>
        <p:spPr>
          <a:xfrm>
            <a:off x="4931674" y="3022008"/>
            <a:ext cx="2109206" cy="1844610"/>
          </a:xfrm>
          <a:prstGeom prst="rect">
            <a:avLst/>
          </a:prstGeom>
        </p:spPr>
      </p:pic>
    </p:spTree>
    <p:extLst>
      <p:ext uri="{BB962C8B-B14F-4D97-AF65-F5344CB8AC3E}">
        <p14:creationId xmlns:p14="http://schemas.microsoft.com/office/powerpoint/2010/main" val="17450659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1800" b="1" dirty="0">
                <a:solidFill>
                  <a:srgbClr val="FFFFFF"/>
                </a:solidFill>
              </a:rPr>
              <a:t>JEMBATAN PENGHUBUNG: EKSTRAKSI 6 FITUR GLOBAL</a:t>
            </a:r>
            <a:endParaRPr lang="en-US" sz="1800" dirty="0"/>
          </a:p>
        </p:txBody>
      </p:sp>
      <p:sp>
        <p:nvSpPr>
          <p:cNvPr id="3" name="Text 1"/>
          <p:cNvSpPr/>
          <p:nvPr/>
        </p:nvSpPr>
        <p:spPr>
          <a:xfrm>
            <a:off x="457200" y="685800"/>
            <a:ext cx="8229600" cy="320040"/>
          </a:xfrm>
          <a:prstGeom prst="rect">
            <a:avLst/>
          </a:prstGeom>
          <a:noFill/>
          <a:ln/>
        </p:spPr>
        <p:txBody>
          <a:bodyPr wrap="square" rtlCol="0" anchor="ctr"/>
          <a:lstStyle/>
          <a:p>
            <a:pPr marL="0" indent="0">
              <a:buNone/>
            </a:pPr>
            <a:r>
              <a:rPr lang="en-US" sz="1200" dirty="0">
                <a:solidFill>
                  <a:srgbClr val="94A3B8"/>
                </a:solidFill>
              </a:rPr>
              <a:t>YOLO menghasilkan bounding box → 6 angka ini yang masuk ke Random Forest</a:t>
            </a:r>
            <a:endParaRPr lang="en-US" sz="1200" dirty="0"/>
          </a:p>
        </p:txBody>
      </p:sp>
      <p:sp>
        <p:nvSpPr>
          <p:cNvPr id="4" name="Shape 2"/>
          <p:cNvSpPr/>
          <p:nvPr/>
        </p:nvSpPr>
        <p:spPr>
          <a:xfrm>
            <a:off x="182880" y="1143000"/>
            <a:ext cx="2788920" cy="1737360"/>
          </a:xfrm>
          <a:prstGeom prst="roundRect">
            <a:avLst>
              <a:gd name="adj" fmla="val 5263"/>
            </a:avLst>
          </a:prstGeom>
          <a:solidFill>
            <a:srgbClr val="0D9488">
              <a:alpha val="25000"/>
            </a:srgbClr>
          </a:solidFill>
          <a:ln w="12700">
            <a:solidFill>
              <a:srgbClr val="0D9488"/>
            </a:solidFill>
            <a:prstDash val="solid"/>
          </a:ln>
        </p:spPr>
      </p:sp>
      <p:sp>
        <p:nvSpPr>
          <p:cNvPr id="5" name="Text 3"/>
          <p:cNvSpPr/>
          <p:nvPr/>
        </p:nvSpPr>
        <p:spPr>
          <a:xfrm>
            <a:off x="320040" y="1252728"/>
            <a:ext cx="2514600" cy="347472"/>
          </a:xfrm>
          <a:prstGeom prst="rect">
            <a:avLst/>
          </a:prstGeom>
          <a:noFill/>
          <a:ln/>
        </p:spPr>
        <p:txBody>
          <a:bodyPr wrap="square" rtlCol="0" anchor="ctr"/>
          <a:lstStyle/>
          <a:p>
            <a:pPr marL="0" indent="0">
              <a:buNone/>
            </a:pPr>
            <a:r>
              <a:rPr lang="en-US" sz="1200" b="1" dirty="0">
                <a:solidFill>
                  <a:srgbClr val="FFFFFF"/>
                </a:solidFill>
              </a:rPr>
              <a:t>  coverage_percent</a:t>
            </a:r>
            <a:endParaRPr lang="en-US" sz="1200" dirty="0"/>
          </a:p>
        </p:txBody>
      </p:sp>
      <p:sp>
        <p:nvSpPr>
          <p:cNvPr id="6" name="Shape 4"/>
          <p:cNvSpPr/>
          <p:nvPr/>
        </p:nvSpPr>
        <p:spPr>
          <a:xfrm>
            <a:off x="274320" y="1618488"/>
            <a:ext cx="2606040" cy="365760"/>
          </a:xfrm>
          <a:prstGeom prst="roundRect">
            <a:avLst>
              <a:gd name="adj" fmla="val 12500"/>
            </a:avLst>
          </a:prstGeom>
          <a:solidFill>
            <a:srgbClr val="0A1628">
              <a:alpha val="70000"/>
            </a:srgbClr>
          </a:solidFill>
          <a:ln w="12700">
            <a:solidFill>
              <a:srgbClr val="FFFFFF"/>
            </a:solidFill>
            <a:prstDash val="solid"/>
          </a:ln>
        </p:spPr>
      </p:sp>
      <p:sp>
        <p:nvSpPr>
          <p:cNvPr id="7" name="Text 5"/>
          <p:cNvSpPr/>
          <p:nvPr/>
        </p:nvSpPr>
        <p:spPr>
          <a:xfrm>
            <a:off x="274320" y="161848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Σ(luas_box) / luas_gambar × 100</a:t>
            </a:r>
            <a:endParaRPr lang="en-US" sz="950" dirty="0"/>
          </a:p>
        </p:txBody>
      </p:sp>
      <p:sp>
        <p:nvSpPr>
          <p:cNvPr id="8" name="Text 6"/>
          <p:cNvSpPr/>
          <p:nvPr/>
        </p:nvSpPr>
        <p:spPr>
          <a:xfrm>
            <a:off x="274320" y="2057400"/>
            <a:ext cx="2606040" cy="749808"/>
          </a:xfrm>
          <a:prstGeom prst="rect">
            <a:avLst/>
          </a:prstGeom>
          <a:noFill/>
          <a:ln/>
        </p:spPr>
        <p:txBody>
          <a:bodyPr wrap="square" rtlCol="0" anchor="ctr"/>
          <a:lstStyle/>
          <a:p>
            <a:pPr marL="0" indent="0">
              <a:buNone/>
            </a:pPr>
            <a:r>
              <a:rPr lang="en-US" sz="1050" dirty="0">
                <a:solidFill>
                  <a:srgbClr val="CBD5E1"/>
                </a:solidFill>
              </a:rPr>
              <a:t>Berapa persen area gambar tertutup sampah? Semakin besar = semakin penuh.</a:t>
            </a:r>
            <a:endParaRPr lang="en-US" sz="1050" dirty="0"/>
          </a:p>
        </p:txBody>
      </p:sp>
      <p:sp>
        <p:nvSpPr>
          <p:cNvPr id="9" name="Shape 7"/>
          <p:cNvSpPr/>
          <p:nvPr/>
        </p:nvSpPr>
        <p:spPr>
          <a:xfrm>
            <a:off x="3154680" y="1143000"/>
            <a:ext cx="2788920" cy="1737360"/>
          </a:xfrm>
          <a:prstGeom prst="roundRect">
            <a:avLst>
              <a:gd name="adj" fmla="val 5263"/>
            </a:avLst>
          </a:prstGeom>
          <a:solidFill>
            <a:srgbClr val="8B5CF6">
              <a:alpha val="25000"/>
            </a:srgbClr>
          </a:solidFill>
          <a:ln w="12700">
            <a:solidFill>
              <a:srgbClr val="8B5CF6"/>
            </a:solidFill>
            <a:prstDash val="solid"/>
          </a:ln>
        </p:spPr>
      </p:sp>
      <p:sp>
        <p:nvSpPr>
          <p:cNvPr id="10" name="Text 8"/>
          <p:cNvSpPr/>
          <p:nvPr/>
        </p:nvSpPr>
        <p:spPr>
          <a:xfrm>
            <a:off x="3291840" y="1252728"/>
            <a:ext cx="2514600" cy="347472"/>
          </a:xfrm>
          <a:prstGeom prst="rect">
            <a:avLst/>
          </a:prstGeom>
          <a:noFill/>
          <a:ln/>
        </p:spPr>
        <p:txBody>
          <a:bodyPr wrap="square" rtlCol="0" anchor="ctr"/>
          <a:lstStyle/>
          <a:p>
            <a:pPr marL="0" indent="0">
              <a:buNone/>
            </a:pPr>
            <a:r>
              <a:rPr lang="en-US" sz="1200" b="1" dirty="0">
                <a:solidFill>
                  <a:srgbClr val="FFFFFF"/>
                </a:solidFill>
              </a:rPr>
              <a:t>  object_count</a:t>
            </a:r>
            <a:endParaRPr lang="en-US" sz="1200" dirty="0"/>
          </a:p>
        </p:txBody>
      </p:sp>
      <p:sp>
        <p:nvSpPr>
          <p:cNvPr id="11" name="Shape 9"/>
          <p:cNvSpPr/>
          <p:nvPr/>
        </p:nvSpPr>
        <p:spPr>
          <a:xfrm>
            <a:off x="3246120" y="1618488"/>
            <a:ext cx="2606040" cy="365760"/>
          </a:xfrm>
          <a:prstGeom prst="roundRect">
            <a:avLst>
              <a:gd name="adj" fmla="val 12500"/>
            </a:avLst>
          </a:prstGeom>
          <a:solidFill>
            <a:srgbClr val="0A1628">
              <a:alpha val="70000"/>
            </a:srgbClr>
          </a:solidFill>
          <a:ln w="12700">
            <a:solidFill>
              <a:srgbClr val="FFFFFF"/>
            </a:solidFill>
            <a:prstDash val="solid"/>
          </a:ln>
        </p:spPr>
      </p:sp>
      <p:sp>
        <p:nvSpPr>
          <p:cNvPr id="12" name="Text 10"/>
          <p:cNvSpPr/>
          <p:nvPr/>
        </p:nvSpPr>
        <p:spPr>
          <a:xfrm>
            <a:off x="3246120" y="161848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len(detections)</a:t>
            </a:r>
            <a:endParaRPr lang="en-US" sz="950" dirty="0"/>
          </a:p>
        </p:txBody>
      </p:sp>
      <p:sp>
        <p:nvSpPr>
          <p:cNvPr id="13" name="Text 11"/>
          <p:cNvSpPr/>
          <p:nvPr/>
        </p:nvSpPr>
        <p:spPr>
          <a:xfrm>
            <a:off x="3246120" y="2057400"/>
            <a:ext cx="2606040" cy="749808"/>
          </a:xfrm>
          <a:prstGeom prst="rect">
            <a:avLst/>
          </a:prstGeom>
          <a:noFill/>
          <a:ln/>
        </p:spPr>
        <p:txBody>
          <a:bodyPr wrap="square" rtlCol="0" anchor="ctr"/>
          <a:lstStyle/>
          <a:p>
            <a:pPr marL="0" indent="0">
              <a:buNone/>
            </a:pPr>
            <a:r>
              <a:rPr lang="en-US" sz="1050" dirty="0">
                <a:solidFill>
                  <a:srgbClr val="CBD5E1"/>
                </a:solidFill>
              </a:rPr>
              <a:t>Jumlah total objek sampah yang terdeteksi YOLO di gambar.</a:t>
            </a:r>
            <a:endParaRPr lang="en-US" sz="1050" dirty="0"/>
          </a:p>
        </p:txBody>
      </p:sp>
      <p:sp>
        <p:nvSpPr>
          <p:cNvPr id="14" name="Shape 12"/>
          <p:cNvSpPr/>
          <p:nvPr/>
        </p:nvSpPr>
        <p:spPr>
          <a:xfrm>
            <a:off x="6126480" y="1143000"/>
            <a:ext cx="2788920" cy="1737360"/>
          </a:xfrm>
          <a:prstGeom prst="roundRect">
            <a:avLst>
              <a:gd name="adj" fmla="val 5263"/>
            </a:avLst>
          </a:prstGeom>
          <a:solidFill>
            <a:srgbClr val="0369A1">
              <a:alpha val="25000"/>
            </a:srgbClr>
          </a:solidFill>
          <a:ln w="12700">
            <a:solidFill>
              <a:srgbClr val="0369A1"/>
            </a:solidFill>
            <a:prstDash val="solid"/>
          </a:ln>
        </p:spPr>
      </p:sp>
      <p:sp>
        <p:nvSpPr>
          <p:cNvPr id="15" name="Text 13"/>
          <p:cNvSpPr/>
          <p:nvPr/>
        </p:nvSpPr>
        <p:spPr>
          <a:xfrm>
            <a:off x="6263640" y="1252728"/>
            <a:ext cx="2514600" cy="347472"/>
          </a:xfrm>
          <a:prstGeom prst="rect">
            <a:avLst/>
          </a:prstGeom>
          <a:noFill/>
          <a:ln/>
        </p:spPr>
        <p:txBody>
          <a:bodyPr wrap="square" rtlCol="0" anchor="ctr"/>
          <a:lstStyle/>
          <a:p>
            <a:pPr marL="0" indent="0">
              <a:buNone/>
            </a:pPr>
            <a:r>
              <a:rPr lang="en-US" sz="1200" b="1" dirty="0">
                <a:solidFill>
                  <a:srgbClr val="FFFFFF"/>
                </a:solidFill>
              </a:rPr>
              <a:t>  height_ratio</a:t>
            </a:r>
            <a:endParaRPr lang="en-US" sz="1200" dirty="0"/>
          </a:p>
        </p:txBody>
      </p:sp>
      <p:sp>
        <p:nvSpPr>
          <p:cNvPr id="16" name="Shape 14"/>
          <p:cNvSpPr/>
          <p:nvPr/>
        </p:nvSpPr>
        <p:spPr>
          <a:xfrm>
            <a:off x="6217920" y="1618488"/>
            <a:ext cx="2606040" cy="365760"/>
          </a:xfrm>
          <a:prstGeom prst="roundRect">
            <a:avLst>
              <a:gd name="adj" fmla="val 12500"/>
            </a:avLst>
          </a:prstGeom>
          <a:solidFill>
            <a:srgbClr val="0A1628">
              <a:alpha val="70000"/>
            </a:srgbClr>
          </a:solidFill>
          <a:ln w="12700">
            <a:solidFill>
              <a:srgbClr val="FFFFFF"/>
            </a:solidFill>
            <a:prstDash val="solid"/>
          </a:ln>
        </p:spPr>
      </p:sp>
      <p:sp>
        <p:nvSpPr>
          <p:cNvPr id="17" name="Text 15"/>
          <p:cNvSpPr/>
          <p:nvPr/>
        </p:nvSpPr>
        <p:spPr>
          <a:xfrm>
            <a:off x="6217920" y="161848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rata-rata(tinggi_box / tinggi_gambar)</a:t>
            </a:r>
            <a:endParaRPr lang="en-US" sz="950" dirty="0"/>
          </a:p>
        </p:txBody>
      </p:sp>
      <p:sp>
        <p:nvSpPr>
          <p:cNvPr id="18" name="Text 16"/>
          <p:cNvSpPr/>
          <p:nvPr/>
        </p:nvSpPr>
        <p:spPr>
          <a:xfrm>
            <a:off x="6217920" y="2057400"/>
            <a:ext cx="2606040" cy="749808"/>
          </a:xfrm>
          <a:prstGeom prst="rect">
            <a:avLst/>
          </a:prstGeom>
          <a:noFill/>
          <a:ln/>
        </p:spPr>
        <p:txBody>
          <a:bodyPr wrap="square" rtlCol="0" anchor="ctr"/>
          <a:lstStyle/>
          <a:p>
            <a:pPr marL="0" indent="0">
              <a:buNone/>
            </a:pPr>
            <a:r>
              <a:rPr lang="en-US" sz="1050" dirty="0">
                <a:solidFill>
                  <a:srgbClr val="CBD5E1"/>
                </a:solidFill>
              </a:rPr>
              <a:t>Seberapa tinggi rata-rata objek relatif terhadap gambar.</a:t>
            </a:r>
            <a:endParaRPr lang="en-US" sz="1050" dirty="0"/>
          </a:p>
        </p:txBody>
      </p:sp>
      <p:sp>
        <p:nvSpPr>
          <p:cNvPr id="19" name="Shape 17"/>
          <p:cNvSpPr/>
          <p:nvPr/>
        </p:nvSpPr>
        <p:spPr>
          <a:xfrm>
            <a:off x="182880" y="3063240"/>
            <a:ext cx="2788920" cy="1737360"/>
          </a:xfrm>
          <a:prstGeom prst="roundRect">
            <a:avLst>
              <a:gd name="adj" fmla="val 5263"/>
            </a:avLst>
          </a:prstGeom>
          <a:solidFill>
            <a:srgbClr val="B45309">
              <a:alpha val="25000"/>
            </a:srgbClr>
          </a:solidFill>
          <a:ln w="12700">
            <a:solidFill>
              <a:srgbClr val="B45309"/>
            </a:solidFill>
            <a:prstDash val="solid"/>
          </a:ln>
        </p:spPr>
      </p:sp>
      <p:sp>
        <p:nvSpPr>
          <p:cNvPr id="20" name="Text 18"/>
          <p:cNvSpPr/>
          <p:nvPr/>
        </p:nvSpPr>
        <p:spPr>
          <a:xfrm>
            <a:off x="320040" y="3172968"/>
            <a:ext cx="2514600" cy="347472"/>
          </a:xfrm>
          <a:prstGeom prst="rect">
            <a:avLst/>
          </a:prstGeom>
          <a:noFill/>
          <a:ln/>
        </p:spPr>
        <p:txBody>
          <a:bodyPr wrap="square" rtlCol="0" anchor="ctr"/>
          <a:lstStyle/>
          <a:p>
            <a:pPr marL="0" indent="0">
              <a:buNone/>
            </a:pPr>
            <a:r>
              <a:rPr lang="en-US" sz="1200" b="1" dirty="0">
                <a:solidFill>
                  <a:srgbClr val="FFFFFF"/>
                </a:solidFill>
              </a:rPr>
              <a:t>  distribution_score</a:t>
            </a:r>
            <a:endParaRPr lang="en-US" sz="1200" dirty="0"/>
          </a:p>
        </p:txBody>
      </p:sp>
      <p:sp>
        <p:nvSpPr>
          <p:cNvPr id="21" name="Shape 19"/>
          <p:cNvSpPr/>
          <p:nvPr/>
        </p:nvSpPr>
        <p:spPr>
          <a:xfrm>
            <a:off x="274320" y="3538728"/>
            <a:ext cx="2606040" cy="365760"/>
          </a:xfrm>
          <a:prstGeom prst="roundRect">
            <a:avLst>
              <a:gd name="adj" fmla="val 12500"/>
            </a:avLst>
          </a:prstGeom>
          <a:solidFill>
            <a:srgbClr val="0A1628">
              <a:alpha val="70000"/>
            </a:srgbClr>
          </a:solidFill>
          <a:ln w="12700">
            <a:solidFill>
              <a:srgbClr val="FFFFFF"/>
            </a:solidFill>
            <a:prstDash val="solid"/>
          </a:ln>
        </p:spPr>
      </p:sp>
      <p:sp>
        <p:nvSpPr>
          <p:cNvPr id="22" name="Text 20"/>
          <p:cNvSpPr/>
          <p:nvPr/>
        </p:nvSpPr>
        <p:spPr>
          <a:xfrm>
            <a:off x="274320" y="353872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std(cx) + std(cy) centroid</a:t>
            </a:r>
            <a:endParaRPr lang="en-US" sz="950" dirty="0"/>
          </a:p>
        </p:txBody>
      </p:sp>
      <p:sp>
        <p:nvSpPr>
          <p:cNvPr id="23" name="Text 21"/>
          <p:cNvSpPr/>
          <p:nvPr/>
        </p:nvSpPr>
        <p:spPr>
          <a:xfrm>
            <a:off x="274320" y="3977640"/>
            <a:ext cx="2606040" cy="749808"/>
          </a:xfrm>
          <a:prstGeom prst="rect">
            <a:avLst/>
          </a:prstGeom>
          <a:noFill/>
          <a:ln/>
        </p:spPr>
        <p:txBody>
          <a:bodyPr wrap="square" rtlCol="0" anchor="ctr"/>
          <a:lstStyle/>
          <a:p>
            <a:pPr marL="0" indent="0">
              <a:buNone/>
            </a:pPr>
            <a:r>
              <a:rPr lang="en-US" sz="1050" dirty="0">
                <a:solidFill>
                  <a:srgbClr val="CBD5E1"/>
                </a:solidFill>
              </a:rPr>
              <a:t>Seberapa tersebar sampah di gambar. Tinggi = merata/penuh.</a:t>
            </a:r>
            <a:endParaRPr lang="en-US" sz="1050" dirty="0"/>
          </a:p>
        </p:txBody>
      </p:sp>
      <p:sp>
        <p:nvSpPr>
          <p:cNvPr id="24" name="Shape 22"/>
          <p:cNvSpPr/>
          <p:nvPr/>
        </p:nvSpPr>
        <p:spPr>
          <a:xfrm>
            <a:off x="3154680" y="3063240"/>
            <a:ext cx="2788920" cy="1737360"/>
          </a:xfrm>
          <a:prstGeom prst="roundRect">
            <a:avLst>
              <a:gd name="adj" fmla="val 5263"/>
            </a:avLst>
          </a:prstGeom>
          <a:solidFill>
            <a:srgbClr val="9F1239">
              <a:alpha val="25000"/>
            </a:srgbClr>
          </a:solidFill>
          <a:ln w="12700">
            <a:solidFill>
              <a:srgbClr val="9F1239"/>
            </a:solidFill>
            <a:prstDash val="solid"/>
          </a:ln>
        </p:spPr>
      </p:sp>
      <p:sp>
        <p:nvSpPr>
          <p:cNvPr id="25" name="Text 23"/>
          <p:cNvSpPr/>
          <p:nvPr/>
        </p:nvSpPr>
        <p:spPr>
          <a:xfrm>
            <a:off x="3291840" y="3172968"/>
            <a:ext cx="2514600" cy="347472"/>
          </a:xfrm>
          <a:prstGeom prst="rect">
            <a:avLst/>
          </a:prstGeom>
          <a:noFill/>
          <a:ln/>
        </p:spPr>
        <p:txBody>
          <a:bodyPr wrap="square" rtlCol="0" anchor="ctr"/>
          <a:lstStyle/>
          <a:p>
            <a:pPr marL="0" indent="0">
              <a:buNone/>
            </a:pPr>
            <a:r>
              <a:rPr lang="en-US" sz="1200" b="1" dirty="0">
                <a:solidFill>
                  <a:srgbClr val="FFFFFF"/>
                </a:solidFill>
              </a:rPr>
              <a:t>  bulky_flag</a:t>
            </a:r>
            <a:endParaRPr lang="en-US" sz="1200" dirty="0"/>
          </a:p>
        </p:txBody>
      </p:sp>
      <p:sp>
        <p:nvSpPr>
          <p:cNvPr id="26" name="Shape 24"/>
          <p:cNvSpPr/>
          <p:nvPr/>
        </p:nvSpPr>
        <p:spPr>
          <a:xfrm>
            <a:off x="3246120" y="3538728"/>
            <a:ext cx="2606040" cy="365760"/>
          </a:xfrm>
          <a:prstGeom prst="roundRect">
            <a:avLst>
              <a:gd name="adj" fmla="val 12500"/>
            </a:avLst>
          </a:prstGeom>
          <a:solidFill>
            <a:srgbClr val="0A1628">
              <a:alpha val="70000"/>
            </a:srgbClr>
          </a:solidFill>
          <a:ln w="12700">
            <a:solidFill>
              <a:srgbClr val="FFFFFF"/>
            </a:solidFill>
            <a:prstDash val="solid"/>
          </a:ln>
        </p:spPr>
      </p:sp>
      <p:sp>
        <p:nvSpPr>
          <p:cNvPr id="27" name="Text 25"/>
          <p:cNvSpPr/>
          <p:nvPr/>
        </p:nvSpPr>
        <p:spPr>
          <a:xfrm>
            <a:off x="3246120" y="353872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1 jika ada box &gt; 25% gambar</a:t>
            </a:r>
            <a:endParaRPr lang="en-US" sz="950" dirty="0"/>
          </a:p>
        </p:txBody>
      </p:sp>
      <p:sp>
        <p:nvSpPr>
          <p:cNvPr id="28" name="Text 26"/>
          <p:cNvSpPr/>
          <p:nvPr/>
        </p:nvSpPr>
        <p:spPr>
          <a:xfrm>
            <a:off x="3246120" y="3977640"/>
            <a:ext cx="2606040" cy="749808"/>
          </a:xfrm>
          <a:prstGeom prst="rect">
            <a:avLst/>
          </a:prstGeom>
          <a:noFill/>
          <a:ln/>
        </p:spPr>
        <p:txBody>
          <a:bodyPr wrap="square" rtlCol="0" anchor="ctr"/>
          <a:lstStyle/>
          <a:p>
            <a:pPr marL="0" indent="0">
              <a:buNone/>
            </a:pPr>
            <a:r>
              <a:rPr lang="en-US" sz="1050" dirty="0">
                <a:solidFill>
                  <a:srgbClr val="CBD5E1"/>
                </a:solidFill>
              </a:rPr>
              <a:t>Binary flag: ada objek sangat besar? Bisa jadi tanda tumpukan.</a:t>
            </a:r>
            <a:endParaRPr lang="en-US" sz="1050" dirty="0"/>
          </a:p>
        </p:txBody>
      </p:sp>
      <p:sp>
        <p:nvSpPr>
          <p:cNvPr id="29" name="Shape 27"/>
          <p:cNvSpPr/>
          <p:nvPr/>
        </p:nvSpPr>
        <p:spPr>
          <a:xfrm>
            <a:off x="6126480" y="3063240"/>
            <a:ext cx="2788920" cy="1737360"/>
          </a:xfrm>
          <a:prstGeom prst="roundRect">
            <a:avLst>
              <a:gd name="adj" fmla="val 5263"/>
            </a:avLst>
          </a:prstGeom>
          <a:solidFill>
            <a:srgbClr val="166534">
              <a:alpha val="25000"/>
            </a:srgbClr>
          </a:solidFill>
          <a:ln w="12700">
            <a:solidFill>
              <a:srgbClr val="166534"/>
            </a:solidFill>
            <a:prstDash val="solid"/>
          </a:ln>
        </p:spPr>
      </p:sp>
      <p:sp>
        <p:nvSpPr>
          <p:cNvPr id="30" name="Text 28"/>
          <p:cNvSpPr/>
          <p:nvPr/>
        </p:nvSpPr>
        <p:spPr>
          <a:xfrm>
            <a:off x="6263640" y="3172968"/>
            <a:ext cx="2514600" cy="347472"/>
          </a:xfrm>
          <a:prstGeom prst="rect">
            <a:avLst/>
          </a:prstGeom>
          <a:noFill/>
          <a:ln/>
        </p:spPr>
        <p:txBody>
          <a:bodyPr wrap="square" rtlCol="0" anchor="ctr"/>
          <a:lstStyle/>
          <a:p>
            <a:pPr marL="0" indent="0">
              <a:buNone/>
            </a:pPr>
            <a:r>
              <a:rPr lang="en-US" sz="1200" b="1" dirty="0">
                <a:solidFill>
                  <a:srgbClr val="FFFFFF"/>
                </a:solidFill>
              </a:rPr>
              <a:t>  avg_confidence</a:t>
            </a:r>
            <a:endParaRPr lang="en-US" sz="1200" dirty="0"/>
          </a:p>
        </p:txBody>
      </p:sp>
      <p:sp>
        <p:nvSpPr>
          <p:cNvPr id="31" name="Shape 29"/>
          <p:cNvSpPr/>
          <p:nvPr/>
        </p:nvSpPr>
        <p:spPr>
          <a:xfrm>
            <a:off x="6217920" y="3538728"/>
            <a:ext cx="2606040" cy="365760"/>
          </a:xfrm>
          <a:prstGeom prst="roundRect">
            <a:avLst>
              <a:gd name="adj" fmla="val 12500"/>
            </a:avLst>
          </a:prstGeom>
          <a:solidFill>
            <a:srgbClr val="0A1628">
              <a:alpha val="70000"/>
            </a:srgbClr>
          </a:solidFill>
          <a:ln w="12700">
            <a:solidFill>
              <a:srgbClr val="FFFFFF"/>
            </a:solidFill>
            <a:prstDash val="solid"/>
          </a:ln>
        </p:spPr>
      </p:sp>
      <p:sp>
        <p:nvSpPr>
          <p:cNvPr id="32" name="Text 30"/>
          <p:cNvSpPr/>
          <p:nvPr/>
        </p:nvSpPr>
        <p:spPr>
          <a:xfrm>
            <a:off x="6217920" y="3538728"/>
            <a:ext cx="2606040" cy="365760"/>
          </a:xfrm>
          <a:prstGeom prst="rect">
            <a:avLst/>
          </a:prstGeom>
          <a:noFill/>
          <a:ln/>
        </p:spPr>
        <p:txBody>
          <a:bodyPr wrap="square" rtlCol="0" anchor="ctr"/>
          <a:lstStyle/>
          <a:p>
            <a:pPr marL="0" indent="0" algn="ctr">
              <a:buNone/>
            </a:pPr>
            <a:r>
              <a:rPr lang="en-US" sz="950" b="1" dirty="0">
                <a:solidFill>
                  <a:srgbClr val="14B8A6"/>
                </a:solidFill>
                <a:latin typeface="Courier New" pitchFamily="34" charset="0"/>
                <a:ea typeface="Courier New" pitchFamily="34" charset="-122"/>
                <a:cs typeface="Courier New" pitchFamily="34" charset="-120"/>
              </a:rPr>
              <a:t>rata-rata(conf) semua deteksi</a:t>
            </a:r>
            <a:endParaRPr lang="en-US" sz="950" dirty="0"/>
          </a:p>
        </p:txBody>
      </p:sp>
      <p:sp>
        <p:nvSpPr>
          <p:cNvPr id="33" name="Text 31"/>
          <p:cNvSpPr/>
          <p:nvPr/>
        </p:nvSpPr>
        <p:spPr>
          <a:xfrm>
            <a:off x="6217920" y="3977640"/>
            <a:ext cx="2606040" cy="749808"/>
          </a:xfrm>
          <a:prstGeom prst="rect">
            <a:avLst/>
          </a:prstGeom>
          <a:noFill/>
          <a:ln/>
        </p:spPr>
        <p:txBody>
          <a:bodyPr wrap="square" rtlCol="0" anchor="ctr"/>
          <a:lstStyle/>
          <a:p>
            <a:pPr marL="0" indent="0">
              <a:buNone/>
            </a:pPr>
            <a:r>
              <a:rPr lang="en-US" sz="1050" dirty="0">
                <a:solidFill>
                  <a:srgbClr val="CBD5E1"/>
                </a:solidFill>
              </a:rPr>
              <a:t>Rata-rata keyakinan YOLO. Rendah = deteksi ragu-ragu.</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AUTO-LABELING — Membuat Label Training Otomatis</a:t>
            </a:r>
            <a:endParaRPr lang="en-US" sz="1800" dirty="0"/>
          </a:p>
        </p:txBody>
      </p:sp>
      <p:sp>
        <p:nvSpPr>
          <p:cNvPr id="4" name="Text 2"/>
          <p:cNvSpPr/>
          <p:nvPr/>
        </p:nvSpPr>
        <p:spPr>
          <a:xfrm>
            <a:off x="457200" y="960120"/>
            <a:ext cx="8229600" cy="347472"/>
          </a:xfrm>
          <a:prstGeom prst="rect">
            <a:avLst/>
          </a:prstGeom>
          <a:noFill/>
          <a:ln/>
        </p:spPr>
        <p:txBody>
          <a:bodyPr wrap="square" rtlCol="0" anchor="ctr"/>
          <a:lstStyle/>
          <a:p>
            <a:pPr marL="0" indent="0">
              <a:buNone/>
            </a:pPr>
            <a:r>
              <a:rPr lang="en-US" sz="1300" dirty="0">
                <a:solidFill>
                  <a:srgbClr val="333333"/>
                </a:solidFill>
              </a:rPr>
              <a:t>Karena dataset tidak punya label 'layak/tidak layak', sistem membuat sendiri pakai sistem skor:</a:t>
            </a:r>
            <a:endParaRPr lang="en-US" sz="1300" dirty="0"/>
          </a:p>
        </p:txBody>
      </p:sp>
      <p:sp>
        <p:nvSpPr>
          <p:cNvPr id="5" name="Shape 3"/>
          <p:cNvSpPr/>
          <p:nvPr/>
        </p:nvSpPr>
        <p:spPr>
          <a:xfrm>
            <a:off x="365760" y="1371600"/>
            <a:ext cx="502920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6" name="Text 4"/>
          <p:cNvSpPr/>
          <p:nvPr/>
        </p:nvSpPr>
        <p:spPr>
          <a:xfrm>
            <a:off x="548640" y="1508760"/>
            <a:ext cx="4572000" cy="347472"/>
          </a:xfrm>
          <a:prstGeom prst="rect">
            <a:avLst/>
          </a:prstGeom>
          <a:noFill/>
          <a:ln/>
        </p:spPr>
        <p:txBody>
          <a:bodyPr wrap="square" rtlCol="0" anchor="ctr"/>
          <a:lstStyle/>
          <a:p>
            <a:pPr marL="0" indent="0">
              <a:buNone/>
            </a:pPr>
            <a:r>
              <a:rPr lang="en-US" sz="1300" b="1" dirty="0">
                <a:solidFill>
                  <a:srgbClr val="0A1628"/>
                </a:solidFill>
              </a:rPr>
              <a:t>Tabel Skor Kelayakan</a:t>
            </a:r>
            <a:endParaRPr lang="en-US" sz="1300" dirty="0"/>
          </a:p>
        </p:txBody>
      </p:sp>
      <p:sp>
        <p:nvSpPr>
          <p:cNvPr id="7" name="Shape 5"/>
          <p:cNvSpPr/>
          <p:nvPr/>
        </p:nvSpPr>
        <p:spPr>
          <a:xfrm>
            <a:off x="502920" y="1965960"/>
            <a:ext cx="4663440" cy="365760"/>
          </a:xfrm>
          <a:prstGeom prst="roundRect">
            <a:avLst>
              <a:gd name="adj" fmla="val 10000"/>
            </a:avLst>
          </a:prstGeom>
          <a:solidFill>
            <a:srgbClr val="F0F9F0"/>
          </a:solidFill>
          <a:ln w="6350">
            <a:solidFill>
              <a:srgbClr val="CBD5E1"/>
            </a:solidFill>
            <a:prstDash val="solid"/>
          </a:ln>
        </p:spPr>
      </p:sp>
      <p:sp>
        <p:nvSpPr>
          <p:cNvPr id="8" name="Text 6"/>
          <p:cNvSpPr/>
          <p:nvPr/>
        </p:nvSpPr>
        <p:spPr>
          <a:xfrm>
            <a:off x="594360" y="1965960"/>
            <a:ext cx="3474720" cy="365760"/>
          </a:xfrm>
          <a:prstGeom prst="rect">
            <a:avLst/>
          </a:prstGeom>
          <a:noFill/>
          <a:ln/>
        </p:spPr>
        <p:txBody>
          <a:bodyPr wrap="square" rtlCol="0" anchor="ctr"/>
          <a:lstStyle/>
          <a:p>
            <a:pPr marL="0" indent="0">
              <a:buNone/>
            </a:pPr>
            <a:r>
              <a:rPr lang="en-US" sz="1100" dirty="0">
                <a:solidFill>
                  <a:srgbClr val="222222"/>
                </a:solidFill>
              </a:rPr>
              <a:t>coverage_percent ≥ 15%</a:t>
            </a:r>
            <a:endParaRPr lang="en-US" sz="1100" dirty="0"/>
          </a:p>
        </p:txBody>
      </p:sp>
      <p:sp>
        <p:nvSpPr>
          <p:cNvPr id="9" name="Shape 7"/>
          <p:cNvSpPr/>
          <p:nvPr/>
        </p:nvSpPr>
        <p:spPr>
          <a:xfrm>
            <a:off x="4069080" y="2002536"/>
            <a:ext cx="914400" cy="292608"/>
          </a:xfrm>
          <a:prstGeom prst="roundRect">
            <a:avLst>
              <a:gd name="adj" fmla="val 18750"/>
            </a:avLst>
          </a:prstGeom>
          <a:solidFill>
            <a:srgbClr val="22C55E"/>
          </a:solidFill>
          <a:ln w="12700">
            <a:solidFill>
              <a:srgbClr val="22C55E"/>
            </a:solidFill>
            <a:prstDash val="solid"/>
          </a:ln>
        </p:spPr>
      </p:sp>
      <p:sp>
        <p:nvSpPr>
          <p:cNvPr id="10" name="Text 8"/>
          <p:cNvSpPr/>
          <p:nvPr/>
        </p:nvSpPr>
        <p:spPr>
          <a:xfrm>
            <a:off x="4069080" y="200253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1" name="Shape 9"/>
          <p:cNvSpPr/>
          <p:nvPr/>
        </p:nvSpPr>
        <p:spPr>
          <a:xfrm>
            <a:off x="502920" y="2377440"/>
            <a:ext cx="4663440" cy="365760"/>
          </a:xfrm>
          <a:prstGeom prst="roundRect">
            <a:avLst>
              <a:gd name="adj" fmla="val 10000"/>
            </a:avLst>
          </a:prstGeom>
          <a:solidFill>
            <a:srgbClr val="FFFFFF"/>
          </a:solidFill>
          <a:ln w="6350">
            <a:solidFill>
              <a:srgbClr val="CBD5E1"/>
            </a:solidFill>
            <a:prstDash val="solid"/>
          </a:ln>
        </p:spPr>
      </p:sp>
      <p:sp>
        <p:nvSpPr>
          <p:cNvPr id="12" name="Text 10"/>
          <p:cNvSpPr/>
          <p:nvPr/>
        </p:nvSpPr>
        <p:spPr>
          <a:xfrm>
            <a:off x="594360" y="2377440"/>
            <a:ext cx="3474720" cy="365760"/>
          </a:xfrm>
          <a:prstGeom prst="rect">
            <a:avLst/>
          </a:prstGeom>
          <a:noFill/>
          <a:ln/>
        </p:spPr>
        <p:txBody>
          <a:bodyPr wrap="square" rtlCol="0" anchor="ctr"/>
          <a:lstStyle/>
          <a:p>
            <a:pPr marL="0" indent="0">
              <a:buNone/>
            </a:pPr>
            <a:r>
              <a:rPr lang="en-US" sz="1100" dirty="0">
                <a:solidFill>
                  <a:srgbClr val="222222"/>
                </a:solidFill>
              </a:rPr>
              <a:t>coverage_percent ≥ 8%</a:t>
            </a:r>
            <a:endParaRPr lang="en-US" sz="1100" dirty="0"/>
          </a:p>
        </p:txBody>
      </p:sp>
      <p:sp>
        <p:nvSpPr>
          <p:cNvPr id="13" name="Shape 11"/>
          <p:cNvSpPr/>
          <p:nvPr/>
        </p:nvSpPr>
        <p:spPr>
          <a:xfrm>
            <a:off x="4069080" y="2414016"/>
            <a:ext cx="914400" cy="292608"/>
          </a:xfrm>
          <a:prstGeom prst="roundRect">
            <a:avLst>
              <a:gd name="adj" fmla="val 18750"/>
            </a:avLst>
          </a:prstGeom>
          <a:solidFill>
            <a:srgbClr val="16A34A"/>
          </a:solidFill>
          <a:ln w="12700">
            <a:solidFill>
              <a:srgbClr val="16A34A"/>
            </a:solidFill>
            <a:prstDash val="solid"/>
          </a:ln>
        </p:spPr>
      </p:sp>
      <p:sp>
        <p:nvSpPr>
          <p:cNvPr id="14" name="Text 12"/>
          <p:cNvSpPr/>
          <p:nvPr/>
        </p:nvSpPr>
        <p:spPr>
          <a:xfrm>
            <a:off x="4069080" y="241401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5" name="Shape 13"/>
          <p:cNvSpPr/>
          <p:nvPr/>
        </p:nvSpPr>
        <p:spPr>
          <a:xfrm>
            <a:off x="502920" y="2788920"/>
            <a:ext cx="4663440" cy="365760"/>
          </a:xfrm>
          <a:prstGeom prst="roundRect">
            <a:avLst>
              <a:gd name="adj" fmla="val 10000"/>
            </a:avLst>
          </a:prstGeom>
          <a:solidFill>
            <a:srgbClr val="F0F9F0"/>
          </a:solidFill>
          <a:ln w="6350">
            <a:solidFill>
              <a:srgbClr val="CBD5E1"/>
            </a:solidFill>
            <a:prstDash val="solid"/>
          </a:ln>
        </p:spPr>
      </p:sp>
      <p:sp>
        <p:nvSpPr>
          <p:cNvPr id="16" name="Text 14"/>
          <p:cNvSpPr/>
          <p:nvPr/>
        </p:nvSpPr>
        <p:spPr>
          <a:xfrm>
            <a:off x="594360" y="2788920"/>
            <a:ext cx="3474720" cy="365760"/>
          </a:xfrm>
          <a:prstGeom prst="rect">
            <a:avLst/>
          </a:prstGeom>
          <a:noFill/>
          <a:ln/>
        </p:spPr>
        <p:txBody>
          <a:bodyPr wrap="square" rtlCol="0" anchor="ctr"/>
          <a:lstStyle/>
          <a:p>
            <a:pPr marL="0" indent="0">
              <a:buNone/>
            </a:pPr>
            <a:r>
              <a:rPr lang="en-US" sz="1100" dirty="0">
                <a:solidFill>
                  <a:srgbClr val="222222"/>
                </a:solidFill>
              </a:rPr>
              <a:t>object_count ≥ 5</a:t>
            </a:r>
            <a:endParaRPr lang="en-US" sz="1100" dirty="0"/>
          </a:p>
        </p:txBody>
      </p:sp>
      <p:sp>
        <p:nvSpPr>
          <p:cNvPr id="17" name="Shape 15"/>
          <p:cNvSpPr/>
          <p:nvPr/>
        </p:nvSpPr>
        <p:spPr>
          <a:xfrm>
            <a:off x="4069080" y="2825496"/>
            <a:ext cx="914400" cy="292608"/>
          </a:xfrm>
          <a:prstGeom prst="roundRect">
            <a:avLst>
              <a:gd name="adj" fmla="val 18750"/>
            </a:avLst>
          </a:prstGeom>
          <a:solidFill>
            <a:srgbClr val="0D9488"/>
          </a:solidFill>
          <a:ln w="12700">
            <a:solidFill>
              <a:srgbClr val="0D9488"/>
            </a:solidFill>
            <a:prstDash val="solid"/>
          </a:ln>
        </p:spPr>
      </p:sp>
      <p:sp>
        <p:nvSpPr>
          <p:cNvPr id="18" name="Text 16"/>
          <p:cNvSpPr/>
          <p:nvPr/>
        </p:nvSpPr>
        <p:spPr>
          <a:xfrm>
            <a:off x="4069080" y="282549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9" name="Shape 17"/>
          <p:cNvSpPr/>
          <p:nvPr/>
        </p:nvSpPr>
        <p:spPr>
          <a:xfrm>
            <a:off x="502920" y="3200400"/>
            <a:ext cx="4663440" cy="365760"/>
          </a:xfrm>
          <a:prstGeom prst="roundRect">
            <a:avLst>
              <a:gd name="adj" fmla="val 10000"/>
            </a:avLst>
          </a:prstGeom>
          <a:solidFill>
            <a:srgbClr val="FFFFFF"/>
          </a:solidFill>
          <a:ln w="6350">
            <a:solidFill>
              <a:srgbClr val="CBD5E1"/>
            </a:solidFill>
            <a:prstDash val="solid"/>
          </a:ln>
        </p:spPr>
      </p:sp>
      <p:sp>
        <p:nvSpPr>
          <p:cNvPr id="20" name="Text 18"/>
          <p:cNvSpPr/>
          <p:nvPr/>
        </p:nvSpPr>
        <p:spPr>
          <a:xfrm>
            <a:off x="594360" y="3200400"/>
            <a:ext cx="3474720" cy="365760"/>
          </a:xfrm>
          <a:prstGeom prst="rect">
            <a:avLst/>
          </a:prstGeom>
          <a:noFill/>
          <a:ln/>
        </p:spPr>
        <p:txBody>
          <a:bodyPr wrap="square" rtlCol="0" anchor="ctr"/>
          <a:lstStyle/>
          <a:p>
            <a:pPr marL="0" indent="0">
              <a:buNone/>
            </a:pPr>
            <a:r>
              <a:rPr lang="en-US" sz="1100" dirty="0">
                <a:solidFill>
                  <a:srgbClr val="222222"/>
                </a:solidFill>
              </a:rPr>
              <a:t>object_count ≥ 3</a:t>
            </a:r>
            <a:endParaRPr lang="en-US" sz="1100" dirty="0"/>
          </a:p>
        </p:txBody>
      </p:sp>
      <p:sp>
        <p:nvSpPr>
          <p:cNvPr id="21" name="Shape 19"/>
          <p:cNvSpPr/>
          <p:nvPr/>
        </p:nvSpPr>
        <p:spPr>
          <a:xfrm>
            <a:off x="4069080" y="3236976"/>
            <a:ext cx="914400" cy="292608"/>
          </a:xfrm>
          <a:prstGeom prst="roundRect">
            <a:avLst>
              <a:gd name="adj" fmla="val 18750"/>
            </a:avLst>
          </a:prstGeom>
          <a:solidFill>
            <a:srgbClr val="0F766E"/>
          </a:solidFill>
          <a:ln w="12700">
            <a:solidFill>
              <a:srgbClr val="0F766E"/>
            </a:solidFill>
            <a:prstDash val="solid"/>
          </a:ln>
        </p:spPr>
      </p:sp>
      <p:sp>
        <p:nvSpPr>
          <p:cNvPr id="22" name="Text 20"/>
          <p:cNvSpPr/>
          <p:nvPr/>
        </p:nvSpPr>
        <p:spPr>
          <a:xfrm>
            <a:off x="4069080" y="323697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3" name="Shape 21"/>
          <p:cNvSpPr/>
          <p:nvPr/>
        </p:nvSpPr>
        <p:spPr>
          <a:xfrm>
            <a:off x="502920" y="3611880"/>
            <a:ext cx="4663440" cy="365760"/>
          </a:xfrm>
          <a:prstGeom prst="roundRect">
            <a:avLst>
              <a:gd name="adj" fmla="val 10000"/>
            </a:avLst>
          </a:prstGeom>
          <a:solidFill>
            <a:srgbClr val="F0F9F0"/>
          </a:solidFill>
          <a:ln w="6350">
            <a:solidFill>
              <a:srgbClr val="CBD5E1"/>
            </a:solidFill>
            <a:prstDash val="solid"/>
          </a:ln>
        </p:spPr>
      </p:sp>
      <p:sp>
        <p:nvSpPr>
          <p:cNvPr id="24" name="Text 22"/>
          <p:cNvSpPr/>
          <p:nvPr/>
        </p:nvSpPr>
        <p:spPr>
          <a:xfrm>
            <a:off x="594360" y="3611880"/>
            <a:ext cx="3474720" cy="365760"/>
          </a:xfrm>
          <a:prstGeom prst="rect">
            <a:avLst/>
          </a:prstGeom>
          <a:noFill/>
          <a:ln/>
        </p:spPr>
        <p:txBody>
          <a:bodyPr wrap="square" rtlCol="0" anchor="ctr"/>
          <a:lstStyle/>
          <a:p>
            <a:pPr marL="0" indent="0">
              <a:buNone/>
            </a:pPr>
            <a:r>
              <a:rPr lang="en-US" sz="1100" dirty="0">
                <a:solidFill>
                  <a:srgbClr val="222222"/>
                </a:solidFill>
              </a:rPr>
              <a:t>bulky_flag == 1 (ada objek besar)</a:t>
            </a:r>
            <a:endParaRPr lang="en-US" sz="1100" dirty="0"/>
          </a:p>
        </p:txBody>
      </p:sp>
      <p:sp>
        <p:nvSpPr>
          <p:cNvPr id="25" name="Shape 23"/>
          <p:cNvSpPr/>
          <p:nvPr/>
        </p:nvSpPr>
        <p:spPr>
          <a:xfrm>
            <a:off x="4069080" y="3648456"/>
            <a:ext cx="914400" cy="292608"/>
          </a:xfrm>
          <a:prstGeom prst="roundRect">
            <a:avLst>
              <a:gd name="adj" fmla="val 18750"/>
            </a:avLst>
          </a:prstGeom>
          <a:solidFill>
            <a:srgbClr val="8B5CF6"/>
          </a:solidFill>
          <a:ln w="12700">
            <a:solidFill>
              <a:srgbClr val="8B5CF6"/>
            </a:solidFill>
            <a:prstDash val="solid"/>
          </a:ln>
        </p:spPr>
      </p:sp>
      <p:sp>
        <p:nvSpPr>
          <p:cNvPr id="26" name="Text 24"/>
          <p:cNvSpPr/>
          <p:nvPr/>
        </p:nvSpPr>
        <p:spPr>
          <a:xfrm>
            <a:off x="4069080" y="364845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27" name="Shape 25"/>
          <p:cNvSpPr/>
          <p:nvPr/>
        </p:nvSpPr>
        <p:spPr>
          <a:xfrm>
            <a:off x="502920" y="4023360"/>
            <a:ext cx="4663440" cy="365760"/>
          </a:xfrm>
          <a:prstGeom prst="roundRect">
            <a:avLst>
              <a:gd name="adj" fmla="val 10000"/>
            </a:avLst>
          </a:prstGeom>
          <a:solidFill>
            <a:srgbClr val="FFFFFF"/>
          </a:solidFill>
          <a:ln w="6350">
            <a:solidFill>
              <a:srgbClr val="CBD5E1"/>
            </a:solidFill>
            <a:prstDash val="solid"/>
          </a:ln>
        </p:spPr>
      </p:sp>
      <p:sp>
        <p:nvSpPr>
          <p:cNvPr id="28" name="Text 26"/>
          <p:cNvSpPr/>
          <p:nvPr/>
        </p:nvSpPr>
        <p:spPr>
          <a:xfrm>
            <a:off x="594360" y="4023360"/>
            <a:ext cx="3474720" cy="365760"/>
          </a:xfrm>
          <a:prstGeom prst="rect">
            <a:avLst/>
          </a:prstGeom>
          <a:noFill/>
          <a:ln/>
        </p:spPr>
        <p:txBody>
          <a:bodyPr wrap="square" rtlCol="0" anchor="ctr"/>
          <a:lstStyle/>
          <a:p>
            <a:pPr marL="0" indent="0">
              <a:buNone/>
            </a:pPr>
            <a:r>
              <a:rPr lang="en-US" sz="1100" dirty="0">
                <a:solidFill>
                  <a:srgbClr val="222222"/>
                </a:solidFill>
              </a:rPr>
              <a:t>distribution_score &gt; 0.5</a:t>
            </a:r>
            <a:endParaRPr lang="en-US" sz="1100" dirty="0"/>
          </a:p>
        </p:txBody>
      </p:sp>
      <p:sp>
        <p:nvSpPr>
          <p:cNvPr id="29" name="Shape 27"/>
          <p:cNvSpPr/>
          <p:nvPr/>
        </p:nvSpPr>
        <p:spPr>
          <a:xfrm>
            <a:off x="4069080" y="4059936"/>
            <a:ext cx="914400" cy="292608"/>
          </a:xfrm>
          <a:prstGeom prst="roundRect">
            <a:avLst>
              <a:gd name="adj" fmla="val 18750"/>
            </a:avLst>
          </a:prstGeom>
          <a:solidFill>
            <a:srgbClr val="7C3AED"/>
          </a:solidFill>
          <a:ln w="12700">
            <a:solidFill>
              <a:srgbClr val="7C3AED"/>
            </a:solidFill>
            <a:prstDash val="solid"/>
          </a:ln>
        </p:spPr>
      </p:sp>
      <p:sp>
        <p:nvSpPr>
          <p:cNvPr id="30" name="Text 28"/>
          <p:cNvSpPr/>
          <p:nvPr/>
        </p:nvSpPr>
        <p:spPr>
          <a:xfrm>
            <a:off x="4069080" y="405993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31" name="Shape 29"/>
          <p:cNvSpPr/>
          <p:nvPr/>
        </p:nvSpPr>
        <p:spPr>
          <a:xfrm>
            <a:off x="5669280" y="1371600"/>
            <a:ext cx="3200400" cy="1508760"/>
          </a:xfrm>
          <a:prstGeom prst="roundRect">
            <a:avLst>
              <a:gd name="adj" fmla="val 6061"/>
            </a:avLst>
          </a:prstGeom>
          <a:solidFill>
            <a:srgbClr val="22C55E">
              <a:alpha val="85000"/>
            </a:srgbClr>
          </a:solidFill>
          <a:ln w="19050">
            <a:solidFill>
              <a:srgbClr val="22C55E"/>
            </a:solidFill>
            <a:prstDash val="solid"/>
          </a:ln>
        </p:spPr>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r>
              <a:rPr lang="en-US" sz="1800" b="1" dirty="0">
                <a:solidFill>
                  <a:srgbClr val="FFFFFF"/>
                </a:solidFill>
              </a:rPr>
              <a:t>✅  SKOR ≥ 3</a:t>
            </a:r>
            <a:endParaRPr lang="en-US" sz="1800" dirty="0"/>
          </a:p>
        </p:txBody>
      </p:sp>
      <p:sp>
        <p:nvSpPr>
          <p:cNvPr id="33" name="Text 31"/>
          <p:cNvSpPr/>
          <p:nvPr/>
        </p:nvSpPr>
        <p:spPr>
          <a:xfrm>
            <a:off x="5669280" y="2011680"/>
            <a:ext cx="3200400" cy="731520"/>
          </a:xfrm>
          <a:prstGeom prst="rect">
            <a:avLst/>
          </a:prstGeom>
          <a:noFill/>
          <a:ln/>
        </p:spPr>
        <p:txBody>
          <a:bodyPr wrap="square" rtlCol="0" anchor="ctr"/>
          <a:lstStyle/>
          <a:p>
            <a:pPr marL="0" indent="0" algn="ctr">
              <a:buNone/>
            </a:pPr>
            <a:r>
              <a:rPr lang="en-US" sz="1400" dirty="0">
                <a:solidFill>
                  <a:srgbClr val="FFFFFF"/>
                </a:solidFill>
              </a:rPr>
              <a:t>= LAYAK DIANGKUT</a:t>
            </a:r>
            <a:endParaRPr lang="en-US" sz="1400" dirty="0"/>
          </a:p>
          <a:p>
            <a:pPr marL="0" indent="0" algn="ctr">
              <a:buNone/>
            </a:pPr>
            <a:r>
              <a:rPr lang="en-US" sz="1400" dirty="0">
                <a:solidFill>
                  <a:srgbClr val="FFFFFF"/>
                </a:solidFill>
              </a:rPr>
              <a:t>(Label: 1)</a:t>
            </a:r>
            <a:endParaRPr lang="en-US" sz="1400" dirty="0"/>
          </a:p>
        </p:txBody>
      </p:sp>
      <p:sp>
        <p:nvSpPr>
          <p:cNvPr id="34" name="Shape 32"/>
          <p:cNvSpPr/>
          <p:nvPr/>
        </p:nvSpPr>
        <p:spPr>
          <a:xfrm>
            <a:off x="5669280" y="3108960"/>
            <a:ext cx="3200400" cy="1508760"/>
          </a:xfrm>
          <a:prstGeom prst="roundRect">
            <a:avLst>
              <a:gd name="adj" fmla="val 6061"/>
            </a:avLst>
          </a:prstGeom>
          <a:solidFill>
            <a:srgbClr val="EF4444">
              <a:alpha val="85000"/>
            </a:srgbClr>
          </a:solidFill>
          <a:ln w="19050">
            <a:solidFill>
              <a:srgbClr val="EF4444"/>
            </a:solidFill>
            <a:prstDash val="solid"/>
          </a:ln>
        </p:spPr>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r>
              <a:rPr lang="en-US" sz="1800" b="1" dirty="0">
                <a:solidFill>
                  <a:srgbClr val="FFFFFF"/>
                </a:solidFill>
              </a:rPr>
              <a:t>❌  SKOR &lt; 3</a:t>
            </a: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r>
              <a:rPr lang="en-US" sz="1400" dirty="0">
                <a:solidFill>
                  <a:srgbClr val="FFFFFF"/>
                </a:solidFill>
              </a:rPr>
              <a:t>= TIDAK LAYAK</a:t>
            </a:r>
            <a:endParaRPr lang="en-US" sz="1400" dirty="0"/>
          </a:p>
          <a:p>
            <a:pPr marL="0" indent="0" algn="ctr">
              <a:buNone/>
            </a:pPr>
            <a:r>
              <a:rPr lang="en-US" sz="1400" dirty="0">
                <a:solidFill>
                  <a:srgbClr val="FFFFFF"/>
                </a:solidFill>
              </a:rPr>
              <a:t>(Label: 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Hasil Training dam Hyper Tunning </a:t>
            </a:r>
            <a:endParaRPr lang="en-US" sz="1800" dirty="0"/>
          </a:p>
        </p:txBody>
      </p:sp>
      <p:sp>
        <p:nvSpPr>
          <p:cNvPr id="5" name="Shape 3"/>
          <p:cNvSpPr/>
          <p:nvPr/>
        </p:nvSpPr>
        <p:spPr>
          <a:xfrm>
            <a:off x="411480" y="1392310"/>
            <a:ext cx="818388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6" name="Text 4"/>
          <p:cNvSpPr/>
          <p:nvPr/>
        </p:nvSpPr>
        <p:spPr>
          <a:xfrm>
            <a:off x="548640" y="1508760"/>
            <a:ext cx="4572000" cy="347472"/>
          </a:xfrm>
          <a:prstGeom prst="rect">
            <a:avLst/>
          </a:prstGeom>
          <a:noFill/>
          <a:ln/>
        </p:spPr>
        <p:txBody>
          <a:bodyPr wrap="square" rtlCol="0" anchor="ctr"/>
          <a:lstStyle/>
          <a:p>
            <a:pPr marL="0" indent="0">
              <a:buNone/>
            </a:pPr>
            <a:endParaRPr lang="en-US" sz="1300" dirty="0"/>
          </a:p>
        </p:txBody>
      </p:sp>
      <p:sp>
        <p:nvSpPr>
          <p:cNvPr id="8" name="Text 6"/>
          <p:cNvSpPr/>
          <p:nvPr/>
        </p:nvSpPr>
        <p:spPr>
          <a:xfrm>
            <a:off x="594360" y="1965960"/>
            <a:ext cx="3474720" cy="365760"/>
          </a:xfrm>
          <a:prstGeom prst="rect">
            <a:avLst/>
          </a:prstGeom>
          <a:noFill/>
          <a:ln/>
        </p:spPr>
        <p:txBody>
          <a:bodyPr wrap="square" rtlCol="0" anchor="ctr"/>
          <a:lstStyle/>
          <a:p>
            <a:pPr marL="0" indent="0">
              <a:buNone/>
            </a:pPr>
            <a:endParaRPr lang="en-US" sz="1100" dirty="0"/>
          </a:p>
        </p:txBody>
      </p:sp>
      <p:sp>
        <p:nvSpPr>
          <p:cNvPr id="10" name="Text 8"/>
          <p:cNvSpPr/>
          <p:nvPr/>
        </p:nvSpPr>
        <p:spPr>
          <a:xfrm>
            <a:off x="4069080" y="2002536"/>
            <a:ext cx="914400" cy="292608"/>
          </a:xfrm>
          <a:prstGeom prst="rect">
            <a:avLst/>
          </a:prstGeom>
          <a:noFill/>
          <a:ln/>
        </p:spPr>
        <p:txBody>
          <a:bodyPr wrap="square" lIns="0" tIns="0" rIns="0" bIns="0" rtlCol="0" anchor="ctr"/>
          <a:lstStyle/>
          <a:p>
            <a:pPr marL="0" indent="0" algn="ctr">
              <a:buNone/>
            </a:pPr>
            <a:endParaRPr lang="en-US" sz="1200" dirty="0"/>
          </a:p>
        </p:txBody>
      </p:sp>
      <p:sp>
        <p:nvSpPr>
          <p:cNvPr id="12" name="Text 10"/>
          <p:cNvSpPr/>
          <p:nvPr/>
        </p:nvSpPr>
        <p:spPr>
          <a:xfrm>
            <a:off x="594360" y="2377440"/>
            <a:ext cx="3474720" cy="365760"/>
          </a:xfrm>
          <a:prstGeom prst="rect">
            <a:avLst/>
          </a:prstGeom>
          <a:noFill/>
          <a:ln/>
        </p:spPr>
        <p:txBody>
          <a:bodyPr wrap="square" rtlCol="0" anchor="ctr"/>
          <a:lstStyle/>
          <a:p>
            <a:pPr marL="0" indent="0">
              <a:buNone/>
            </a:pPr>
            <a:endParaRPr lang="en-US" sz="1100" dirty="0"/>
          </a:p>
        </p:txBody>
      </p:sp>
      <p:sp>
        <p:nvSpPr>
          <p:cNvPr id="14" name="Text 12"/>
          <p:cNvSpPr/>
          <p:nvPr/>
        </p:nvSpPr>
        <p:spPr>
          <a:xfrm>
            <a:off x="4069080" y="2414016"/>
            <a:ext cx="914400" cy="292608"/>
          </a:xfrm>
          <a:prstGeom prst="rect">
            <a:avLst/>
          </a:prstGeom>
          <a:noFill/>
          <a:ln/>
        </p:spPr>
        <p:txBody>
          <a:bodyPr wrap="square" lIns="0" tIns="0" rIns="0" bIns="0" rtlCol="0" anchor="ctr"/>
          <a:lstStyle/>
          <a:p>
            <a:pPr marL="0" indent="0" algn="ctr">
              <a:buNone/>
            </a:pPr>
            <a:endParaRPr lang="en-US" sz="1200" dirty="0"/>
          </a:p>
        </p:txBody>
      </p:sp>
      <p:sp>
        <p:nvSpPr>
          <p:cNvPr id="16" name="Text 14"/>
          <p:cNvSpPr/>
          <p:nvPr/>
        </p:nvSpPr>
        <p:spPr>
          <a:xfrm>
            <a:off x="594360" y="2788920"/>
            <a:ext cx="3474720" cy="36576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069080" y="2825496"/>
            <a:ext cx="914400" cy="292608"/>
          </a:xfrm>
          <a:prstGeom prst="rect">
            <a:avLst/>
          </a:prstGeom>
          <a:noFill/>
          <a:ln/>
        </p:spPr>
        <p:txBody>
          <a:bodyPr wrap="square" lIns="0" tIns="0" rIns="0" bIns="0" rtlCol="0" anchor="ctr"/>
          <a:lstStyle/>
          <a:p>
            <a:pPr marL="0" indent="0" algn="ctr">
              <a:buNone/>
            </a:pPr>
            <a:endParaRPr lang="en-US" sz="1200" dirty="0"/>
          </a:p>
        </p:txBody>
      </p:sp>
      <p:sp>
        <p:nvSpPr>
          <p:cNvPr id="20" name="Text 18"/>
          <p:cNvSpPr/>
          <p:nvPr/>
        </p:nvSpPr>
        <p:spPr>
          <a:xfrm>
            <a:off x="594360" y="3200400"/>
            <a:ext cx="3474720" cy="365760"/>
          </a:xfrm>
          <a:prstGeom prst="rect">
            <a:avLst/>
          </a:prstGeom>
          <a:noFill/>
          <a:ln/>
        </p:spPr>
        <p:txBody>
          <a:bodyPr wrap="square" rtlCol="0" anchor="ctr"/>
          <a:lstStyle/>
          <a:p>
            <a:pPr marL="0" indent="0">
              <a:buNone/>
            </a:pPr>
            <a:endParaRPr lang="en-US" sz="1100" dirty="0"/>
          </a:p>
        </p:txBody>
      </p:sp>
      <p:sp>
        <p:nvSpPr>
          <p:cNvPr id="22" name="Text 20"/>
          <p:cNvSpPr/>
          <p:nvPr/>
        </p:nvSpPr>
        <p:spPr>
          <a:xfrm>
            <a:off x="4069080" y="3236976"/>
            <a:ext cx="914400" cy="292608"/>
          </a:xfrm>
          <a:prstGeom prst="rect">
            <a:avLst/>
          </a:prstGeom>
          <a:noFill/>
          <a:ln/>
        </p:spPr>
        <p:txBody>
          <a:bodyPr wrap="square" lIns="0" tIns="0" rIns="0" bIns="0" rtlCol="0" anchor="ctr"/>
          <a:lstStyle/>
          <a:p>
            <a:pPr marL="0" indent="0" algn="ctr">
              <a:buNone/>
            </a:pPr>
            <a:endParaRPr lang="en-US" sz="1200" dirty="0"/>
          </a:p>
        </p:txBody>
      </p:sp>
      <p:sp>
        <p:nvSpPr>
          <p:cNvPr id="24" name="Text 22"/>
          <p:cNvSpPr/>
          <p:nvPr/>
        </p:nvSpPr>
        <p:spPr>
          <a:xfrm>
            <a:off x="594360" y="3611880"/>
            <a:ext cx="3474720" cy="365760"/>
          </a:xfrm>
          <a:prstGeom prst="rect">
            <a:avLst/>
          </a:prstGeom>
          <a:noFill/>
          <a:ln/>
        </p:spPr>
        <p:txBody>
          <a:bodyPr wrap="square" rtlCol="0" anchor="ctr"/>
          <a:lstStyle/>
          <a:p>
            <a:pPr marL="0" indent="0">
              <a:buNone/>
            </a:pPr>
            <a:endParaRPr lang="en-US" sz="1100" dirty="0"/>
          </a:p>
        </p:txBody>
      </p:sp>
      <p:sp>
        <p:nvSpPr>
          <p:cNvPr id="26" name="Text 24"/>
          <p:cNvSpPr/>
          <p:nvPr/>
        </p:nvSpPr>
        <p:spPr>
          <a:xfrm>
            <a:off x="4069080" y="3648456"/>
            <a:ext cx="914400" cy="292608"/>
          </a:xfrm>
          <a:prstGeom prst="rect">
            <a:avLst/>
          </a:prstGeom>
          <a:noFill/>
          <a:ln/>
        </p:spPr>
        <p:txBody>
          <a:bodyPr wrap="square" lIns="0" tIns="0" rIns="0" bIns="0" rtlCol="0" anchor="ctr"/>
          <a:lstStyle/>
          <a:p>
            <a:pPr marL="0" indent="0" algn="ctr">
              <a:buNone/>
            </a:pPr>
            <a:endParaRPr lang="en-US" sz="1200" dirty="0"/>
          </a:p>
        </p:txBody>
      </p:sp>
      <p:sp>
        <p:nvSpPr>
          <p:cNvPr id="28" name="Text 26"/>
          <p:cNvSpPr/>
          <p:nvPr/>
        </p:nvSpPr>
        <p:spPr>
          <a:xfrm>
            <a:off x="594360" y="4023360"/>
            <a:ext cx="3474720" cy="365760"/>
          </a:xfrm>
          <a:prstGeom prst="rect">
            <a:avLst/>
          </a:prstGeom>
          <a:noFill/>
          <a:ln/>
        </p:spPr>
        <p:txBody>
          <a:bodyPr wrap="square" rtlCol="0" anchor="ctr"/>
          <a:lstStyle/>
          <a:p>
            <a:pPr marL="0" indent="0">
              <a:buNone/>
            </a:pPr>
            <a:endParaRPr lang="en-US" sz="1100" dirty="0"/>
          </a:p>
        </p:txBody>
      </p:sp>
      <p:sp>
        <p:nvSpPr>
          <p:cNvPr id="30" name="Text 28"/>
          <p:cNvSpPr/>
          <p:nvPr/>
        </p:nvSpPr>
        <p:spPr>
          <a:xfrm>
            <a:off x="4069080" y="4059936"/>
            <a:ext cx="914400" cy="292608"/>
          </a:xfrm>
          <a:prstGeom prst="rect">
            <a:avLst/>
          </a:prstGeom>
          <a:noFill/>
          <a:ln/>
        </p:spPr>
        <p:txBody>
          <a:bodyPr wrap="square" lIns="0" tIns="0" rIns="0" bIns="0" rtlCol="0" anchor="ctr"/>
          <a:lstStyle/>
          <a:p>
            <a:pPr marL="0" indent="0" algn="ctr">
              <a:buNone/>
            </a:pPr>
            <a:endParaRPr lang="en-US" sz="1200" dirty="0"/>
          </a:p>
        </p:txBody>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endParaRPr lang="en-US" sz="1800" dirty="0"/>
          </a:p>
        </p:txBody>
      </p:sp>
      <p:sp>
        <p:nvSpPr>
          <p:cNvPr id="33" name="Text 31"/>
          <p:cNvSpPr/>
          <p:nvPr/>
        </p:nvSpPr>
        <p:spPr>
          <a:xfrm>
            <a:off x="5669280" y="2011680"/>
            <a:ext cx="3200400" cy="731520"/>
          </a:xfrm>
          <a:prstGeom prst="rect">
            <a:avLst/>
          </a:prstGeom>
          <a:noFill/>
          <a:ln/>
        </p:spPr>
        <p:txBody>
          <a:bodyPr wrap="square" rtlCol="0" anchor="ctr"/>
          <a:lstStyle/>
          <a:p>
            <a:pPr marL="0" indent="0" algn="ctr">
              <a:buNone/>
            </a:pPr>
            <a:endParaRPr lang="en-US" sz="1400" dirty="0"/>
          </a:p>
        </p:txBody>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endParaRPr lang="en-US" sz="1400" dirty="0"/>
          </a:p>
        </p:txBody>
      </p:sp>
      <p:pic>
        <p:nvPicPr>
          <p:cNvPr id="38" name="Picture 37">
            <a:extLst>
              <a:ext uri="{FF2B5EF4-FFF2-40B4-BE49-F238E27FC236}">
                <a16:creationId xmlns:a16="http://schemas.microsoft.com/office/drawing/2014/main" id="{6B2DD08C-C5AA-4E6D-9088-56A81BDEE024}"/>
              </a:ext>
            </a:extLst>
          </p:cNvPr>
          <p:cNvPicPr>
            <a:picLocks noChangeAspect="1"/>
          </p:cNvPicPr>
          <p:nvPr/>
        </p:nvPicPr>
        <p:blipFill>
          <a:blip r:embed="rId3"/>
          <a:stretch>
            <a:fillRect/>
          </a:stretch>
        </p:blipFill>
        <p:spPr>
          <a:xfrm>
            <a:off x="464401" y="1392310"/>
            <a:ext cx="3010320" cy="1752845"/>
          </a:xfrm>
          <a:prstGeom prst="rect">
            <a:avLst/>
          </a:prstGeom>
        </p:spPr>
      </p:pic>
      <p:pic>
        <p:nvPicPr>
          <p:cNvPr id="40" name="Picture 39">
            <a:extLst>
              <a:ext uri="{FF2B5EF4-FFF2-40B4-BE49-F238E27FC236}">
                <a16:creationId xmlns:a16="http://schemas.microsoft.com/office/drawing/2014/main" id="{58363963-E069-4364-BA6A-DFFA93EBA2FD}"/>
              </a:ext>
            </a:extLst>
          </p:cNvPr>
          <p:cNvPicPr>
            <a:picLocks noChangeAspect="1"/>
          </p:cNvPicPr>
          <p:nvPr/>
        </p:nvPicPr>
        <p:blipFill>
          <a:blip r:embed="rId4"/>
          <a:stretch>
            <a:fillRect/>
          </a:stretch>
        </p:blipFill>
        <p:spPr>
          <a:xfrm>
            <a:off x="464401" y="3118104"/>
            <a:ext cx="5589771" cy="1408176"/>
          </a:xfrm>
          <a:prstGeom prst="rect">
            <a:avLst/>
          </a:prstGeom>
        </p:spPr>
      </p:pic>
    </p:spTree>
    <p:extLst>
      <p:ext uri="{BB962C8B-B14F-4D97-AF65-F5344CB8AC3E}">
        <p14:creationId xmlns:p14="http://schemas.microsoft.com/office/powerpoint/2010/main" val="3568033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marL="0" indent="0">
              <a:buNone/>
            </a:pPr>
            <a:r>
              <a:rPr lang="en-US" sz="2000" b="1" dirty="0">
                <a:solidFill>
                  <a:srgbClr val="FFFFFF"/>
                </a:solidFill>
              </a:rPr>
              <a:t>② RANDOM FOREST ENSEMBLE — Tahap Klasifikasi</a:t>
            </a:r>
            <a:endParaRPr lang="en-US" sz="2000" dirty="0"/>
          </a:p>
        </p:txBody>
      </p:sp>
      <p:sp>
        <p:nvSpPr>
          <p:cNvPr id="4" name="Shape 2"/>
          <p:cNvSpPr/>
          <p:nvPr/>
        </p:nvSpPr>
        <p:spPr>
          <a:xfrm>
            <a:off x="721995" y="1165860"/>
            <a:ext cx="2834640" cy="3657600"/>
          </a:xfrm>
          <a:prstGeom prst="roundRect">
            <a:avLst>
              <a:gd name="adj" fmla="val 3871"/>
            </a:avLst>
          </a:prstGeom>
          <a:solidFill>
            <a:srgbClr val="0D9488">
              <a:alpha val="20000"/>
            </a:srgbClr>
          </a:solidFill>
          <a:ln w="19050">
            <a:solidFill>
              <a:srgbClr val="0D9488"/>
            </a:solidFill>
            <a:prstDash val="solid"/>
          </a:ln>
          <a:effectLst>
            <a:outerShdw blurRad="101600" dist="38100" dir="2700000" algn="bl" rotWithShape="0">
              <a:srgbClr val="000000">
                <a:alpha val="18000"/>
              </a:srgbClr>
            </a:outerShdw>
          </a:effectLst>
        </p:spPr>
        <p:txBody>
          <a:bodyPr/>
          <a:lstStyle/>
          <a:p>
            <a:endParaRPr lang="en-US" dirty="0"/>
          </a:p>
        </p:txBody>
      </p:sp>
      <p:sp>
        <p:nvSpPr>
          <p:cNvPr id="7" name="Text 5"/>
          <p:cNvSpPr/>
          <p:nvPr/>
        </p:nvSpPr>
        <p:spPr>
          <a:xfrm>
            <a:off x="182880" y="1188720"/>
            <a:ext cx="2834640" cy="457200"/>
          </a:xfrm>
          <a:prstGeom prst="rect">
            <a:avLst/>
          </a:prstGeom>
          <a:noFill/>
          <a:ln/>
        </p:spPr>
        <p:txBody>
          <a:bodyPr wrap="square" rtlCol="0" anchor="ctr"/>
          <a:lstStyle/>
          <a:p>
            <a:pPr marL="0" indent="0" algn="ctr">
              <a:buNone/>
            </a:pPr>
            <a:endParaRPr lang="en-US" sz="2400" dirty="0"/>
          </a:p>
        </p:txBody>
      </p:sp>
      <p:sp>
        <p:nvSpPr>
          <p:cNvPr id="8" name="Text 6"/>
          <p:cNvSpPr/>
          <p:nvPr/>
        </p:nvSpPr>
        <p:spPr>
          <a:xfrm>
            <a:off x="668655" y="1344168"/>
            <a:ext cx="2834640" cy="685800"/>
          </a:xfrm>
          <a:prstGeom prst="rect">
            <a:avLst/>
          </a:prstGeom>
          <a:noFill/>
          <a:ln/>
        </p:spPr>
        <p:txBody>
          <a:bodyPr wrap="square" rtlCol="0" anchor="ctr"/>
          <a:lstStyle/>
          <a:p>
            <a:pPr marL="0" indent="0" algn="ctr">
              <a:buNone/>
            </a:pPr>
            <a:r>
              <a:rPr lang="en-US" sz="1400" b="1" dirty="0">
                <a:solidFill>
                  <a:srgbClr val="FFFFFF"/>
                </a:solidFill>
              </a:rPr>
              <a:t>Random Forest</a:t>
            </a:r>
            <a:endParaRPr lang="en-US" sz="1400" dirty="0"/>
          </a:p>
        </p:txBody>
      </p:sp>
      <p:sp>
        <p:nvSpPr>
          <p:cNvPr id="9" name="Text 7"/>
          <p:cNvSpPr/>
          <p:nvPr/>
        </p:nvSpPr>
        <p:spPr>
          <a:xfrm>
            <a:off x="851535" y="2103120"/>
            <a:ext cx="2468880" cy="384048"/>
          </a:xfrm>
          <a:prstGeom prst="rect">
            <a:avLst/>
          </a:prstGeom>
          <a:noFill/>
          <a:ln/>
        </p:spPr>
        <p:txBody>
          <a:bodyPr wrap="square" rtlCol="0" anchor="ctr"/>
          <a:lstStyle/>
          <a:p>
            <a:pPr marL="0" indent="0">
              <a:buNone/>
            </a:pPr>
            <a:r>
              <a:rPr lang="en-US" sz="1050" dirty="0">
                <a:solidFill>
                  <a:srgbClr val="CBD5E1"/>
                </a:solidFill>
              </a:rPr>
              <a:t>• n_estimators: 200 pohon</a:t>
            </a:r>
            <a:endParaRPr lang="en-US" sz="1050" dirty="0"/>
          </a:p>
        </p:txBody>
      </p:sp>
      <p:sp>
        <p:nvSpPr>
          <p:cNvPr id="10" name="Text 8"/>
          <p:cNvSpPr/>
          <p:nvPr/>
        </p:nvSpPr>
        <p:spPr>
          <a:xfrm>
            <a:off x="851535" y="2514600"/>
            <a:ext cx="2468880" cy="384048"/>
          </a:xfrm>
          <a:prstGeom prst="rect">
            <a:avLst/>
          </a:prstGeom>
          <a:noFill/>
          <a:ln/>
        </p:spPr>
        <p:txBody>
          <a:bodyPr wrap="square" rtlCol="0" anchor="ctr"/>
          <a:lstStyle/>
          <a:p>
            <a:pPr marL="0" indent="0">
              <a:buNone/>
            </a:pPr>
            <a:r>
              <a:rPr lang="en-US" sz="1050" dirty="0">
                <a:solidFill>
                  <a:srgbClr val="CBD5E1"/>
                </a:solidFill>
              </a:rPr>
              <a:t>• max_depth: 15</a:t>
            </a:r>
            <a:endParaRPr lang="en-US" sz="1050" dirty="0"/>
          </a:p>
        </p:txBody>
      </p:sp>
      <p:sp>
        <p:nvSpPr>
          <p:cNvPr id="11" name="Text 9"/>
          <p:cNvSpPr/>
          <p:nvPr/>
        </p:nvSpPr>
        <p:spPr>
          <a:xfrm>
            <a:off x="851535" y="2926080"/>
            <a:ext cx="2468880" cy="384048"/>
          </a:xfrm>
          <a:prstGeom prst="rect">
            <a:avLst/>
          </a:prstGeom>
          <a:noFill/>
          <a:ln/>
        </p:spPr>
        <p:txBody>
          <a:bodyPr wrap="square" rtlCol="0" anchor="ctr"/>
          <a:lstStyle/>
          <a:p>
            <a:pPr marL="0" indent="0">
              <a:buNone/>
            </a:pPr>
            <a:r>
              <a:rPr lang="en-US" sz="1050" dirty="0">
                <a:solidFill>
                  <a:srgbClr val="CBD5E1"/>
                </a:solidFill>
              </a:rPr>
              <a:t>• class_weight: balanced</a:t>
            </a:r>
            <a:endParaRPr lang="en-US" sz="1050" dirty="0"/>
          </a:p>
        </p:txBody>
      </p:sp>
      <p:sp>
        <p:nvSpPr>
          <p:cNvPr id="12" name="Text 10"/>
          <p:cNvSpPr/>
          <p:nvPr/>
        </p:nvSpPr>
        <p:spPr>
          <a:xfrm>
            <a:off x="851535" y="3337560"/>
            <a:ext cx="2468880" cy="384048"/>
          </a:xfrm>
          <a:prstGeom prst="rect">
            <a:avLst/>
          </a:prstGeom>
          <a:noFill/>
          <a:ln/>
        </p:spPr>
        <p:txBody>
          <a:bodyPr wrap="square" rtlCol="0" anchor="ctr"/>
          <a:lstStyle/>
          <a:p>
            <a:pPr marL="0" indent="0">
              <a:buNone/>
            </a:pPr>
            <a:r>
              <a:rPr lang="en-US" sz="1050" dirty="0">
                <a:solidFill>
                  <a:srgbClr val="CBD5E1"/>
                </a:solidFill>
              </a:rPr>
              <a:t>• n_jobs: -1 (paralel)</a:t>
            </a:r>
            <a:endParaRPr lang="en-US" sz="1050" dirty="0"/>
          </a:p>
        </p:txBody>
      </p:sp>
      <p:sp>
        <p:nvSpPr>
          <p:cNvPr id="13" name="Shape 11"/>
          <p:cNvSpPr/>
          <p:nvPr/>
        </p:nvSpPr>
        <p:spPr>
          <a:xfrm>
            <a:off x="760095" y="3767328"/>
            <a:ext cx="2651760" cy="18288"/>
          </a:xfrm>
          <a:prstGeom prst="rect">
            <a:avLst/>
          </a:prstGeom>
          <a:solidFill>
            <a:srgbClr val="0D9488"/>
          </a:solidFill>
          <a:ln w="12700">
            <a:solidFill>
              <a:srgbClr val="0D9488"/>
            </a:solidFill>
            <a:prstDash val="solid"/>
          </a:ln>
        </p:spPr>
      </p:sp>
      <p:sp>
        <p:nvSpPr>
          <p:cNvPr id="14" name="Text 12"/>
          <p:cNvSpPr/>
          <p:nvPr/>
        </p:nvSpPr>
        <p:spPr>
          <a:xfrm>
            <a:off x="805815" y="3813048"/>
            <a:ext cx="2560320" cy="822960"/>
          </a:xfrm>
          <a:prstGeom prst="rect">
            <a:avLst/>
          </a:prstGeom>
          <a:noFill/>
          <a:ln/>
        </p:spPr>
        <p:txBody>
          <a:bodyPr wrap="square" rtlCol="0" anchor="ctr"/>
          <a:lstStyle/>
          <a:p>
            <a:pPr marL="0" indent="0">
              <a:buNone/>
            </a:pPr>
            <a:r>
              <a:rPr lang="en-US" sz="1000" dirty="0">
                <a:solidFill>
                  <a:srgbClr val="94A3B8"/>
                </a:solidFill>
              </a:rPr>
              <a:t>200 pohon keputusan acak, hasil divoting. Kuat untuk data tabular.</a:t>
            </a:r>
            <a:endParaRPr lang="en-US" sz="1000" dirty="0"/>
          </a:p>
        </p:txBody>
      </p:sp>
      <p:sp>
        <p:nvSpPr>
          <p:cNvPr id="28" name="Text 26"/>
          <p:cNvSpPr/>
          <p:nvPr/>
        </p:nvSpPr>
        <p:spPr>
          <a:xfrm>
            <a:off x="7827264" y="1005840"/>
            <a:ext cx="1005840" cy="320040"/>
          </a:xfrm>
          <a:prstGeom prst="rect">
            <a:avLst/>
          </a:prstGeom>
          <a:noFill/>
          <a:ln/>
        </p:spPr>
        <p:txBody>
          <a:bodyPr wrap="square" lIns="0" tIns="0" rIns="0" bIns="0" rtlCol="0" anchor="ctr"/>
          <a:lstStyle/>
          <a:p>
            <a:pPr marL="0" indent="0" algn="ctr">
              <a:buNone/>
            </a:pPr>
            <a:endParaRPr lang="en-US" sz="900" dirty="0"/>
          </a:p>
        </p:txBody>
      </p:sp>
      <p:sp>
        <p:nvSpPr>
          <p:cNvPr id="31" name="Text 29"/>
          <p:cNvSpPr/>
          <p:nvPr/>
        </p:nvSpPr>
        <p:spPr>
          <a:xfrm>
            <a:off x="6364224" y="2084832"/>
            <a:ext cx="2468880" cy="384048"/>
          </a:xfrm>
          <a:prstGeom prst="rect">
            <a:avLst/>
          </a:prstGeom>
          <a:noFill/>
          <a:ln/>
        </p:spPr>
        <p:txBody>
          <a:bodyPr wrap="square" rtlCol="0" anchor="ctr"/>
          <a:lstStyle/>
          <a:p>
            <a:pPr marL="0" indent="0">
              <a:buNone/>
            </a:pPr>
            <a:endParaRPr lang="en-US" sz="1050" dirty="0"/>
          </a:p>
        </p:txBody>
      </p:sp>
      <p:sp>
        <p:nvSpPr>
          <p:cNvPr id="32" name="Text 30"/>
          <p:cNvSpPr/>
          <p:nvPr/>
        </p:nvSpPr>
        <p:spPr>
          <a:xfrm>
            <a:off x="6392799" y="2496312"/>
            <a:ext cx="2468880" cy="384048"/>
          </a:xfrm>
          <a:prstGeom prst="rect">
            <a:avLst/>
          </a:prstGeom>
          <a:noFill/>
          <a:ln/>
        </p:spPr>
        <p:txBody>
          <a:bodyPr wrap="square" rtlCol="0" anchor="ctr"/>
          <a:lstStyle/>
          <a:p>
            <a:pPr marL="0" indent="0">
              <a:buNone/>
            </a:pPr>
            <a:endParaRPr lang="en-US" sz="1050" dirty="0"/>
          </a:p>
        </p:txBody>
      </p:sp>
      <p:sp>
        <p:nvSpPr>
          <p:cNvPr id="34" name="Text 32"/>
          <p:cNvSpPr/>
          <p:nvPr/>
        </p:nvSpPr>
        <p:spPr>
          <a:xfrm>
            <a:off x="6364224" y="3319272"/>
            <a:ext cx="2468880" cy="384048"/>
          </a:xfrm>
          <a:prstGeom prst="rect">
            <a:avLst/>
          </a:prstGeom>
          <a:noFill/>
          <a:ln/>
        </p:spPr>
        <p:txBody>
          <a:bodyPr wrap="square" rtlCol="0" anchor="ctr"/>
          <a:lstStyle/>
          <a:p>
            <a:pPr marL="0" indent="0">
              <a:buNone/>
            </a:pPr>
            <a:endParaRPr lang="en-US" sz="1050" dirty="0"/>
          </a:p>
        </p:txBody>
      </p:sp>
      <p:sp>
        <p:nvSpPr>
          <p:cNvPr id="38" name="Text 36"/>
          <p:cNvSpPr/>
          <p:nvPr/>
        </p:nvSpPr>
        <p:spPr>
          <a:xfrm>
            <a:off x="914400" y="4754880"/>
            <a:ext cx="7315200" cy="320040"/>
          </a:xfrm>
          <a:prstGeom prst="rect">
            <a:avLst/>
          </a:prstGeom>
          <a:noFill/>
          <a:ln/>
        </p:spPr>
        <p:txBody>
          <a:bodyPr wrap="square" lIns="0" tIns="0" rIns="0" bIns="0" rtlCol="0" anchor="ctr"/>
          <a:lstStyle/>
          <a:p>
            <a:pPr marL="0" indent="0" algn="ctr">
              <a:buNone/>
            </a:pPr>
            <a:endParaRPr lang="en-US" sz="1100" dirty="0"/>
          </a:p>
        </p:txBody>
      </p:sp>
      <p:pic>
        <p:nvPicPr>
          <p:cNvPr id="40" name="Picture 39">
            <a:extLst>
              <a:ext uri="{FF2B5EF4-FFF2-40B4-BE49-F238E27FC236}">
                <a16:creationId xmlns:a16="http://schemas.microsoft.com/office/drawing/2014/main" id="{955A8B2E-1CB3-48A6-BD27-4536F5C8C1B9}"/>
              </a:ext>
            </a:extLst>
          </p:cNvPr>
          <p:cNvPicPr>
            <a:picLocks noChangeAspect="1"/>
          </p:cNvPicPr>
          <p:nvPr/>
        </p:nvPicPr>
        <p:blipFill>
          <a:blip r:embed="rId3"/>
          <a:stretch>
            <a:fillRect/>
          </a:stretch>
        </p:blipFill>
        <p:spPr>
          <a:xfrm>
            <a:off x="3896443" y="1402281"/>
            <a:ext cx="3381847" cy="257210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AUTO-LABELING — Membuat Label Training Otomatis</a:t>
            </a:r>
            <a:endParaRPr lang="en-US" sz="1800" dirty="0"/>
          </a:p>
        </p:txBody>
      </p:sp>
      <p:sp>
        <p:nvSpPr>
          <p:cNvPr id="4" name="Text 2"/>
          <p:cNvSpPr/>
          <p:nvPr/>
        </p:nvSpPr>
        <p:spPr>
          <a:xfrm>
            <a:off x="457200" y="960120"/>
            <a:ext cx="8229600" cy="347472"/>
          </a:xfrm>
          <a:prstGeom prst="rect">
            <a:avLst/>
          </a:prstGeom>
          <a:noFill/>
          <a:ln/>
        </p:spPr>
        <p:txBody>
          <a:bodyPr wrap="square" rtlCol="0" anchor="ctr"/>
          <a:lstStyle/>
          <a:p>
            <a:pPr marL="0" indent="0">
              <a:buNone/>
            </a:pPr>
            <a:r>
              <a:rPr lang="en-US" sz="1300" dirty="0">
                <a:solidFill>
                  <a:srgbClr val="333333"/>
                </a:solidFill>
              </a:rPr>
              <a:t>Karena dataset tidak punya label 'layak/tidak layak', sistem membuat sendiri pakai sistem skor:</a:t>
            </a:r>
            <a:endParaRPr lang="en-US" sz="1300" dirty="0"/>
          </a:p>
        </p:txBody>
      </p:sp>
      <p:sp>
        <p:nvSpPr>
          <p:cNvPr id="5" name="Shape 3"/>
          <p:cNvSpPr/>
          <p:nvPr/>
        </p:nvSpPr>
        <p:spPr>
          <a:xfrm>
            <a:off x="365760" y="1371600"/>
            <a:ext cx="35890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6" name="Text 4"/>
          <p:cNvSpPr/>
          <p:nvPr/>
        </p:nvSpPr>
        <p:spPr>
          <a:xfrm>
            <a:off x="548640" y="1508760"/>
            <a:ext cx="4572000" cy="347472"/>
          </a:xfrm>
          <a:prstGeom prst="rect">
            <a:avLst/>
          </a:prstGeom>
          <a:noFill/>
          <a:ln/>
        </p:spPr>
        <p:txBody>
          <a:bodyPr wrap="square" rtlCol="0" anchor="ctr"/>
          <a:lstStyle/>
          <a:p>
            <a:pPr marL="0" indent="0">
              <a:buNone/>
            </a:pPr>
            <a:endParaRPr lang="en-US" sz="1300" dirty="0"/>
          </a:p>
        </p:txBody>
      </p:sp>
      <p:sp>
        <p:nvSpPr>
          <p:cNvPr id="8" name="Text 6"/>
          <p:cNvSpPr/>
          <p:nvPr/>
        </p:nvSpPr>
        <p:spPr>
          <a:xfrm>
            <a:off x="594360" y="1965960"/>
            <a:ext cx="3474720" cy="365760"/>
          </a:xfrm>
          <a:prstGeom prst="rect">
            <a:avLst/>
          </a:prstGeom>
          <a:noFill/>
          <a:ln/>
        </p:spPr>
        <p:txBody>
          <a:bodyPr wrap="square" rtlCol="0" anchor="ctr"/>
          <a:lstStyle/>
          <a:p>
            <a:pPr marL="0" indent="0">
              <a:buNone/>
            </a:pPr>
            <a:endParaRPr lang="en-US" sz="1100" dirty="0"/>
          </a:p>
        </p:txBody>
      </p:sp>
      <p:sp>
        <p:nvSpPr>
          <p:cNvPr id="16" name="Text 14"/>
          <p:cNvSpPr/>
          <p:nvPr/>
        </p:nvSpPr>
        <p:spPr>
          <a:xfrm>
            <a:off x="594360" y="2788920"/>
            <a:ext cx="3474720" cy="36576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069080" y="282549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20" name="Text 18"/>
          <p:cNvSpPr/>
          <p:nvPr/>
        </p:nvSpPr>
        <p:spPr>
          <a:xfrm>
            <a:off x="594360" y="3200400"/>
            <a:ext cx="3474720" cy="365760"/>
          </a:xfrm>
          <a:prstGeom prst="rect">
            <a:avLst/>
          </a:prstGeom>
          <a:noFill/>
          <a:ln/>
        </p:spPr>
        <p:txBody>
          <a:bodyPr wrap="square" rtlCol="0" anchor="ctr"/>
          <a:lstStyle/>
          <a:p>
            <a:pPr marL="0" indent="0">
              <a:buNone/>
            </a:pPr>
            <a:endParaRPr lang="en-US" sz="1100" dirty="0"/>
          </a:p>
        </p:txBody>
      </p:sp>
      <p:sp>
        <p:nvSpPr>
          <p:cNvPr id="24" name="Text 22"/>
          <p:cNvSpPr/>
          <p:nvPr/>
        </p:nvSpPr>
        <p:spPr>
          <a:xfrm>
            <a:off x="594360" y="3611880"/>
            <a:ext cx="3474720" cy="365760"/>
          </a:xfrm>
          <a:prstGeom prst="rect">
            <a:avLst/>
          </a:prstGeom>
          <a:noFill/>
          <a:ln/>
        </p:spPr>
        <p:txBody>
          <a:bodyPr wrap="square" rtlCol="0" anchor="ctr"/>
          <a:lstStyle/>
          <a:p>
            <a:pPr marL="0" indent="0">
              <a:buNone/>
            </a:pPr>
            <a:endParaRPr lang="en-US" sz="1100" dirty="0"/>
          </a:p>
        </p:txBody>
      </p:sp>
      <p:sp>
        <p:nvSpPr>
          <p:cNvPr id="26" name="Text 24"/>
          <p:cNvSpPr/>
          <p:nvPr/>
        </p:nvSpPr>
        <p:spPr>
          <a:xfrm>
            <a:off x="4069080" y="364845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30" name="Text 28"/>
          <p:cNvSpPr/>
          <p:nvPr/>
        </p:nvSpPr>
        <p:spPr>
          <a:xfrm>
            <a:off x="4069080" y="4059936"/>
            <a:ext cx="914400" cy="292608"/>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r>
              <a:rPr lang="en-US" sz="1800" b="1" dirty="0">
                <a:solidFill>
                  <a:srgbClr val="FFFFFF"/>
                </a:solidFill>
              </a:rPr>
              <a:t>SKOR ≥ 3</a:t>
            </a:r>
            <a:endParaRPr lang="en-US" sz="1800" dirty="0"/>
          </a:p>
        </p:txBody>
      </p:sp>
      <p:sp>
        <p:nvSpPr>
          <p:cNvPr id="33" name="Text 31"/>
          <p:cNvSpPr/>
          <p:nvPr/>
        </p:nvSpPr>
        <p:spPr>
          <a:xfrm>
            <a:off x="5669280" y="2011680"/>
            <a:ext cx="3200400" cy="731520"/>
          </a:xfrm>
          <a:prstGeom prst="rect">
            <a:avLst/>
          </a:prstGeom>
          <a:noFill/>
          <a:ln/>
        </p:spPr>
        <p:txBody>
          <a:bodyPr wrap="square" rtlCol="0" anchor="ctr"/>
          <a:lstStyle/>
          <a:p>
            <a:pPr marL="0" indent="0" algn="ctr">
              <a:buNone/>
            </a:pPr>
            <a:endParaRPr lang="en-US" sz="1400" dirty="0"/>
          </a:p>
        </p:txBody>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r>
              <a:rPr lang="en-US" sz="1800" b="1" dirty="0">
                <a:solidFill>
                  <a:srgbClr val="FFFFFF"/>
                </a:solidFill>
              </a:rPr>
              <a:t>SKOR &lt; 3</a:t>
            </a: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r>
              <a:rPr lang="en-US" sz="1400" dirty="0">
                <a:solidFill>
                  <a:srgbClr val="FFFFFF"/>
                </a:solidFill>
              </a:rPr>
              <a:t>= TIDAK LAYAK</a:t>
            </a:r>
            <a:endParaRPr lang="en-US" sz="1400" dirty="0"/>
          </a:p>
          <a:p>
            <a:pPr marL="0" indent="0" algn="ctr">
              <a:buNone/>
            </a:pPr>
            <a:r>
              <a:rPr lang="en-US" sz="1400" dirty="0">
                <a:solidFill>
                  <a:srgbClr val="FFFFFF"/>
                </a:solidFill>
              </a:rPr>
              <a:t>(Label: 0)</a:t>
            </a:r>
            <a:endParaRPr lang="en-US" sz="1400" dirty="0"/>
          </a:p>
        </p:txBody>
      </p:sp>
      <p:pic>
        <p:nvPicPr>
          <p:cNvPr id="38" name="Picture 37">
            <a:extLst>
              <a:ext uri="{FF2B5EF4-FFF2-40B4-BE49-F238E27FC236}">
                <a16:creationId xmlns:a16="http://schemas.microsoft.com/office/drawing/2014/main" id="{805006B1-E53E-4C41-ABD1-F87460EF78D9}"/>
              </a:ext>
            </a:extLst>
          </p:cNvPr>
          <p:cNvPicPr>
            <a:picLocks noChangeAspect="1"/>
          </p:cNvPicPr>
          <p:nvPr/>
        </p:nvPicPr>
        <p:blipFill>
          <a:blip r:embed="rId3"/>
          <a:stretch>
            <a:fillRect/>
          </a:stretch>
        </p:blipFill>
        <p:spPr>
          <a:xfrm>
            <a:off x="754380" y="1671066"/>
            <a:ext cx="3200400" cy="2652803"/>
          </a:xfrm>
          <a:prstGeom prst="rect">
            <a:avLst/>
          </a:prstGeom>
        </p:spPr>
      </p:pic>
      <p:sp>
        <p:nvSpPr>
          <p:cNvPr id="39" name="Shape 3">
            <a:extLst>
              <a:ext uri="{FF2B5EF4-FFF2-40B4-BE49-F238E27FC236}">
                <a16:creationId xmlns:a16="http://schemas.microsoft.com/office/drawing/2014/main" id="{E56C60D1-3B00-4639-BABF-300965597753}"/>
              </a:ext>
            </a:extLst>
          </p:cNvPr>
          <p:cNvSpPr/>
          <p:nvPr/>
        </p:nvSpPr>
        <p:spPr>
          <a:xfrm>
            <a:off x="5040630" y="1371600"/>
            <a:ext cx="35890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pic>
        <p:nvPicPr>
          <p:cNvPr id="41" name="Picture 40">
            <a:extLst>
              <a:ext uri="{FF2B5EF4-FFF2-40B4-BE49-F238E27FC236}">
                <a16:creationId xmlns:a16="http://schemas.microsoft.com/office/drawing/2014/main" id="{1001B92D-39DF-424C-BC57-2A25CF0B313E}"/>
              </a:ext>
            </a:extLst>
          </p:cNvPr>
          <p:cNvPicPr>
            <a:picLocks noChangeAspect="1"/>
          </p:cNvPicPr>
          <p:nvPr/>
        </p:nvPicPr>
        <p:blipFill>
          <a:blip r:embed="rId4"/>
          <a:stretch>
            <a:fillRect/>
          </a:stretch>
        </p:blipFill>
        <p:spPr>
          <a:xfrm>
            <a:off x="5177790" y="1446624"/>
            <a:ext cx="3063240" cy="1708056"/>
          </a:xfrm>
          <a:prstGeom prst="rect">
            <a:avLst/>
          </a:prstGeom>
        </p:spPr>
      </p:pic>
      <p:pic>
        <p:nvPicPr>
          <p:cNvPr id="43" name="Picture 42">
            <a:extLst>
              <a:ext uri="{FF2B5EF4-FFF2-40B4-BE49-F238E27FC236}">
                <a16:creationId xmlns:a16="http://schemas.microsoft.com/office/drawing/2014/main" id="{65C69DEB-EA30-416B-87AE-2CEECE933375}"/>
              </a:ext>
            </a:extLst>
          </p:cNvPr>
          <p:cNvPicPr>
            <a:picLocks noChangeAspect="1"/>
          </p:cNvPicPr>
          <p:nvPr/>
        </p:nvPicPr>
        <p:blipFill>
          <a:blip r:embed="rId5"/>
          <a:stretch>
            <a:fillRect/>
          </a:stretch>
        </p:blipFill>
        <p:spPr>
          <a:xfrm>
            <a:off x="5097780" y="3226297"/>
            <a:ext cx="3427095" cy="1133386"/>
          </a:xfrm>
          <a:prstGeom prst="rect">
            <a:avLst/>
          </a:prstGeom>
        </p:spPr>
      </p:pic>
    </p:spTree>
    <p:extLst>
      <p:ext uri="{BB962C8B-B14F-4D97-AF65-F5344CB8AC3E}">
        <p14:creationId xmlns:p14="http://schemas.microsoft.com/office/powerpoint/2010/main" val="1652972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Hasil Training dam Hyper Tunning </a:t>
            </a:r>
            <a:endParaRPr lang="en-US" sz="1800" dirty="0"/>
          </a:p>
        </p:txBody>
      </p:sp>
      <p:sp>
        <p:nvSpPr>
          <p:cNvPr id="5" name="Shape 3"/>
          <p:cNvSpPr/>
          <p:nvPr/>
        </p:nvSpPr>
        <p:spPr>
          <a:xfrm>
            <a:off x="411480" y="1394460"/>
            <a:ext cx="40081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6" name="Text 4"/>
          <p:cNvSpPr/>
          <p:nvPr/>
        </p:nvSpPr>
        <p:spPr>
          <a:xfrm>
            <a:off x="548640" y="1508760"/>
            <a:ext cx="4572000" cy="347472"/>
          </a:xfrm>
          <a:prstGeom prst="rect">
            <a:avLst/>
          </a:prstGeom>
          <a:noFill/>
          <a:ln/>
        </p:spPr>
        <p:txBody>
          <a:bodyPr wrap="square" rtlCol="0" anchor="ctr"/>
          <a:lstStyle/>
          <a:p>
            <a:pPr marL="0" indent="0">
              <a:buNone/>
            </a:pPr>
            <a:endParaRPr lang="en-US" sz="1300" dirty="0"/>
          </a:p>
        </p:txBody>
      </p:sp>
      <p:sp>
        <p:nvSpPr>
          <p:cNvPr id="8" name="Text 6"/>
          <p:cNvSpPr/>
          <p:nvPr/>
        </p:nvSpPr>
        <p:spPr>
          <a:xfrm>
            <a:off x="594360" y="1965960"/>
            <a:ext cx="3474720" cy="365760"/>
          </a:xfrm>
          <a:prstGeom prst="rect">
            <a:avLst/>
          </a:prstGeom>
          <a:noFill/>
          <a:ln/>
        </p:spPr>
        <p:txBody>
          <a:bodyPr wrap="square" rtlCol="0" anchor="ctr"/>
          <a:lstStyle/>
          <a:p>
            <a:pPr marL="0" indent="0">
              <a:buNone/>
            </a:pPr>
            <a:endParaRPr lang="en-US" sz="1100" dirty="0"/>
          </a:p>
        </p:txBody>
      </p:sp>
      <p:sp>
        <p:nvSpPr>
          <p:cNvPr id="10" name="Text 8"/>
          <p:cNvSpPr/>
          <p:nvPr/>
        </p:nvSpPr>
        <p:spPr>
          <a:xfrm>
            <a:off x="4069080" y="2002536"/>
            <a:ext cx="914400" cy="292608"/>
          </a:xfrm>
          <a:prstGeom prst="rect">
            <a:avLst/>
          </a:prstGeom>
          <a:noFill/>
          <a:ln/>
        </p:spPr>
        <p:txBody>
          <a:bodyPr wrap="square" lIns="0" tIns="0" rIns="0" bIns="0" rtlCol="0" anchor="ctr"/>
          <a:lstStyle/>
          <a:p>
            <a:pPr marL="0" indent="0" algn="ctr">
              <a:buNone/>
            </a:pPr>
            <a:endParaRPr lang="en-US" sz="1200" dirty="0"/>
          </a:p>
        </p:txBody>
      </p:sp>
      <p:sp>
        <p:nvSpPr>
          <p:cNvPr id="12" name="Text 10"/>
          <p:cNvSpPr/>
          <p:nvPr/>
        </p:nvSpPr>
        <p:spPr>
          <a:xfrm>
            <a:off x="594360" y="2377440"/>
            <a:ext cx="3474720" cy="365760"/>
          </a:xfrm>
          <a:prstGeom prst="rect">
            <a:avLst/>
          </a:prstGeom>
          <a:noFill/>
          <a:ln/>
        </p:spPr>
        <p:txBody>
          <a:bodyPr wrap="square" rtlCol="0" anchor="ctr"/>
          <a:lstStyle/>
          <a:p>
            <a:pPr marL="0" indent="0">
              <a:buNone/>
            </a:pPr>
            <a:endParaRPr lang="en-US" sz="1100" dirty="0"/>
          </a:p>
        </p:txBody>
      </p:sp>
      <p:sp>
        <p:nvSpPr>
          <p:cNvPr id="14" name="Text 12"/>
          <p:cNvSpPr/>
          <p:nvPr/>
        </p:nvSpPr>
        <p:spPr>
          <a:xfrm>
            <a:off x="4069080" y="2414016"/>
            <a:ext cx="914400" cy="292608"/>
          </a:xfrm>
          <a:prstGeom prst="rect">
            <a:avLst/>
          </a:prstGeom>
          <a:noFill/>
          <a:ln/>
        </p:spPr>
        <p:txBody>
          <a:bodyPr wrap="square" lIns="0" tIns="0" rIns="0" bIns="0" rtlCol="0" anchor="ctr"/>
          <a:lstStyle/>
          <a:p>
            <a:pPr marL="0" indent="0" algn="ctr">
              <a:buNone/>
            </a:pPr>
            <a:endParaRPr lang="en-US" sz="1200" dirty="0"/>
          </a:p>
        </p:txBody>
      </p:sp>
      <p:sp>
        <p:nvSpPr>
          <p:cNvPr id="16" name="Text 14"/>
          <p:cNvSpPr/>
          <p:nvPr/>
        </p:nvSpPr>
        <p:spPr>
          <a:xfrm>
            <a:off x="594360" y="2788920"/>
            <a:ext cx="3474720" cy="36576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069080" y="2825496"/>
            <a:ext cx="914400" cy="292608"/>
          </a:xfrm>
          <a:prstGeom prst="rect">
            <a:avLst/>
          </a:prstGeom>
          <a:noFill/>
          <a:ln/>
        </p:spPr>
        <p:txBody>
          <a:bodyPr wrap="square" lIns="0" tIns="0" rIns="0" bIns="0" rtlCol="0" anchor="ctr"/>
          <a:lstStyle/>
          <a:p>
            <a:pPr marL="0" indent="0" algn="ctr">
              <a:buNone/>
            </a:pPr>
            <a:endParaRPr lang="en-US" sz="1200" dirty="0"/>
          </a:p>
        </p:txBody>
      </p:sp>
      <p:sp>
        <p:nvSpPr>
          <p:cNvPr id="20" name="Text 18"/>
          <p:cNvSpPr/>
          <p:nvPr/>
        </p:nvSpPr>
        <p:spPr>
          <a:xfrm>
            <a:off x="594360" y="3200400"/>
            <a:ext cx="3474720" cy="365760"/>
          </a:xfrm>
          <a:prstGeom prst="rect">
            <a:avLst/>
          </a:prstGeom>
          <a:noFill/>
          <a:ln/>
        </p:spPr>
        <p:txBody>
          <a:bodyPr wrap="square" rtlCol="0" anchor="ctr"/>
          <a:lstStyle/>
          <a:p>
            <a:pPr marL="0" indent="0">
              <a:buNone/>
            </a:pPr>
            <a:endParaRPr lang="en-US" sz="1100" dirty="0"/>
          </a:p>
        </p:txBody>
      </p:sp>
      <p:sp>
        <p:nvSpPr>
          <p:cNvPr id="22" name="Text 20"/>
          <p:cNvSpPr/>
          <p:nvPr/>
        </p:nvSpPr>
        <p:spPr>
          <a:xfrm>
            <a:off x="4069080" y="3236976"/>
            <a:ext cx="914400" cy="292608"/>
          </a:xfrm>
          <a:prstGeom prst="rect">
            <a:avLst/>
          </a:prstGeom>
          <a:noFill/>
          <a:ln/>
        </p:spPr>
        <p:txBody>
          <a:bodyPr wrap="square" lIns="0" tIns="0" rIns="0" bIns="0" rtlCol="0" anchor="ctr"/>
          <a:lstStyle/>
          <a:p>
            <a:pPr marL="0" indent="0" algn="ctr">
              <a:buNone/>
            </a:pPr>
            <a:endParaRPr lang="en-US" sz="1200" dirty="0"/>
          </a:p>
        </p:txBody>
      </p:sp>
      <p:sp>
        <p:nvSpPr>
          <p:cNvPr id="24" name="Text 22"/>
          <p:cNvSpPr/>
          <p:nvPr/>
        </p:nvSpPr>
        <p:spPr>
          <a:xfrm>
            <a:off x="594360" y="3611880"/>
            <a:ext cx="3474720" cy="365760"/>
          </a:xfrm>
          <a:prstGeom prst="rect">
            <a:avLst/>
          </a:prstGeom>
          <a:noFill/>
          <a:ln/>
        </p:spPr>
        <p:txBody>
          <a:bodyPr wrap="square" rtlCol="0" anchor="ctr"/>
          <a:lstStyle/>
          <a:p>
            <a:pPr marL="0" indent="0">
              <a:buNone/>
            </a:pPr>
            <a:endParaRPr lang="en-US" sz="1100" dirty="0"/>
          </a:p>
        </p:txBody>
      </p:sp>
      <p:sp>
        <p:nvSpPr>
          <p:cNvPr id="26" name="Text 24"/>
          <p:cNvSpPr/>
          <p:nvPr/>
        </p:nvSpPr>
        <p:spPr>
          <a:xfrm>
            <a:off x="4069080" y="3648456"/>
            <a:ext cx="914400" cy="292608"/>
          </a:xfrm>
          <a:prstGeom prst="rect">
            <a:avLst/>
          </a:prstGeom>
          <a:noFill/>
          <a:ln/>
        </p:spPr>
        <p:txBody>
          <a:bodyPr wrap="square" lIns="0" tIns="0" rIns="0" bIns="0" rtlCol="0" anchor="ctr"/>
          <a:lstStyle/>
          <a:p>
            <a:pPr marL="0" indent="0" algn="ctr">
              <a:buNone/>
            </a:pPr>
            <a:endParaRPr lang="en-US" sz="1200" dirty="0"/>
          </a:p>
        </p:txBody>
      </p:sp>
      <p:sp>
        <p:nvSpPr>
          <p:cNvPr id="28" name="Text 26"/>
          <p:cNvSpPr/>
          <p:nvPr/>
        </p:nvSpPr>
        <p:spPr>
          <a:xfrm>
            <a:off x="594360" y="4023360"/>
            <a:ext cx="3474720" cy="365760"/>
          </a:xfrm>
          <a:prstGeom prst="rect">
            <a:avLst/>
          </a:prstGeom>
          <a:noFill/>
          <a:ln/>
        </p:spPr>
        <p:txBody>
          <a:bodyPr wrap="square" rtlCol="0" anchor="ctr"/>
          <a:lstStyle/>
          <a:p>
            <a:pPr marL="0" indent="0">
              <a:buNone/>
            </a:pPr>
            <a:endParaRPr lang="en-US" sz="1100" dirty="0"/>
          </a:p>
        </p:txBody>
      </p:sp>
      <p:sp>
        <p:nvSpPr>
          <p:cNvPr id="30" name="Text 28"/>
          <p:cNvSpPr/>
          <p:nvPr/>
        </p:nvSpPr>
        <p:spPr>
          <a:xfrm>
            <a:off x="4069080" y="4059936"/>
            <a:ext cx="914400" cy="292608"/>
          </a:xfrm>
          <a:prstGeom prst="rect">
            <a:avLst/>
          </a:prstGeom>
          <a:noFill/>
          <a:ln/>
        </p:spPr>
        <p:txBody>
          <a:bodyPr wrap="square" lIns="0" tIns="0" rIns="0" bIns="0" rtlCol="0" anchor="ctr"/>
          <a:lstStyle/>
          <a:p>
            <a:pPr marL="0" indent="0" algn="ctr">
              <a:buNone/>
            </a:pPr>
            <a:endParaRPr lang="en-US" sz="1200" dirty="0"/>
          </a:p>
        </p:txBody>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endParaRPr lang="en-US" sz="1800" dirty="0"/>
          </a:p>
        </p:txBody>
      </p:sp>
      <p:sp>
        <p:nvSpPr>
          <p:cNvPr id="33" name="Text 31"/>
          <p:cNvSpPr/>
          <p:nvPr/>
        </p:nvSpPr>
        <p:spPr>
          <a:xfrm>
            <a:off x="5669280" y="2011680"/>
            <a:ext cx="3200400" cy="731520"/>
          </a:xfrm>
          <a:prstGeom prst="rect">
            <a:avLst/>
          </a:prstGeom>
          <a:noFill/>
          <a:ln/>
        </p:spPr>
        <p:txBody>
          <a:bodyPr wrap="square" rtlCol="0" anchor="ctr"/>
          <a:lstStyle/>
          <a:p>
            <a:pPr marL="0" indent="0" algn="ctr">
              <a:buNone/>
            </a:pPr>
            <a:endParaRPr lang="en-US" sz="1400" dirty="0"/>
          </a:p>
        </p:txBody>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endParaRPr lang="en-US" sz="1400" dirty="0"/>
          </a:p>
        </p:txBody>
      </p:sp>
      <p:pic>
        <p:nvPicPr>
          <p:cNvPr id="7" name="Picture 6">
            <a:extLst>
              <a:ext uri="{FF2B5EF4-FFF2-40B4-BE49-F238E27FC236}">
                <a16:creationId xmlns:a16="http://schemas.microsoft.com/office/drawing/2014/main" id="{EB17D9E0-893E-42EE-ACEE-AA44E14869DB}"/>
              </a:ext>
            </a:extLst>
          </p:cNvPr>
          <p:cNvPicPr>
            <a:picLocks noChangeAspect="1"/>
          </p:cNvPicPr>
          <p:nvPr/>
        </p:nvPicPr>
        <p:blipFill>
          <a:blip r:embed="rId3"/>
          <a:stretch>
            <a:fillRect/>
          </a:stretch>
        </p:blipFill>
        <p:spPr>
          <a:xfrm>
            <a:off x="594360" y="1600948"/>
            <a:ext cx="3758565" cy="2513852"/>
          </a:xfrm>
          <a:prstGeom prst="rect">
            <a:avLst/>
          </a:prstGeom>
        </p:spPr>
      </p:pic>
      <p:sp>
        <p:nvSpPr>
          <p:cNvPr id="27" name="Shape 3">
            <a:extLst>
              <a:ext uri="{FF2B5EF4-FFF2-40B4-BE49-F238E27FC236}">
                <a16:creationId xmlns:a16="http://schemas.microsoft.com/office/drawing/2014/main" id="{7221AB32-AB0D-4318-99EC-1DF5476CE09F}"/>
              </a:ext>
            </a:extLst>
          </p:cNvPr>
          <p:cNvSpPr/>
          <p:nvPr/>
        </p:nvSpPr>
        <p:spPr>
          <a:xfrm>
            <a:off x="4692017" y="1394460"/>
            <a:ext cx="40081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pic>
        <p:nvPicPr>
          <p:cNvPr id="11" name="Picture 10">
            <a:extLst>
              <a:ext uri="{FF2B5EF4-FFF2-40B4-BE49-F238E27FC236}">
                <a16:creationId xmlns:a16="http://schemas.microsoft.com/office/drawing/2014/main" id="{0C61E1EC-00DD-46E7-90A8-BFA232A3D4C6}"/>
              </a:ext>
            </a:extLst>
          </p:cNvPr>
          <p:cNvPicPr>
            <a:picLocks noChangeAspect="1"/>
          </p:cNvPicPr>
          <p:nvPr/>
        </p:nvPicPr>
        <p:blipFill>
          <a:blip r:embed="rId4"/>
          <a:stretch>
            <a:fillRect/>
          </a:stretch>
        </p:blipFill>
        <p:spPr>
          <a:xfrm>
            <a:off x="4901565" y="1574724"/>
            <a:ext cx="3354871" cy="2631516"/>
          </a:xfrm>
          <a:prstGeom prst="rect">
            <a:avLst/>
          </a:prstGeom>
        </p:spPr>
      </p:pic>
    </p:spTree>
    <p:extLst>
      <p:ext uri="{BB962C8B-B14F-4D97-AF65-F5344CB8AC3E}">
        <p14:creationId xmlns:p14="http://schemas.microsoft.com/office/powerpoint/2010/main" val="35041013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8B5CF6"/>
          </a:solidFill>
          <a:ln w="12700">
            <a:solidFill>
              <a:srgbClr val="8B5CF6"/>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IMPLEM</a:t>
            </a:r>
            <a:r>
              <a:rPr lang="en-US" b="1" dirty="0">
                <a:solidFill>
                  <a:srgbClr val="FFFFFF"/>
                </a:solidFill>
              </a:rPr>
              <a:t>ENTASI</a:t>
            </a:r>
            <a:endParaRPr lang="en-US" sz="1800" dirty="0"/>
          </a:p>
        </p:txBody>
      </p:sp>
      <p:sp>
        <p:nvSpPr>
          <p:cNvPr id="5" name="Shape 3"/>
          <p:cNvSpPr/>
          <p:nvPr/>
        </p:nvSpPr>
        <p:spPr>
          <a:xfrm>
            <a:off x="411480" y="1394460"/>
            <a:ext cx="40081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6" name="Text 4"/>
          <p:cNvSpPr/>
          <p:nvPr/>
        </p:nvSpPr>
        <p:spPr>
          <a:xfrm>
            <a:off x="548640" y="1508760"/>
            <a:ext cx="4572000" cy="347472"/>
          </a:xfrm>
          <a:prstGeom prst="rect">
            <a:avLst/>
          </a:prstGeom>
          <a:noFill/>
          <a:ln/>
        </p:spPr>
        <p:txBody>
          <a:bodyPr wrap="square" rtlCol="0" anchor="ctr"/>
          <a:lstStyle/>
          <a:p>
            <a:pPr marL="0" indent="0">
              <a:buNone/>
            </a:pPr>
            <a:endParaRPr lang="en-US" sz="1300" dirty="0"/>
          </a:p>
        </p:txBody>
      </p:sp>
      <p:sp>
        <p:nvSpPr>
          <p:cNvPr id="8" name="Text 6"/>
          <p:cNvSpPr/>
          <p:nvPr/>
        </p:nvSpPr>
        <p:spPr>
          <a:xfrm>
            <a:off x="594360" y="1965960"/>
            <a:ext cx="3474720" cy="365760"/>
          </a:xfrm>
          <a:prstGeom prst="rect">
            <a:avLst/>
          </a:prstGeom>
          <a:noFill/>
          <a:ln/>
        </p:spPr>
        <p:txBody>
          <a:bodyPr wrap="square" rtlCol="0" anchor="ctr"/>
          <a:lstStyle/>
          <a:p>
            <a:pPr marL="0" indent="0">
              <a:buNone/>
            </a:pPr>
            <a:endParaRPr lang="en-US" sz="1100" dirty="0"/>
          </a:p>
        </p:txBody>
      </p:sp>
      <p:sp>
        <p:nvSpPr>
          <p:cNvPr id="10" name="Text 8"/>
          <p:cNvSpPr/>
          <p:nvPr/>
        </p:nvSpPr>
        <p:spPr>
          <a:xfrm>
            <a:off x="4069080" y="2002536"/>
            <a:ext cx="914400" cy="292608"/>
          </a:xfrm>
          <a:prstGeom prst="rect">
            <a:avLst/>
          </a:prstGeom>
          <a:noFill/>
          <a:ln/>
        </p:spPr>
        <p:txBody>
          <a:bodyPr wrap="square" lIns="0" tIns="0" rIns="0" bIns="0" rtlCol="0" anchor="ctr"/>
          <a:lstStyle/>
          <a:p>
            <a:pPr marL="0" indent="0" algn="ctr">
              <a:buNone/>
            </a:pPr>
            <a:endParaRPr lang="en-US" sz="1200" dirty="0"/>
          </a:p>
        </p:txBody>
      </p:sp>
      <p:sp>
        <p:nvSpPr>
          <p:cNvPr id="12" name="Text 10"/>
          <p:cNvSpPr/>
          <p:nvPr/>
        </p:nvSpPr>
        <p:spPr>
          <a:xfrm>
            <a:off x="594360" y="2377440"/>
            <a:ext cx="3474720" cy="365760"/>
          </a:xfrm>
          <a:prstGeom prst="rect">
            <a:avLst/>
          </a:prstGeom>
          <a:noFill/>
          <a:ln/>
        </p:spPr>
        <p:txBody>
          <a:bodyPr wrap="square" rtlCol="0" anchor="ctr"/>
          <a:lstStyle/>
          <a:p>
            <a:pPr marL="0" indent="0">
              <a:buNone/>
            </a:pPr>
            <a:endParaRPr lang="en-US" sz="1100" dirty="0"/>
          </a:p>
        </p:txBody>
      </p:sp>
      <p:sp>
        <p:nvSpPr>
          <p:cNvPr id="14" name="Text 12"/>
          <p:cNvSpPr/>
          <p:nvPr/>
        </p:nvSpPr>
        <p:spPr>
          <a:xfrm>
            <a:off x="4069080" y="2414016"/>
            <a:ext cx="914400" cy="292608"/>
          </a:xfrm>
          <a:prstGeom prst="rect">
            <a:avLst/>
          </a:prstGeom>
          <a:noFill/>
          <a:ln/>
        </p:spPr>
        <p:txBody>
          <a:bodyPr wrap="square" lIns="0" tIns="0" rIns="0" bIns="0" rtlCol="0" anchor="ctr"/>
          <a:lstStyle/>
          <a:p>
            <a:pPr marL="0" indent="0" algn="ctr">
              <a:buNone/>
            </a:pPr>
            <a:endParaRPr lang="en-US" sz="1200" dirty="0"/>
          </a:p>
        </p:txBody>
      </p:sp>
      <p:sp>
        <p:nvSpPr>
          <p:cNvPr id="16" name="Text 14"/>
          <p:cNvSpPr/>
          <p:nvPr/>
        </p:nvSpPr>
        <p:spPr>
          <a:xfrm>
            <a:off x="594360" y="2788920"/>
            <a:ext cx="3474720" cy="365760"/>
          </a:xfrm>
          <a:prstGeom prst="rect">
            <a:avLst/>
          </a:prstGeom>
          <a:noFill/>
          <a:ln/>
        </p:spPr>
        <p:txBody>
          <a:bodyPr wrap="square" rtlCol="0" anchor="ctr"/>
          <a:lstStyle/>
          <a:p>
            <a:pPr marL="0" indent="0">
              <a:buNone/>
            </a:pPr>
            <a:endParaRPr lang="en-US" sz="1100" dirty="0"/>
          </a:p>
        </p:txBody>
      </p:sp>
      <p:sp>
        <p:nvSpPr>
          <p:cNvPr id="18" name="Text 16"/>
          <p:cNvSpPr/>
          <p:nvPr/>
        </p:nvSpPr>
        <p:spPr>
          <a:xfrm>
            <a:off x="4069080" y="2825496"/>
            <a:ext cx="914400" cy="292608"/>
          </a:xfrm>
          <a:prstGeom prst="rect">
            <a:avLst/>
          </a:prstGeom>
          <a:noFill/>
          <a:ln/>
        </p:spPr>
        <p:txBody>
          <a:bodyPr wrap="square" lIns="0" tIns="0" rIns="0" bIns="0" rtlCol="0" anchor="ctr"/>
          <a:lstStyle/>
          <a:p>
            <a:pPr marL="0" indent="0" algn="ctr">
              <a:buNone/>
            </a:pPr>
            <a:endParaRPr lang="en-US" sz="1200" dirty="0"/>
          </a:p>
        </p:txBody>
      </p:sp>
      <p:sp>
        <p:nvSpPr>
          <p:cNvPr id="20" name="Text 18"/>
          <p:cNvSpPr/>
          <p:nvPr/>
        </p:nvSpPr>
        <p:spPr>
          <a:xfrm>
            <a:off x="594360" y="3200400"/>
            <a:ext cx="3474720" cy="365760"/>
          </a:xfrm>
          <a:prstGeom prst="rect">
            <a:avLst/>
          </a:prstGeom>
          <a:noFill/>
          <a:ln/>
        </p:spPr>
        <p:txBody>
          <a:bodyPr wrap="square" rtlCol="0" anchor="ctr"/>
          <a:lstStyle/>
          <a:p>
            <a:pPr marL="0" indent="0">
              <a:buNone/>
            </a:pPr>
            <a:endParaRPr lang="en-US" sz="1100" dirty="0"/>
          </a:p>
        </p:txBody>
      </p:sp>
      <p:sp>
        <p:nvSpPr>
          <p:cNvPr id="22" name="Text 20"/>
          <p:cNvSpPr/>
          <p:nvPr/>
        </p:nvSpPr>
        <p:spPr>
          <a:xfrm>
            <a:off x="4069080" y="3236976"/>
            <a:ext cx="914400" cy="292608"/>
          </a:xfrm>
          <a:prstGeom prst="rect">
            <a:avLst/>
          </a:prstGeom>
          <a:noFill/>
          <a:ln/>
        </p:spPr>
        <p:txBody>
          <a:bodyPr wrap="square" lIns="0" tIns="0" rIns="0" bIns="0" rtlCol="0" anchor="ctr"/>
          <a:lstStyle/>
          <a:p>
            <a:pPr marL="0" indent="0" algn="ctr">
              <a:buNone/>
            </a:pPr>
            <a:endParaRPr lang="en-US" sz="1200" dirty="0"/>
          </a:p>
        </p:txBody>
      </p:sp>
      <p:sp>
        <p:nvSpPr>
          <p:cNvPr id="24" name="Text 22"/>
          <p:cNvSpPr/>
          <p:nvPr/>
        </p:nvSpPr>
        <p:spPr>
          <a:xfrm>
            <a:off x="594360" y="3611880"/>
            <a:ext cx="3474720" cy="365760"/>
          </a:xfrm>
          <a:prstGeom prst="rect">
            <a:avLst/>
          </a:prstGeom>
          <a:noFill/>
          <a:ln/>
        </p:spPr>
        <p:txBody>
          <a:bodyPr wrap="square" rtlCol="0" anchor="ctr"/>
          <a:lstStyle/>
          <a:p>
            <a:pPr marL="0" indent="0">
              <a:buNone/>
            </a:pPr>
            <a:endParaRPr lang="en-US" sz="1100" dirty="0"/>
          </a:p>
        </p:txBody>
      </p:sp>
      <p:sp>
        <p:nvSpPr>
          <p:cNvPr id="26" name="Text 24"/>
          <p:cNvSpPr/>
          <p:nvPr/>
        </p:nvSpPr>
        <p:spPr>
          <a:xfrm>
            <a:off x="4069080" y="3648456"/>
            <a:ext cx="914400" cy="292608"/>
          </a:xfrm>
          <a:prstGeom prst="rect">
            <a:avLst/>
          </a:prstGeom>
          <a:noFill/>
          <a:ln/>
        </p:spPr>
        <p:txBody>
          <a:bodyPr wrap="square" lIns="0" tIns="0" rIns="0" bIns="0" rtlCol="0" anchor="ctr"/>
          <a:lstStyle/>
          <a:p>
            <a:pPr marL="0" indent="0" algn="ctr">
              <a:buNone/>
            </a:pPr>
            <a:endParaRPr lang="en-US" sz="1200" dirty="0"/>
          </a:p>
        </p:txBody>
      </p:sp>
      <p:sp>
        <p:nvSpPr>
          <p:cNvPr id="28" name="Text 26"/>
          <p:cNvSpPr/>
          <p:nvPr/>
        </p:nvSpPr>
        <p:spPr>
          <a:xfrm>
            <a:off x="594360" y="4023360"/>
            <a:ext cx="3474720" cy="365760"/>
          </a:xfrm>
          <a:prstGeom prst="rect">
            <a:avLst/>
          </a:prstGeom>
          <a:noFill/>
          <a:ln/>
        </p:spPr>
        <p:txBody>
          <a:bodyPr wrap="square" rtlCol="0" anchor="ctr"/>
          <a:lstStyle/>
          <a:p>
            <a:pPr marL="0" indent="0">
              <a:buNone/>
            </a:pPr>
            <a:endParaRPr lang="en-US" sz="1100" dirty="0"/>
          </a:p>
        </p:txBody>
      </p:sp>
      <p:sp>
        <p:nvSpPr>
          <p:cNvPr id="30" name="Text 28"/>
          <p:cNvSpPr/>
          <p:nvPr/>
        </p:nvSpPr>
        <p:spPr>
          <a:xfrm>
            <a:off x="4069080" y="4059936"/>
            <a:ext cx="914400" cy="292608"/>
          </a:xfrm>
          <a:prstGeom prst="rect">
            <a:avLst/>
          </a:prstGeom>
          <a:noFill/>
          <a:ln/>
        </p:spPr>
        <p:txBody>
          <a:bodyPr wrap="square" lIns="0" tIns="0" rIns="0" bIns="0" rtlCol="0" anchor="ctr"/>
          <a:lstStyle/>
          <a:p>
            <a:pPr marL="0" indent="0" algn="ctr">
              <a:buNone/>
            </a:pPr>
            <a:endParaRPr lang="en-US" sz="1200" dirty="0"/>
          </a:p>
        </p:txBody>
      </p:sp>
      <p:sp>
        <p:nvSpPr>
          <p:cNvPr id="32" name="Text 30"/>
          <p:cNvSpPr/>
          <p:nvPr/>
        </p:nvSpPr>
        <p:spPr>
          <a:xfrm>
            <a:off x="5669280" y="1508760"/>
            <a:ext cx="3200400" cy="457200"/>
          </a:xfrm>
          <a:prstGeom prst="rect">
            <a:avLst/>
          </a:prstGeom>
          <a:noFill/>
          <a:ln/>
        </p:spPr>
        <p:txBody>
          <a:bodyPr wrap="square" rtlCol="0" anchor="ctr"/>
          <a:lstStyle/>
          <a:p>
            <a:pPr marL="0" indent="0" algn="ctr">
              <a:buNone/>
            </a:pPr>
            <a:endParaRPr lang="en-US" sz="1800" dirty="0"/>
          </a:p>
        </p:txBody>
      </p:sp>
      <p:sp>
        <p:nvSpPr>
          <p:cNvPr id="33" name="Text 31"/>
          <p:cNvSpPr/>
          <p:nvPr/>
        </p:nvSpPr>
        <p:spPr>
          <a:xfrm>
            <a:off x="5669280" y="2011680"/>
            <a:ext cx="3200400" cy="731520"/>
          </a:xfrm>
          <a:prstGeom prst="rect">
            <a:avLst/>
          </a:prstGeom>
          <a:noFill/>
          <a:ln/>
        </p:spPr>
        <p:txBody>
          <a:bodyPr wrap="square" rtlCol="0" anchor="ctr"/>
          <a:lstStyle/>
          <a:p>
            <a:pPr marL="0" indent="0" algn="ctr">
              <a:buNone/>
            </a:pPr>
            <a:endParaRPr lang="en-US" sz="1400" dirty="0"/>
          </a:p>
        </p:txBody>
      </p:sp>
      <p:sp>
        <p:nvSpPr>
          <p:cNvPr id="35" name="Text 33"/>
          <p:cNvSpPr/>
          <p:nvPr/>
        </p:nvSpPr>
        <p:spPr>
          <a:xfrm>
            <a:off x="5669280" y="3246120"/>
            <a:ext cx="3200400" cy="457200"/>
          </a:xfrm>
          <a:prstGeom prst="rect">
            <a:avLst/>
          </a:prstGeom>
          <a:noFill/>
          <a:ln/>
        </p:spPr>
        <p:txBody>
          <a:bodyPr wrap="square" rtlCol="0" anchor="ctr"/>
          <a:lstStyle/>
          <a:p>
            <a:pPr marL="0" indent="0" algn="ctr">
              <a:buNone/>
            </a:pPr>
            <a:endParaRPr lang="en-US" sz="1800" dirty="0"/>
          </a:p>
        </p:txBody>
      </p:sp>
      <p:sp>
        <p:nvSpPr>
          <p:cNvPr id="36" name="Text 34"/>
          <p:cNvSpPr/>
          <p:nvPr/>
        </p:nvSpPr>
        <p:spPr>
          <a:xfrm>
            <a:off x="5669280" y="3749040"/>
            <a:ext cx="3200400" cy="731520"/>
          </a:xfrm>
          <a:prstGeom prst="rect">
            <a:avLst/>
          </a:prstGeom>
          <a:noFill/>
          <a:ln/>
        </p:spPr>
        <p:txBody>
          <a:bodyPr wrap="square" rtlCol="0" anchor="ctr"/>
          <a:lstStyle/>
          <a:p>
            <a:pPr marL="0" indent="0" algn="ctr">
              <a:buNone/>
            </a:pPr>
            <a:endParaRPr lang="en-US" sz="1400" dirty="0"/>
          </a:p>
        </p:txBody>
      </p:sp>
      <p:sp>
        <p:nvSpPr>
          <p:cNvPr id="27" name="Shape 3">
            <a:extLst>
              <a:ext uri="{FF2B5EF4-FFF2-40B4-BE49-F238E27FC236}">
                <a16:creationId xmlns:a16="http://schemas.microsoft.com/office/drawing/2014/main" id="{7221AB32-AB0D-4318-99EC-1DF5476CE09F}"/>
              </a:ext>
            </a:extLst>
          </p:cNvPr>
          <p:cNvSpPr/>
          <p:nvPr/>
        </p:nvSpPr>
        <p:spPr>
          <a:xfrm>
            <a:off x="4692017" y="1394460"/>
            <a:ext cx="4008120" cy="3291840"/>
          </a:xfrm>
          <a:prstGeom prst="roundRect">
            <a:avLst>
              <a:gd name="adj" fmla="val 2778"/>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pic>
        <p:nvPicPr>
          <p:cNvPr id="9" name="Picture 8">
            <a:extLst>
              <a:ext uri="{FF2B5EF4-FFF2-40B4-BE49-F238E27FC236}">
                <a16:creationId xmlns:a16="http://schemas.microsoft.com/office/drawing/2014/main" id="{1D0FF31D-F5D5-4F72-A618-8A96393164C2}"/>
              </a:ext>
            </a:extLst>
          </p:cNvPr>
          <p:cNvPicPr>
            <a:picLocks noChangeAspect="1"/>
          </p:cNvPicPr>
          <p:nvPr/>
        </p:nvPicPr>
        <p:blipFill>
          <a:blip r:embed="rId3"/>
          <a:stretch>
            <a:fillRect/>
          </a:stretch>
        </p:blipFill>
        <p:spPr>
          <a:xfrm>
            <a:off x="1480257" y="1565277"/>
            <a:ext cx="1870566" cy="2803058"/>
          </a:xfrm>
          <a:prstGeom prst="rect">
            <a:avLst/>
          </a:prstGeom>
        </p:spPr>
      </p:pic>
      <p:pic>
        <p:nvPicPr>
          <p:cNvPr id="15" name="Picture 14">
            <a:extLst>
              <a:ext uri="{FF2B5EF4-FFF2-40B4-BE49-F238E27FC236}">
                <a16:creationId xmlns:a16="http://schemas.microsoft.com/office/drawing/2014/main" id="{EE8087FF-6311-4990-8195-7DCF1490880C}"/>
              </a:ext>
            </a:extLst>
          </p:cNvPr>
          <p:cNvPicPr>
            <a:picLocks noChangeAspect="1"/>
          </p:cNvPicPr>
          <p:nvPr/>
        </p:nvPicPr>
        <p:blipFill>
          <a:blip r:embed="rId4"/>
          <a:stretch>
            <a:fillRect/>
          </a:stretch>
        </p:blipFill>
        <p:spPr>
          <a:xfrm>
            <a:off x="4702865" y="1479868"/>
            <a:ext cx="1993212" cy="3121023"/>
          </a:xfrm>
          <a:prstGeom prst="rect">
            <a:avLst/>
          </a:prstGeom>
        </p:spPr>
      </p:pic>
      <p:pic>
        <p:nvPicPr>
          <p:cNvPr id="19" name="Picture 18">
            <a:extLst>
              <a:ext uri="{FF2B5EF4-FFF2-40B4-BE49-F238E27FC236}">
                <a16:creationId xmlns:a16="http://schemas.microsoft.com/office/drawing/2014/main" id="{531E1071-6B7D-4B9C-B238-1D0AF994CED9}"/>
              </a:ext>
            </a:extLst>
          </p:cNvPr>
          <p:cNvPicPr>
            <a:picLocks noChangeAspect="1"/>
          </p:cNvPicPr>
          <p:nvPr/>
        </p:nvPicPr>
        <p:blipFill>
          <a:blip r:embed="rId5"/>
          <a:stretch>
            <a:fillRect/>
          </a:stretch>
        </p:blipFill>
        <p:spPr>
          <a:xfrm>
            <a:off x="6729044" y="1620141"/>
            <a:ext cx="1817862" cy="2732403"/>
          </a:xfrm>
          <a:prstGeom prst="rect">
            <a:avLst/>
          </a:prstGeom>
        </p:spPr>
      </p:pic>
    </p:spTree>
    <p:extLst>
      <p:ext uri="{BB962C8B-B14F-4D97-AF65-F5344CB8AC3E}">
        <p14:creationId xmlns:p14="http://schemas.microsoft.com/office/powerpoint/2010/main" val="1422949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E8F4F8"/>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9F1239"/>
          </a:solidFill>
          <a:ln w="12700">
            <a:solidFill>
              <a:srgbClr val="9F1239"/>
            </a:solidFill>
            <a:prstDash val="solid"/>
          </a:ln>
        </p:spPr>
      </p:sp>
      <p:sp>
        <p:nvSpPr>
          <p:cNvPr id="3" name="Text 1"/>
          <p:cNvSpPr/>
          <p:nvPr/>
        </p:nvSpPr>
        <p:spPr>
          <a:xfrm>
            <a:off x="457200" y="0"/>
            <a:ext cx="8229600" cy="914400"/>
          </a:xfrm>
          <a:prstGeom prst="rect">
            <a:avLst/>
          </a:prstGeom>
          <a:noFill/>
          <a:ln/>
        </p:spPr>
        <p:txBody>
          <a:bodyPr wrap="square" lIns="0" tIns="0" rIns="0" bIns="0" rtlCol="0" anchor="ctr"/>
          <a:lstStyle/>
          <a:p>
            <a:pPr marL="0" indent="0">
              <a:buNone/>
            </a:pPr>
            <a:r>
              <a:rPr lang="en-US" sz="1800" b="1" dirty="0">
                <a:solidFill>
                  <a:srgbClr val="FFFFFF"/>
                </a:solidFill>
              </a:rPr>
              <a:t>INFERENSI END-TO-END — Bagaimana Sistem Digunakan</a:t>
            </a:r>
            <a:endParaRPr lang="en-US" sz="1800" dirty="0"/>
          </a:p>
        </p:txBody>
      </p:sp>
      <p:sp>
        <p:nvSpPr>
          <p:cNvPr id="4" name="Shape 2"/>
          <p:cNvSpPr/>
          <p:nvPr/>
        </p:nvSpPr>
        <p:spPr>
          <a:xfrm>
            <a:off x="182880" y="105156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5" name="Shape 3"/>
          <p:cNvSpPr/>
          <p:nvPr/>
        </p:nvSpPr>
        <p:spPr>
          <a:xfrm>
            <a:off x="932688" y="868680"/>
            <a:ext cx="502920" cy="365760"/>
          </a:xfrm>
          <a:prstGeom prst="ellipse">
            <a:avLst/>
          </a:prstGeom>
          <a:solidFill>
            <a:srgbClr val="0D9488"/>
          </a:solidFill>
          <a:ln w="12700">
            <a:solidFill>
              <a:srgbClr val="0D9488"/>
            </a:solidFill>
            <a:prstDash val="solid"/>
          </a:ln>
        </p:spPr>
      </p:sp>
      <p:sp>
        <p:nvSpPr>
          <p:cNvPr id="6" name="Text 4"/>
          <p:cNvSpPr/>
          <p:nvPr/>
        </p:nvSpPr>
        <p:spPr>
          <a:xfrm>
            <a:off x="932688" y="86868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7" name="Text 5"/>
          <p:cNvSpPr/>
          <p:nvPr/>
        </p:nvSpPr>
        <p:spPr>
          <a:xfrm>
            <a:off x="182880" y="1188720"/>
            <a:ext cx="2011680" cy="457200"/>
          </a:xfrm>
          <a:prstGeom prst="rect">
            <a:avLst/>
          </a:prstGeom>
          <a:noFill/>
          <a:ln/>
        </p:spPr>
        <p:txBody>
          <a:bodyPr wrap="square" rtlCol="0" anchor="ctr"/>
          <a:lstStyle/>
          <a:p>
            <a:pPr marL="0" indent="0" algn="ctr">
              <a:buNone/>
            </a:pPr>
            <a:endParaRPr lang="en-US" sz="2200" dirty="0"/>
          </a:p>
        </p:txBody>
      </p:sp>
      <p:sp>
        <p:nvSpPr>
          <p:cNvPr id="8" name="Text 6"/>
          <p:cNvSpPr/>
          <p:nvPr/>
        </p:nvSpPr>
        <p:spPr>
          <a:xfrm>
            <a:off x="182880" y="1673352"/>
            <a:ext cx="2011680" cy="347472"/>
          </a:xfrm>
          <a:prstGeom prst="rect">
            <a:avLst/>
          </a:prstGeom>
          <a:noFill/>
          <a:ln/>
        </p:spPr>
        <p:txBody>
          <a:bodyPr wrap="square" rtlCol="0" anchor="ctr"/>
          <a:lstStyle/>
          <a:p>
            <a:pPr marL="0" indent="0" algn="ctr">
              <a:buNone/>
            </a:pPr>
            <a:r>
              <a:rPr lang="en-US" sz="1200" b="1" dirty="0">
                <a:solidFill>
                  <a:srgbClr val="0A1628"/>
                </a:solidFill>
              </a:rPr>
              <a:t>Upload Foto</a:t>
            </a:r>
            <a:endParaRPr lang="en-US" sz="1200" dirty="0"/>
          </a:p>
        </p:txBody>
      </p:sp>
      <p:sp>
        <p:nvSpPr>
          <p:cNvPr id="9" name="Text 7"/>
          <p:cNvSpPr/>
          <p:nvPr/>
        </p:nvSpPr>
        <p:spPr>
          <a:xfrm>
            <a:off x="274320" y="2039112"/>
            <a:ext cx="1828800" cy="621792"/>
          </a:xfrm>
          <a:prstGeom prst="rect">
            <a:avLst/>
          </a:prstGeom>
          <a:noFill/>
          <a:ln/>
        </p:spPr>
        <p:txBody>
          <a:bodyPr wrap="square" rtlCol="0" anchor="ctr"/>
          <a:lstStyle/>
          <a:p>
            <a:pPr marL="0" indent="0" algn="ctr">
              <a:buNone/>
            </a:pPr>
            <a:r>
              <a:rPr lang="en-US" sz="1000" dirty="0">
                <a:solidFill>
                  <a:srgbClr val="444444"/>
                </a:solidFill>
              </a:rPr>
              <a:t>User upload gambar tong/area sampah</a:t>
            </a:r>
            <a:endParaRPr lang="en-US" sz="1000" dirty="0"/>
          </a:p>
        </p:txBody>
      </p:sp>
      <p:sp>
        <p:nvSpPr>
          <p:cNvPr id="10" name="Shape 8"/>
          <p:cNvSpPr/>
          <p:nvPr/>
        </p:nvSpPr>
        <p:spPr>
          <a:xfrm>
            <a:off x="2377440" y="105156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1" name="Shape 9"/>
          <p:cNvSpPr/>
          <p:nvPr/>
        </p:nvSpPr>
        <p:spPr>
          <a:xfrm>
            <a:off x="3127248" y="868680"/>
            <a:ext cx="502920" cy="365760"/>
          </a:xfrm>
          <a:prstGeom prst="ellipse">
            <a:avLst/>
          </a:prstGeom>
          <a:solidFill>
            <a:srgbClr val="0D9488"/>
          </a:solidFill>
          <a:ln w="12700">
            <a:solidFill>
              <a:srgbClr val="0D9488"/>
            </a:solidFill>
            <a:prstDash val="solid"/>
          </a:ln>
        </p:spPr>
      </p:sp>
      <p:sp>
        <p:nvSpPr>
          <p:cNvPr id="12" name="Text 10"/>
          <p:cNvSpPr/>
          <p:nvPr/>
        </p:nvSpPr>
        <p:spPr>
          <a:xfrm>
            <a:off x="3127248" y="86868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3" name="Text 11"/>
          <p:cNvSpPr/>
          <p:nvPr/>
        </p:nvSpPr>
        <p:spPr>
          <a:xfrm>
            <a:off x="2377440" y="1188720"/>
            <a:ext cx="2011680" cy="457200"/>
          </a:xfrm>
          <a:prstGeom prst="rect">
            <a:avLst/>
          </a:prstGeom>
          <a:noFill/>
          <a:ln/>
        </p:spPr>
        <p:txBody>
          <a:bodyPr wrap="square" rtlCol="0" anchor="ctr"/>
          <a:lstStyle/>
          <a:p>
            <a:pPr marL="0" indent="0" algn="ctr">
              <a:buNone/>
            </a:pPr>
            <a:endParaRPr lang="en-US" sz="2200" dirty="0"/>
          </a:p>
        </p:txBody>
      </p:sp>
      <p:sp>
        <p:nvSpPr>
          <p:cNvPr id="14" name="Text 12"/>
          <p:cNvSpPr/>
          <p:nvPr/>
        </p:nvSpPr>
        <p:spPr>
          <a:xfrm>
            <a:off x="2377440" y="1673352"/>
            <a:ext cx="2011680" cy="347472"/>
          </a:xfrm>
          <a:prstGeom prst="rect">
            <a:avLst/>
          </a:prstGeom>
          <a:noFill/>
          <a:ln/>
        </p:spPr>
        <p:txBody>
          <a:bodyPr wrap="square" rtlCol="0" anchor="ctr"/>
          <a:lstStyle/>
          <a:p>
            <a:pPr marL="0" indent="0" algn="ctr">
              <a:buNone/>
            </a:pPr>
            <a:r>
              <a:rPr lang="en-US" sz="1200" b="1" dirty="0">
                <a:solidFill>
                  <a:srgbClr val="0A1628"/>
                </a:solidFill>
              </a:rPr>
              <a:t>Cek Kualitas</a:t>
            </a:r>
            <a:endParaRPr lang="en-US" sz="1200" dirty="0"/>
          </a:p>
        </p:txBody>
      </p:sp>
      <p:sp>
        <p:nvSpPr>
          <p:cNvPr id="15" name="Text 13"/>
          <p:cNvSpPr/>
          <p:nvPr/>
        </p:nvSpPr>
        <p:spPr>
          <a:xfrm>
            <a:off x="2468880" y="2039112"/>
            <a:ext cx="1828800" cy="621792"/>
          </a:xfrm>
          <a:prstGeom prst="rect">
            <a:avLst/>
          </a:prstGeom>
          <a:noFill/>
          <a:ln/>
        </p:spPr>
        <p:txBody>
          <a:bodyPr wrap="square" rtlCol="0" anchor="ctr"/>
          <a:lstStyle/>
          <a:p>
            <a:pPr marL="0" indent="0" algn="ctr">
              <a:buNone/>
            </a:pPr>
            <a:r>
              <a:rPr lang="en-US" sz="1000" dirty="0">
                <a:solidFill>
                  <a:srgbClr val="444444"/>
                </a:solidFill>
              </a:rPr>
              <a:t>Brightness, contrast &amp; blur diperiksa</a:t>
            </a:r>
            <a:endParaRPr lang="en-US" sz="1000" dirty="0"/>
          </a:p>
        </p:txBody>
      </p:sp>
      <p:sp>
        <p:nvSpPr>
          <p:cNvPr id="16" name="Shape 14"/>
          <p:cNvSpPr/>
          <p:nvPr/>
        </p:nvSpPr>
        <p:spPr>
          <a:xfrm>
            <a:off x="4572000" y="105156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17" name="Shape 15"/>
          <p:cNvSpPr/>
          <p:nvPr/>
        </p:nvSpPr>
        <p:spPr>
          <a:xfrm>
            <a:off x="5321808" y="868680"/>
            <a:ext cx="502920" cy="365760"/>
          </a:xfrm>
          <a:prstGeom prst="ellipse">
            <a:avLst/>
          </a:prstGeom>
          <a:solidFill>
            <a:srgbClr val="0D9488"/>
          </a:solidFill>
          <a:ln w="12700">
            <a:solidFill>
              <a:srgbClr val="0D9488"/>
            </a:solidFill>
            <a:prstDash val="solid"/>
          </a:ln>
        </p:spPr>
      </p:sp>
      <p:sp>
        <p:nvSpPr>
          <p:cNvPr id="18" name="Text 16"/>
          <p:cNvSpPr/>
          <p:nvPr/>
        </p:nvSpPr>
        <p:spPr>
          <a:xfrm>
            <a:off x="5321808" y="86868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9" name="Text 17"/>
          <p:cNvSpPr/>
          <p:nvPr/>
        </p:nvSpPr>
        <p:spPr>
          <a:xfrm>
            <a:off x="4572000" y="1188720"/>
            <a:ext cx="2011680" cy="457200"/>
          </a:xfrm>
          <a:prstGeom prst="rect">
            <a:avLst/>
          </a:prstGeom>
          <a:noFill/>
          <a:ln/>
        </p:spPr>
        <p:txBody>
          <a:bodyPr wrap="square" rtlCol="0" anchor="ctr"/>
          <a:lstStyle/>
          <a:p>
            <a:pPr marL="0" indent="0" algn="ctr">
              <a:buNone/>
            </a:pPr>
            <a:endParaRPr lang="en-US" sz="2200" dirty="0"/>
          </a:p>
        </p:txBody>
      </p:sp>
      <p:sp>
        <p:nvSpPr>
          <p:cNvPr id="20" name="Text 18"/>
          <p:cNvSpPr/>
          <p:nvPr/>
        </p:nvSpPr>
        <p:spPr>
          <a:xfrm>
            <a:off x="4572000" y="1673352"/>
            <a:ext cx="2011680" cy="347472"/>
          </a:xfrm>
          <a:prstGeom prst="rect">
            <a:avLst/>
          </a:prstGeom>
          <a:noFill/>
          <a:ln/>
        </p:spPr>
        <p:txBody>
          <a:bodyPr wrap="square" rtlCol="0" anchor="ctr"/>
          <a:lstStyle/>
          <a:p>
            <a:pPr marL="0" indent="0" algn="ctr">
              <a:buNone/>
            </a:pPr>
            <a:r>
              <a:rPr lang="en-US" sz="1200" b="1" dirty="0">
                <a:solidFill>
                  <a:srgbClr val="0A1628"/>
                </a:solidFill>
              </a:rPr>
              <a:t>YOLO Deteksi</a:t>
            </a:r>
            <a:endParaRPr lang="en-US" sz="1200" dirty="0"/>
          </a:p>
        </p:txBody>
      </p:sp>
      <p:sp>
        <p:nvSpPr>
          <p:cNvPr id="21" name="Text 19"/>
          <p:cNvSpPr/>
          <p:nvPr/>
        </p:nvSpPr>
        <p:spPr>
          <a:xfrm>
            <a:off x="4663440" y="2039112"/>
            <a:ext cx="1828800" cy="621792"/>
          </a:xfrm>
          <a:prstGeom prst="rect">
            <a:avLst/>
          </a:prstGeom>
          <a:noFill/>
          <a:ln/>
        </p:spPr>
        <p:txBody>
          <a:bodyPr wrap="square" rtlCol="0" anchor="ctr"/>
          <a:lstStyle/>
          <a:p>
            <a:pPr marL="0" indent="0" algn="ctr">
              <a:buNone/>
            </a:pPr>
            <a:r>
              <a:rPr lang="en-US" sz="1000" dirty="0">
                <a:solidFill>
                  <a:srgbClr val="444444"/>
                </a:solidFill>
              </a:rPr>
              <a:t>Bounding box semua sampah ditemukan</a:t>
            </a:r>
            <a:endParaRPr lang="en-US" sz="1000" dirty="0"/>
          </a:p>
        </p:txBody>
      </p:sp>
      <p:sp>
        <p:nvSpPr>
          <p:cNvPr id="22" name="Shape 20"/>
          <p:cNvSpPr/>
          <p:nvPr/>
        </p:nvSpPr>
        <p:spPr>
          <a:xfrm>
            <a:off x="6766560" y="105156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23" name="Shape 21"/>
          <p:cNvSpPr/>
          <p:nvPr/>
        </p:nvSpPr>
        <p:spPr>
          <a:xfrm>
            <a:off x="7516368" y="868680"/>
            <a:ext cx="502920" cy="365760"/>
          </a:xfrm>
          <a:prstGeom prst="ellipse">
            <a:avLst/>
          </a:prstGeom>
          <a:solidFill>
            <a:srgbClr val="0D9488"/>
          </a:solidFill>
          <a:ln w="12700">
            <a:solidFill>
              <a:srgbClr val="0D9488"/>
            </a:solidFill>
            <a:prstDash val="solid"/>
          </a:ln>
        </p:spPr>
      </p:sp>
      <p:sp>
        <p:nvSpPr>
          <p:cNvPr id="24" name="Text 22"/>
          <p:cNvSpPr/>
          <p:nvPr/>
        </p:nvSpPr>
        <p:spPr>
          <a:xfrm>
            <a:off x="7516368" y="86868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5" name="Text 23"/>
          <p:cNvSpPr/>
          <p:nvPr/>
        </p:nvSpPr>
        <p:spPr>
          <a:xfrm>
            <a:off x="6766560" y="1188720"/>
            <a:ext cx="2011680" cy="457200"/>
          </a:xfrm>
          <a:prstGeom prst="rect">
            <a:avLst/>
          </a:prstGeom>
          <a:noFill/>
          <a:ln/>
        </p:spPr>
        <p:txBody>
          <a:bodyPr wrap="square" rtlCol="0" anchor="ctr"/>
          <a:lstStyle/>
          <a:p>
            <a:pPr marL="0" indent="0" algn="ctr">
              <a:buNone/>
            </a:pPr>
            <a:endParaRPr lang="en-US" sz="2200" dirty="0"/>
          </a:p>
        </p:txBody>
      </p:sp>
      <p:sp>
        <p:nvSpPr>
          <p:cNvPr id="26" name="Text 24"/>
          <p:cNvSpPr/>
          <p:nvPr/>
        </p:nvSpPr>
        <p:spPr>
          <a:xfrm>
            <a:off x="6766560" y="1673352"/>
            <a:ext cx="2011680" cy="347472"/>
          </a:xfrm>
          <a:prstGeom prst="rect">
            <a:avLst/>
          </a:prstGeom>
          <a:noFill/>
          <a:ln/>
        </p:spPr>
        <p:txBody>
          <a:bodyPr wrap="square" rtlCol="0" anchor="ctr"/>
          <a:lstStyle/>
          <a:p>
            <a:pPr marL="0" indent="0" algn="ctr">
              <a:buNone/>
            </a:pPr>
            <a:r>
              <a:rPr lang="en-US" sz="1200" b="1" dirty="0">
                <a:solidFill>
                  <a:srgbClr val="0A1628"/>
                </a:solidFill>
              </a:rPr>
              <a:t>Hitung 6 Fitur</a:t>
            </a:r>
            <a:endParaRPr lang="en-US" sz="1200" dirty="0"/>
          </a:p>
        </p:txBody>
      </p:sp>
      <p:sp>
        <p:nvSpPr>
          <p:cNvPr id="27" name="Text 25"/>
          <p:cNvSpPr/>
          <p:nvPr/>
        </p:nvSpPr>
        <p:spPr>
          <a:xfrm>
            <a:off x="6858000" y="2039112"/>
            <a:ext cx="1828800" cy="621792"/>
          </a:xfrm>
          <a:prstGeom prst="rect">
            <a:avLst/>
          </a:prstGeom>
          <a:noFill/>
          <a:ln/>
        </p:spPr>
        <p:txBody>
          <a:bodyPr wrap="square" rtlCol="0" anchor="ctr"/>
          <a:lstStyle/>
          <a:p>
            <a:pPr marL="0" indent="0" algn="ctr">
              <a:buNone/>
            </a:pPr>
            <a:r>
              <a:rPr lang="en-US" sz="1000" dirty="0">
                <a:solidFill>
                  <a:srgbClr val="444444"/>
                </a:solidFill>
              </a:rPr>
              <a:t>coverage%, count, ratio, dist, bulky, conf</a:t>
            </a:r>
            <a:endParaRPr lang="en-US" sz="1000" dirty="0"/>
          </a:p>
        </p:txBody>
      </p:sp>
      <p:sp>
        <p:nvSpPr>
          <p:cNvPr id="28" name="Shape 26"/>
          <p:cNvSpPr/>
          <p:nvPr/>
        </p:nvSpPr>
        <p:spPr>
          <a:xfrm>
            <a:off x="182880" y="297180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29" name="Shape 27"/>
          <p:cNvSpPr/>
          <p:nvPr/>
        </p:nvSpPr>
        <p:spPr>
          <a:xfrm>
            <a:off x="932688" y="2788920"/>
            <a:ext cx="502920" cy="365760"/>
          </a:xfrm>
          <a:prstGeom prst="ellipse">
            <a:avLst/>
          </a:prstGeom>
          <a:solidFill>
            <a:srgbClr val="0D9488"/>
          </a:solidFill>
          <a:ln w="12700">
            <a:solidFill>
              <a:srgbClr val="0D9488"/>
            </a:solidFill>
            <a:prstDash val="solid"/>
          </a:ln>
        </p:spPr>
      </p:sp>
      <p:sp>
        <p:nvSpPr>
          <p:cNvPr id="30" name="Text 28"/>
          <p:cNvSpPr/>
          <p:nvPr/>
        </p:nvSpPr>
        <p:spPr>
          <a:xfrm>
            <a:off x="932688" y="278892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1" name="Text 29"/>
          <p:cNvSpPr/>
          <p:nvPr/>
        </p:nvSpPr>
        <p:spPr>
          <a:xfrm>
            <a:off x="182880" y="3108960"/>
            <a:ext cx="2011680" cy="457200"/>
          </a:xfrm>
          <a:prstGeom prst="rect">
            <a:avLst/>
          </a:prstGeom>
          <a:noFill/>
          <a:ln/>
        </p:spPr>
        <p:txBody>
          <a:bodyPr wrap="square" rtlCol="0" anchor="ctr"/>
          <a:lstStyle/>
          <a:p>
            <a:pPr marL="0" indent="0" algn="ctr">
              <a:buNone/>
            </a:pPr>
            <a:endParaRPr lang="en-US" sz="2200" dirty="0"/>
          </a:p>
        </p:txBody>
      </p:sp>
      <p:sp>
        <p:nvSpPr>
          <p:cNvPr id="32" name="Text 30"/>
          <p:cNvSpPr/>
          <p:nvPr/>
        </p:nvSpPr>
        <p:spPr>
          <a:xfrm>
            <a:off x="182880" y="3593592"/>
            <a:ext cx="2011680" cy="347472"/>
          </a:xfrm>
          <a:prstGeom prst="rect">
            <a:avLst/>
          </a:prstGeom>
          <a:noFill/>
          <a:ln/>
        </p:spPr>
        <p:txBody>
          <a:bodyPr wrap="square" rtlCol="0" anchor="ctr"/>
          <a:lstStyle/>
          <a:p>
            <a:pPr marL="0" indent="0" algn="ctr">
              <a:buNone/>
            </a:pPr>
            <a:r>
              <a:rPr lang="en-US" sz="1200" b="1" dirty="0">
                <a:solidFill>
                  <a:srgbClr val="0A1628"/>
                </a:solidFill>
              </a:rPr>
              <a:t>Normalisasi</a:t>
            </a:r>
            <a:endParaRPr lang="en-US" sz="1200" dirty="0"/>
          </a:p>
        </p:txBody>
      </p:sp>
      <p:sp>
        <p:nvSpPr>
          <p:cNvPr id="33" name="Text 31"/>
          <p:cNvSpPr/>
          <p:nvPr/>
        </p:nvSpPr>
        <p:spPr>
          <a:xfrm>
            <a:off x="274320" y="3959352"/>
            <a:ext cx="1828800" cy="621792"/>
          </a:xfrm>
          <a:prstGeom prst="rect">
            <a:avLst/>
          </a:prstGeom>
          <a:noFill/>
          <a:ln/>
        </p:spPr>
        <p:txBody>
          <a:bodyPr wrap="square" rtlCol="0" anchor="ctr"/>
          <a:lstStyle/>
          <a:p>
            <a:pPr marL="0" indent="0" algn="ctr">
              <a:buNone/>
            </a:pPr>
            <a:r>
              <a:rPr lang="en-US" sz="1000" dirty="0">
                <a:solidFill>
                  <a:srgbClr val="444444"/>
                </a:solidFill>
              </a:rPr>
              <a:t>StandardScaler transformasi fitur</a:t>
            </a:r>
            <a:endParaRPr lang="en-US" sz="1000" dirty="0"/>
          </a:p>
        </p:txBody>
      </p:sp>
      <p:sp>
        <p:nvSpPr>
          <p:cNvPr id="34" name="Shape 32"/>
          <p:cNvSpPr/>
          <p:nvPr/>
        </p:nvSpPr>
        <p:spPr>
          <a:xfrm>
            <a:off x="2377440" y="297180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35" name="Shape 33"/>
          <p:cNvSpPr/>
          <p:nvPr/>
        </p:nvSpPr>
        <p:spPr>
          <a:xfrm>
            <a:off x="3127248" y="2788920"/>
            <a:ext cx="502920" cy="365760"/>
          </a:xfrm>
          <a:prstGeom prst="ellipse">
            <a:avLst/>
          </a:prstGeom>
          <a:solidFill>
            <a:srgbClr val="0D9488"/>
          </a:solidFill>
          <a:ln w="12700">
            <a:solidFill>
              <a:srgbClr val="0D9488"/>
            </a:solidFill>
            <a:prstDash val="solid"/>
          </a:ln>
        </p:spPr>
      </p:sp>
      <p:sp>
        <p:nvSpPr>
          <p:cNvPr id="36" name="Text 34"/>
          <p:cNvSpPr/>
          <p:nvPr/>
        </p:nvSpPr>
        <p:spPr>
          <a:xfrm>
            <a:off x="3127248" y="278892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6</a:t>
            </a:r>
            <a:endParaRPr lang="en-US" sz="1200" dirty="0"/>
          </a:p>
        </p:txBody>
      </p:sp>
      <p:sp>
        <p:nvSpPr>
          <p:cNvPr id="37" name="Text 35"/>
          <p:cNvSpPr/>
          <p:nvPr/>
        </p:nvSpPr>
        <p:spPr>
          <a:xfrm>
            <a:off x="2377440" y="3108960"/>
            <a:ext cx="2011680" cy="457200"/>
          </a:xfrm>
          <a:prstGeom prst="rect">
            <a:avLst/>
          </a:prstGeom>
          <a:noFill/>
          <a:ln/>
        </p:spPr>
        <p:txBody>
          <a:bodyPr wrap="square" rtlCol="0" anchor="ctr"/>
          <a:lstStyle/>
          <a:p>
            <a:pPr marL="0" indent="0" algn="ctr">
              <a:buNone/>
            </a:pPr>
            <a:endParaRPr lang="en-US" sz="2200" dirty="0"/>
          </a:p>
        </p:txBody>
      </p:sp>
      <p:sp>
        <p:nvSpPr>
          <p:cNvPr id="38" name="Text 36"/>
          <p:cNvSpPr/>
          <p:nvPr/>
        </p:nvSpPr>
        <p:spPr>
          <a:xfrm>
            <a:off x="2377440" y="3593592"/>
            <a:ext cx="2011680" cy="347472"/>
          </a:xfrm>
          <a:prstGeom prst="rect">
            <a:avLst/>
          </a:prstGeom>
          <a:noFill/>
          <a:ln/>
        </p:spPr>
        <p:txBody>
          <a:bodyPr wrap="square" rtlCol="0" anchor="ctr"/>
          <a:lstStyle/>
          <a:p>
            <a:pPr marL="0" indent="0" algn="ctr">
              <a:buNone/>
            </a:pPr>
            <a:r>
              <a:rPr lang="en-US" sz="1200" b="1" dirty="0">
                <a:solidFill>
                  <a:srgbClr val="0A1628"/>
                </a:solidFill>
              </a:rPr>
              <a:t> Model Prediksi</a:t>
            </a:r>
            <a:endParaRPr lang="en-US" sz="1200" dirty="0"/>
          </a:p>
        </p:txBody>
      </p:sp>
      <p:sp>
        <p:nvSpPr>
          <p:cNvPr id="39" name="Text 37"/>
          <p:cNvSpPr/>
          <p:nvPr/>
        </p:nvSpPr>
        <p:spPr>
          <a:xfrm>
            <a:off x="2468880" y="3959352"/>
            <a:ext cx="1828800" cy="621792"/>
          </a:xfrm>
          <a:prstGeom prst="rect">
            <a:avLst/>
          </a:prstGeom>
          <a:noFill/>
          <a:ln/>
        </p:spPr>
        <p:txBody>
          <a:bodyPr wrap="square" rtlCol="0" anchor="ctr"/>
          <a:lstStyle/>
          <a:p>
            <a:pPr marL="0" indent="0" algn="ctr">
              <a:buNone/>
            </a:pPr>
            <a:r>
              <a:rPr lang="en-US" sz="1000" dirty="0">
                <a:solidFill>
                  <a:srgbClr val="444444"/>
                </a:solidFill>
              </a:rPr>
              <a:t>RF </a:t>
            </a:r>
            <a:endParaRPr lang="en-US" sz="1000" dirty="0"/>
          </a:p>
        </p:txBody>
      </p:sp>
      <p:sp>
        <p:nvSpPr>
          <p:cNvPr id="40" name="Shape 38"/>
          <p:cNvSpPr/>
          <p:nvPr/>
        </p:nvSpPr>
        <p:spPr>
          <a:xfrm>
            <a:off x="4572000" y="297180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41" name="Shape 39"/>
          <p:cNvSpPr/>
          <p:nvPr/>
        </p:nvSpPr>
        <p:spPr>
          <a:xfrm>
            <a:off x="5321808" y="2788920"/>
            <a:ext cx="502920" cy="365760"/>
          </a:xfrm>
          <a:prstGeom prst="ellipse">
            <a:avLst/>
          </a:prstGeom>
          <a:solidFill>
            <a:srgbClr val="0D9488"/>
          </a:solidFill>
          <a:ln w="12700">
            <a:solidFill>
              <a:srgbClr val="0D9488"/>
            </a:solidFill>
            <a:prstDash val="solid"/>
          </a:ln>
        </p:spPr>
      </p:sp>
      <p:sp>
        <p:nvSpPr>
          <p:cNvPr id="42" name="Text 40"/>
          <p:cNvSpPr/>
          <p:nvPr/>
        </p:nvSpPr>
        <p:spPr>
          <a:xfrm>
            <a:off x="5321808" y="278892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7</a:t>
            </a:r>
            <a:endParaRPr lang="en-US" sz="1200" dirty="0"/>
          </a:p>
        </p:txBody>
      </p:sp>
      <p:sp>
        <p:nvSpPr>
          <p:cNvPr id="43" name="Text 41"/>
          <p:cNvSpPr/>
          <p:nvPr/>
        </p:nvSpPr>
        <p:spPr>
          <a:xfrm>
            <a:off x="4572000" y="3108960"/>
            <a:ext cx="2011680" cy="457200"/>
          </a:xfrm>
          <a:prstGeom prst="rect">
            <a:avLst/>
          </a:prstGeom>
          <a:noFill/>
          <a:ln/>
        </p:spPr>
        <p:txBody>
          <a:bodyPr wrap="square" rtlCol="0" anchor="ctr"/>
          <a:lstStyle/>
          <a:p>
            <a:pPr marL="0" indent="0" algn="ctr">
              <a:buNone/>
            </a:pPr>
            <a:endParaRPr lang="en-US" sz="2200" dirty="0"/>
          </a:p>
        </p:txBody>
      </p:sp>
      <p:sp>
        <p:nvSpPr>
          <p:cNvPr id="44" name="Text 42"/>
          <p:cNvSpPr/>
          <p:nvPr/>
        </p:nvSpPr>
        <p:spPr>
          <a:xfrm>
            <a:off x="4572000" y="3593592"/>
            <a:ext cx="2011680" cy="347472"/>
          </a:xfrm>
          <a:prstGeom prst="rect">
            <a:avLst/>
          </a:prstGeom>
          <a:noFill/>
          <a:ln/>
        </p:spPr>
        <p:txBody>
          <a:bodyPr wrap="square" rtlCol="0" anchor="ctr"/>
          <a:lstStyle/>
          <a:p>
            <a:pPr marL="0" indent="0" algn="ctr">
              <a:buNone/>
            </a:pPr>
            <a:r>
              <a:rPr lang="en-US" sz="1200" b="1" dirty="0">
                <a:solidFill>
                  <a:srgbClr val="0A1628"/>
                </a:solidFill>
              </a:rPr>
              <a:t>Weighted Voting</a:t>
            </a:r>
            <a:endParaRPr lang="en-US" sz="1200" dirty="0"/>
          </a:p>
        </p:txBody>
      </p:sp>
      <p:sp>
        <p:nvSpPr>
          <p:cNvPr id="45" name="Text 43"/>
          <p:cNvSpPr/>
          <p:nvPr/>
        </p:nvSpPr>
        <p:spPr>
          <a:xfrm>
            <a:off x="4663440" y="3959352"/>
            <a:ext cx="1828800" cy="621792"/>
          </a:xfrm>
          <a:prstGeom prst="rect">
            <a:avLst/>
          </a:prstGeom>
          <a:noFill/>
          <a:ln/>
        </p:spPr>
        <p:txBody>
          <a:bodyPr wrap="square" rtlCol="0" anchor="ctr"/>
          <a:lstStyle/>
          <a:p>
            <a:pPr marL="0" indent="0" algn="ctr">
              <a:buNone/>
            </a:pPr>
            <a:r>
              <a:rPr lang="en-US" sz="1000" dirty="0">
                <a:solidFill>
                  <a:srgbClr val="444444"/>
                </a:solidFill>
              </a:rPr>
              <a:t>0.4RF + 0.4GB + 0.2SVM digabung</a:t>
            </a:r>
            <a:endParaRPr lang="en-US" sz="1000" dirty="0"/>
          </a:p>
        </p:txBody>
      </p:sp>
      <p:sp>
        <p:nvSpPr>
          <p:cNvPr id="46" name="Shape 44"/>
          <p:cNvSpPr/>
          <p:nvPr/>
        </p:nvSpPr>
        <p:spPr>
          <a:xfrm>
            <a:off x="6766560" y="2971800"/>
            <a:ext cx="2011680" cy="1691640"/>
          </a:xfrm>
          <a:prstGeom prst="roundRect">
            <a:avLst>
              <a:gd name="adj" fmla="val 5405"/>
            </a:avLst>
          </a:prstGeom>
          <a:solidFill>
            <a:srgbClr val="FFFFFF"/>
          </a:solidFill>
          <a:ln w="12700">
            <a:solidFill>
              <a:srgbClr val="CBD5E1"/>
            </a:solidFill>
            <a:prstDash val="solid"/>
          </a:ln>
          <a:effectLst>
            <a:outerShdw blurRad="101600" dist="38100" dir="2700000" algn="bl" rotWithShape="0">
              <a:srgbClr val="000000">
                <a:alpha val="18000"/>
              </a:srgbClr>
            </a:outerShdw>
          </a:effectLst>
        </p:spPr>
      </p:sp>
      <p:sp>
        <p:nvSpPr>
          <p:cNvPr id="47" name="Shape 45"/>
          <p:cNvSpPr/>
          <p:nvPr/>
        </p:nvSpPr>
        <p:spPr>
          <a:xfrm>
            <a:off x="7516368" y="2788920"/>
            <a:ext cx="502920" cy="365760"/>
          </a:xfrm>
          <a:prstGeom prst="ellipse">
            <a:avLst/>
          </a:prstGeom>
          <a:solidFill>
            <a:srgbClr val="0D9488"/>
          </a:solidFill>
          <a:ln w="12700">
            <a:solidFill>
              <a:srgbClr val="0D9488"/>
            </a:solidFill>
            <a:prstDash val="solid"/>
          </a:ln>
        </p:spPr>
      </p:sp>
      <p:sp>
        <p:nvSpPr>
          <p:cNvPr id="48" name="Text 46"/>
          <p:cNvSpPr/>
          <p:nvPr/>
        </p:nvSpPr>
        <p:spPr>
          <a:xfrm>
            <a:off x="7516368" y="2788920"/>
            <a:ext cx="502920" cy="365760"/>
          </a:xfrm>
          <a:prstGeom prst="rect">
            <a:avLst/>
          </a:prstGeom>
          <a:noFill/>
          <a:ln/>
        </p:spPr>
        <p:txBody>
          <a:bodyPr wrap="square" lIns="0" tIns="0" rIns="0" bIns="0" rtlCol="0" anchor="ctr"/>
          <a:lstStyle/>
          <a:p>
            <a:pPr marL="0" indent="0" algn="ctr">
              <a:buNone/>
            </a:pPr>
            <a:r>
              <a:rPr lang="en-US" sz="1200" b="1" dirty="0">
                <a:solidFill>
                  <a:srgbClr val="FFFFFF"/>
                </a:solidFill>
              </a:rPr>
              <a:t>8</a:t>
            </a:r>
            <a:endParaRPr lang="en-US" sz="1200" dirty="0"/>
          </a:p>
        </p:txBody>
      </p:sp>
      <p:sp>
        <p:nvSpPr>
          <p:cNvPr id="49" name="Text 47"/>
          <p:cNvSpPr/>
          <p:nvPr/>
        </p:nvSpPr>
        <p:spPr>
          <a:xfrm>
            <a:off x="6766560" y="3108960"/>
            <a:ext cx="2011680" cy="457200"/>
          </a:xfrm>
          <a:prstGeom prst="rect">
            <a:avLst/>
          </a:prstGeom>
          <a:noFill/>
          <a:ln/>
        </p:spPr>
        <p:txBody>
          <a:bodyPr wrap="square" rtlCol="0" anchor="ctr"/>
          <a:lstStyle/>
          <a:p>
            <a:pPr marL="0" indent="0" algn="ctr">
              <a:buNone/>
            </a:pPr>
            <a:endParaRPr lang="en-US" sz="2200" dirty="0"/>
          </a:p>
        </p:txBody>
      </p:sp>
      <p:sp>
        <p:nvSpPr>
          <p:cNvPr id="50" name="Text 48"/>
          <p:cNvSpPr/>
          <p:nvPr/>
        </p:nvSpPr>
        <p:spPr>
          <a:xfrm>
            <a:off x="6766560" y="3593592"/>
            <a:ext cx="2011680" cy="347472"/>
          </a:xfrm>
          <a:prstGeom prst="rect">
            <a:avLst/>
          </a:prstGeom>
          <a:noFill/>
          <a:ln/>
        </p:spPr>
        <p:txBody>
          <a:bodyPr wrap="square" rtlCol="0" anchor="ctr"/>
          <a:lstStyle/>
          <a:p>
            <a:pPr marL="0" indent="0" algn="ctr">
              <a:buNone/>
            </a:pPr>
            <a:r>
              <a:rPr lang="en-US" sz="1200" b="1" dirty="0">
                <a:solidFill>
                  <a:srgbClr val="0A1628"/>
                </a:solidFill>
              </a:rPr>
              <a:t>Output Final</a:t>
            </a:r>
            <a:endParaRPr lang="en-US" sz="1200" dirty="0"/>
          </a:p>
        </p:txBody>
      </p:sp>
      <p:sp>
        <p:nvSpPr>
          <p:cNvPr id="51" name="Text 49"/>
          <p:cNvSpPr/>
          <p:nvPr/>
        </p:nvSpPr>
        <p:spPr>
          <a:xfrm>
            <a:off x="6858000" y="3959352"/>
            <a:ext cx="1828800" cy="621792"/>
          </a:xfrm>
          <a:prstGeom prst="rect">
            <a:avLst/>
          </a:prstGeom>
          <a:noFill/>
          <a:ln/>
        </p:spPr>
        <p:txBody>
          <a:bodyPr wrap="square" rtlCol="0" anchor="ctr"/>
          <a:lstStyle/>
          <a:p>
            <a:pPr marL="0" indent="0" algn="ctr">
              <a:buNone/>
            </a:pPr>
            <a:r>
              <a:rPr lang="en-US" sz="1000" dirty="0">
                <a:solidFill>
                  <a:srgbClr val="444444"/>
                </a:solidFill>
              </a:rPr>
              <a:t>Label + confidence % ditampilkan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5943600" y="-914400"/>
            <a:ext cx="4572000" cy="4572000"/>
          </a:xfrm>
          <a:prstGeom prst="ellipse">
            <a:avLst/>
          </a:prstGeom>
          <a:solidFill>
            <a:srgbClr val="0D9488">
              <a:alpha val="12000"/>
            </a:srgbClr>
          </a:solidFill>
          <a:ln w="12700">
            <a:solidFill>
              <a:srgbClr val="0D9488"/>
            </a:solidFill>
            <a:prstDash val="solid"/>
          </a:ln>
        </p:spPr>
      </p:sp>
      <p:sp>
        <p:nvSpPr>
          <p:cNvPr id="3" name="Text 1"/>
          <p:cNvSpPr/>
          <p:nvPr/>
        </p:nvSpPr>
        <p:spPr>
          <a:xfrm>
            <a:off x="548640" y="274320"/>
            <a:ext cx="5486400" cy="594360"/>
          </a:xfrm>
          <a:prstGeom prst="rect">
            <a:avLst/>
          </a:prstGeom>
          <a:noFill/>
          <a:ln/>
        </p:spPr>
        <p:txBody>
          <a:bodyPr wrap="square" rtlCol="0" anchor="ctr"/>
          <a:lstStyle/>
          <a:p>
            <a:pPr marL="0" indent="0">
              <a:buNone/>
            </a:pPr>
            <a:r>
              <a:rPr lang="en-US" sz="2800" b="1" dirty="0">
                <a:solidFill>
                  <a:srgbClr val="14B8A6"/>
                </a:solidFill>
              </a:rPr>
              <a:t>KESIMPULAN</a:t>
            </a:r>
            <a:endParaRPr lang="en-US" sz="2800" dirty="0"/>
          </a:p>
        </p:txBody>
      </p:sp>
      <p:sp>
        <p:nvSpPr>
          <p:cNvPr id="4" name="Shape 2"/>
          <p:cNvSpPr/>
          <p:nvPr/>
        </p:nvSpPr>
        <p:spPr>
          <a:xfrm>
            <a:off x="365760" y="1005840"/>
            <a:ext cx="8412480" cy="685800"/>
          </a:xfrm>
          <a:prstGeom prst="roundRect">
            <a:avLst>
              <a:gd name="adj" fmla="val 10667"/>
            </a:avLst>
          </a:prstGeom>
          <a:solidFill>
            <a:srgbClr val="1A3A6B">
              <a:alpha val="60000"/>
            </a:srgbClr>
          </a:solidFill>
          <a:ln w="10160">
            <a:solidFill>
              <a:srgbClr val="0D9488"/>
            </a:solidFill>
            <a:prstDash val="solid"/>
          </a:ln>
        </p:spPr>
      </p:sp>
      <p:sp>
        <p:nvSpPr>
          <p:cNvPr id="5" name="Text 3"/>
          <p:cNvSpPr/>
          <p:nvPr/>
        </p:nvSpPr>
        <p:spPr>
          <a:xfrm>
            <a:off x="457200" y="1005840"/>
            <a:ext cx="594360" cy="685800"/>
          </a:xfrm>
          <a:prstGeom prst="rect">
            <a:avLst/>
          </a:prstGeom>
          <a:noFill/>
          <a:ln/>
        </p:spPr>
        <p:txBody>
          <a:bodyPr wrap="square" rtlCol="0" anchor="ctr"/>
          <a:lstStyle/>
          <a:p>
            <a:pPr marL="0" indent="0" algn="ctr">
              <a:buNone/>
            </a:pPr>
            <a:endParaRPr lang="en-US" sz="1800" dirty="0"/>
          </a:p>
        </p:txBody>
      </p:sp>
      <p:sp>
        <p:nvSpPr>
          <p:cNvPr id="6" name="Text 4"/>
          <p:cNvSpPr/>
          <p:nvPr/>
        </p:nvSpPr>
        <p:spPr>
          <a:xfrm>
            <a:off x="1097280" y="1005840"/>
            <a:ext cx="7498080" cy="685800"/>
          </a:xfrm>
          <a:prstGeom prst="rect">
            <a:avLst/>
          </a:prstGeom>
          <a:noFill/>
          <a:ln/>
        </p:spPr>
        <p:txBody>
          <a:bodyPr wrap="square" rtlCol="0" anchor="ctr"/>
          <a:lstStyle/>
          <a:p>
            <a:pPr marL="0" indent="0">
              <a:buNone/>
            </a:pPr>
            <a:r>
              <a:rPr lang="en-US" sz="1200" dirty="0">
                <a:solidFill>
                  <a:srgbClr val="CBD5E1"/>
                </a:solidFill>
              </a:rPr>
              <a:t>YOLOv8m mendeteksi objek sampah dari gambar dengan akurasi tinggi menggunakan 120 epoch training</a:t>
            </a:r>
            <a:endParaRPr lang="en-US" sz="1200" dirty="0"/>
          </a:p>
        </p:txBody>
      </p:sp>
      <p:sp>
        <p:nvSpPr>
          <p:cNvPr id="7" name="Shape 5"/>
          <p:cNvSpPr/>
          <p:nvPr/>
        </p:nvSpPr>
        <p:spPr>
          <a:xfrm>
            <a:off x="365760" y="1792224"/>
            <a:ext cx="8412480" cy="685800"/>
          </a:xfrm>
          <a:prstGeom prst="roundRect">
            <a:avLst>
              <a:gd name="adj" fmla="val 10667"/>
            </a:avLst>
          </a:prstGeom>
          <a:solidFill>
            <a:srgbClr val="1A3A6B">
              <a:alpha val="60000"/>
            </a:srgbClr>
          </a:solidFill>
          <a:ln w="10160">
            <a:solidFill>
              <a:srgbClr val="0D9488"/>
            </a:solidFill>
            <a:prstDash val="solid"/>
          </a:ln>
        </p:spPr>
      </p:sp>
      <p:sp>
        <p:nvSpPr>
          <p:cNvPr id="8" name="Text 6"/>
          <p:cNvSpPr/>
          <p:nvPr/>
        </p:nvSpPr>
        <p:spPr>
          <a:xfrm>
            <a:off x="457200" y="1792224"/>
            <a:ext cx="594360" cy="685800"/>
          </a:xfrm>
          <a:prstGeom prst="rect">
            <a:avLst/>
          </a:prstGeom>
          <a:noFill/>
          <a:ln/>
        </p:spPr>
        <p:txBody>
          <a:bodyPr wrap="square" rtlCol="0" anchor="ctr"/>
          <a:lstStyle/>
          <a:p>
            <a:pPr marL="0" indent="0" algn="ctr">
              <a:buNone/>
            </a:pPr>
            <a:endParaRPr lang="en-US" sz="1800" dirty="0"/>
          </a:p>
        </p:txBody>
      </p:sp>
      <p:sp>
        <p:nvSpPr>
          <p:cNvPr id="9" name="Text 7"/>
          <p:cNvSpPr/>
          <p:nvPr/>
        </p:nvSpPr>
        <p:spPr>
          <a:xfrm>
            <a:off x="1097280" y="1792224"/>
            <a:ext cx="7498080" cy="685800"/>
          </a:xfrm>
          <a:prstGeom prst="rect">
            <a:avLst/>
          </a:prstGeom>
          <a:noFill/>
          <a:ln/>
        </p:spPr>
        <p:txBody>
          <a:bodyPr wrap="square" rtlCol="0" anchor="ctr"/>
          <a:lstStyle/>
          <a:p>
            <a:pPr marL="0" indent="0">
              <a:buNone/>
            </a:pPr>
            <a:r>
              <a:rPr lang="en-US" sz="1200" dirty="0">
                <a:solidFill>
                  <a:srgbClr val="CBD5E1"/>
                </a:solidFill>
              </a:rPr>
              <a:t>Random Forest Ensemble (RF ) mengklasifikasikan kelayakan berdasarkan 6 fitur yang diekstrak dari YOLO</a:t>
            </a:r>
            <a:endParaRPr lang="en-US" sz="1200" dirty="0"/>
          </a:p>
        </p:txBody>
      </p:sp>
      <p:sp>
        <p:nvSpPr>
          <p:cNvPr id="10" name="Shape 8"/>
          <p:cNvSpPr/>
          <p:nvPr/>
        </p:nvSpPr>
        <p:spPr>
          <a:xfrm>
            <a:off x="365760" y="2578608"/>
            <a:ext cx="8412480" cy="685800"/>
          </a:xfrm>
          <a:prstGeom prst="roundRect">
            <a:avLst>
              <a:gd name="adj" fmla="val 10667"/>
            </a:avLst>
          </a:prstGeom>
          <a:solidFill>
            <a:srgbClr val="1A3A6B">
              <a:alpha val="60000"/>
            </a:srgbClr>
          </a:solidFill>
          <a:ln w="10160">
            <a:solidFill>
              <a:srgbClr val="0D9488"/>
            </a:solidFill>
            <a:prstDash val="solid"/>
          </a:ln>
        </p:spPr>
      </p:sp>
      <p:sp>
        <p:nvSpPr>
          <p:cNvPr id="11" name="Text 9"/>
          <p:cNvSpPr/>
          <p:nvPr/>
        </p:nvSpPr>
        <p:spPr>
          <a:xfrm>
            <a:off x="457200" y="2578608"/>
            <a:ext cx="594360" cy="685800"/>
          </a:xfrm>
          <a:prstGeom prst="rect">
            <a:avLst/>
          </a:prstGeom>
          <a:noFill/>
          <a:ln/>
        </p:spPr>
        <p:txBody>
          <a:bodyPr wrap="square" rtlCol="0" anchor="ctr"/>
          <a:lstStyle/>
          <a:p>
            <a:pPr marL="0" indent="0" algn="ctr">
              <a:buNone/>
            </a:pPr>
            <a:endParaRPr lang="en-US" sz="1800" dirty="0"/>
          </a:p>
        </p:txBody>
      </p:sp>
      <p:sp>
        <p:nvSpPr>
          <p:cNvPr id="12" name="Text 10"/>
          <p:cNvSpPr/>
          <p:nvPr/>
        </p:nvSpPr>
        <p:spPr>
          <a:xfrm>
            <a:off x="1097280" y="2578608"/>
            <a:ext cx="7498080" cy="685800"/>
          </a:xfrm>
          <a:prstGeom prst="rect">
            <a:avLst/>
          </a:prstGeom>
          <a:noFill/>
          <a:ln/>
        </p:spPr>
        <p:txBody>
          <a:bodyPr wrap="square" rtlCol="0" anchor="ctr"/>
          <a:lstStyle/>
          <a:p>
            <a:pPr marL="0" indent="0">
              <a:buNone/>
            </a:pPr>
            <a:r>
              <a:rPr lang="en-US" sz="1200" dirty="0">
                <a:solidFill>
                  <a:srgbClr val="CBD5E1"/>
                </a:solidFill>
              </a:rPr>
              <a:t>Keduanya terhubung lewat tahap Ekstraksi Fitur — YOLO adalah 'mata', RF adalah 'otak' sistem</a:t>
            </a:r>
            <a:endParaRPr lang="en-US" sz="1200" dirty="0"/>
          </a:p>
        </p:txBody>
      </p:sp>
      <p:sp>
        <p:nvSpPr>
          <p:cNvPr id="14" name="Text 12"/>
          <p:cNvSpPr/>
          <p:nvPr/>
        </p:nvSpPr>
        <p:spPr>
          <a:xfrm>
            <a:off x="457200" y="3364992"/>
            <a:ext cx="594360" cy="685800"/>
          </a:xfrm>
          <a:prstGeom prst="rect">
            <a:avLst/>
          </a:prstGeom>
          <a:noFill/>
          <a:ln/>
        </p:spPr>
        <p:txBody>
          <a:bodyPr wrap="square" rtlCol="0" anchor="ctr"/>
          <a:lstStyle/>
          <a:p>
            <a:pPr marL="0" indent="0" algn="ctr">
              <a:buNone/>
            </a:pPr>
            <a:endParaRPr lang="en-US" sz="1800" dirty="0"/>
          </a:p>
        </p:txBody>
      </p:sp>
      <p:sp>
        <p:nvSpPr>
          <p:cNvPr id="15" name="Text 13"/>
          <p:cNvSpPr/>
          <p:nvPr/>
        </p:nvSpPr>
        <p:spPr>
          <a:xfrm>
            <a:off x="1097280" y="3364992"/>
            <a:ext cx="7498080" cy="685800"/>
          </a:xfrm>
          <a:prstGeom prst="rect">
            <a:avLst/>
          </a:prstGeom>
          <a:noFill/>
          <a:ln/>
        </p:spPr>
        <p:txBody>
          <a:bodyPr wrap="square" rtlCol="0" anchor="ctr"/>
          <a:lstStyle/>
          <a:p>
            <a:pPr marL="0" indent="0">
              <a:buNone/>
            </a:pPr>
            <a:endParaRPr lang="en-US" sz="1200" dirty="0"/>
          </a:p>
        </p:txBody>
      </p:sp>
      <p:sp>
        <p:nvSpPr>
          <p:cNvPr id="16" name="Shape 14"/>
          <p:cNvSpPr/>
          <p:nvPr/>
        </p:nvSpPr>
        <p:spPr>
          <a:xfrm>
            <a:off x="365760" y="3511296"/>
            <a:ext cx="8412480" cy="685800"/>
          </a:xfrm>
          <a:prstGeom prst="roundRect">
            <a:avLst>
              <a:gd name="adj" fmla="val 10667"/>
            </a:avLst>
          </a:prstGeom>
          <a:solidFill>
            <a:srgbClr val="1A3A6B">
              <a:alpha val="60000"/>
            </a:srgbClr>
          </a:solidFill>
          <a:ln w="10160">
            <a:solidFill>
              <a:srgbClr val="0D9488"/>
            </a:solidFill>
            <a:prstDash val="solid"/>
          </a:ln>
        </p:spPr>
      </p:sp>
      <p:sp>
        <p:nvSpPr>
          <p:cNvPr id="17" name="Text 15"/>
          <p:cNvSpPr/>
          <p:nvPr/>
        </p:nvSpPr>
        <p:spPr>
          <a:xfrm>
            <a:off x="457200" y="4151376"/>
            <a:ext cx="594360" cy="685800"/>
          </a:xfrm>
          <a:prstGeom prst="rect">
            <a:avLst/>
          </a:prstGeom>
          <a:noFill/>
          <a:ln/>
        </p:spPr>
        <p:txBody>
          <a:bodyPr wrap="square" rtlCol="0" anchor="ctr"/>
          <a:lstStyle/>
          <a:p>
            <a:pPr marL="0" indent="0" algn="ctr">
              <a:buNone/>
            </a:pPr>
            <a:endParaRPr lang="en-US" sz="1800" dirty="0"/>
          </a:p>
        </p:txBody>
      </p:sp>
      <p:sp>
        <p:nvSpPr>
          <p:cNvPr id="18" name="Text 16"/>
          <p:cNvSpPr/>
          <p:nvPr/>
        </p:nvSpPr>
        <p:spPr>
          <a:xfrm>
            <a:off x="1097280" y="3611880"/>
            <a:ext cx="7498080" cy="438912"/>
          </a:xfrm>
          <a:prstGeom prst="rect">
            <a:avLst/>
          </a:prstGeom>
          <a:noFill/>
          <a:ln/>
        </p:spPr>
        <p:txBody>
          <a:bodyPr wrap="square" rtlCol="0" anchor="ctr"/>
          <a:lstStyle/>
          <a:p>
            <a:pPr marL="0" indent="0">
              <a:buNone/>
            </a:pPr>
            <a:r>
              <a:rPr lang="en-US" sz="1200" dirty="0">
                <a:solidFill>
                  <a:srgbClr val="CBD5E1"/>
                </a:solidFill>
              </a:rPr>
              <a:t>Sistem siap digunakan: foto → prediksi otomatis dalam hitungan detik via pipeline end-to-end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TotalTime>
  <Words>1667</Words>
  <Application>Microsoft Office PowerPoint</Application>
  <PresentationFormat>On-screen Show (16:9)</PresentationFormat>
  <Paragraphs>263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Trash Validation System — YOLO + Random Forest</dc:title>
  <dc:subject>PptxGenJS Presentation</dc:subject>
  <dc:creator>PptxGenJS</dc:creator>
  <cp:lastModifiedBy>YOS IVAN SIRAIT</cp:lastModifiedBy>
  <cp:revision>4</cp:revision>
  <dcterms:created xsi:type="dcterms:W3CDTF">2026-06-25T03:09:04Z</dcterms:created>
  <dcterms:modified xsi:type="dcterms:W3CDTF">2026-06-26T02:13:11Z</dcterms:modified>
</cp:coreProperties>
</file>